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本篇論文提出 STAIR：把書本／長文件的目錄（Table of Contents, ToC）當成檢索單元，微調 LLM 直接生成正確的目錄葉節點來回答查詢，並發布新基準 SearchTome。作者單位為 IBM，論文掛在 arXiv，分類為 cs.AI。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強調動機：現有 RAG 檢索普遍採用長度切塊，破壞了原本存在的章節語意邊界。論文引用 lost-in-the-middle 現象與多篇長上下文研究，說明精準檢索的必要性。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用論文 Figure 1 的例子說明：目錄條目具有語意連貫性與清楚邊界，是比長度切塊更自然的檢索單元。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三階段：輸入準備（抽取 ToC + 合成 QA）、訓練（ToC+Query 拼接後微調生成葉節點）、推論（限制式生成，只允許輸出合法葉節點，天然抑制幻覺）。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STAIR 的微調同時完成兩個任務：語料知識內化（corpus knowledge ingestion）與從 ToC 學習生成（learning to generate from ToC）。訓練輸入 = prompt + (query, 完整 ToC)，ToC 在同一本書內固定不變。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SearchTome 取材自 open textbooks，每領域各 3 本書，用 pymupdf 解析並抽取 ToC，再用 Mixtral 8x7B 針對每段文字生成多題查詢，形成 train/dev/test 三個切分。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STAIR 與 DSI 皆基於 Mistral Instruct v0.2 以 LoRA 微調，輸入差異只在於是否附上完整 ToC。DPR 使用開箱即用的 NV-Embed-v2，未針對 SearchTome 微調，用來對照微調與否的差異。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STAIR 在全部 6 個領域、全部 3 個指標（R@1/R@3/nDCG@3）都超越 BM25、DPR、DSI、Mistral 與 Haiku。Mistral 原生表現甚至低於 BM25，顯示 LLM 需要先完成知識內化與任務微調才談得上檢索能力。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顯著性檢定方法引用 Smucker et al. 2007，針對檢索系統設計的隨機化檢定，在每個領域把該領域所有書籍的結果合併後單獨檢定。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圖中橫軸為 18 本書，依平均訓練樣本數由高到低排序；DSI 隨訓練樣本減少幻覺率明顯上升，STAIR 全程接近 0，說明限制式生成 + ToC 輸入是關鍵。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此圖驗證假說：沒有 ToC 的 model-based indexing 系統，需要透過大量訓練樣本才能間接學會書本結構；而 STAIR 因為結構直接在輸入裡，對長尾（少樣本）章節更穩健。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整體錯誤率：Mistral 86.20%（23.86% 為幻覺），DSI 24.31%（3.25% 為幻覺），STAIR 18.67%（僅 0.05% 為幻覺）。本例清楚顯示 DSI 的錯誤裡包含「聽起來合理但實際上不存在」的幻覺章節標題。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作者明確指出：目前設定適合初步驗證，但真實世界很多語料並不天然帶有目錄結構，未來計畫在人工誘導出 ToC 結構的標準長文件基準上做延伸評測。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收尾三個數字呼應開場的研究問題：Recall@1 提升、幻覺率趨近於零、六個領域統計上都顯著，共同支持「目錄是被低估的檢索訊號」這個核心論點。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762B"/>
                </a:solidFill>
                <a:latin typeface="Calibri"/>
                <a:ea typeface="微軟正黑體"/>
              </a:rPr>
              <a:t>METHODS · 生成式檢索 / LLM-based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789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F355C"/>
                </a:solidFill>
                <a:latin typeface="Calibri"/>
                <a:ea typeface="微軟正黑體"/>
              </a:rPr>
              <a:t>STAIR：讓大型語言模型</a:t>
            </a:r>
          </a:p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F355C"/>
                </a:solidFill>
                <a:latin typeface="Calibri"/>
                <a:ea typeface="微軟正黑體"/>
              </a:rPr>
              <a:t>學會用「目錄」記憶並檢索長文件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B222E"/>
                </a:solidFill>
                <a:latin typeface="Calibri"/>
                <a:ea typeface="微軟正黑體"/>
              </a:rPr>
              <a:t>STructure Aware Information Retriever — 以 Table of Contents 取代長度切塊的生成式檢索器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526280"/>
            <a:ext cx="2194560" cy="27940"/>
          </a:xfrm>
          <a:prstGeom prst="rect">
            <a:avLst/>
          </a:prstGeom>
          <a:solidFill>
            <a:srgbClr val="D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73659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22E"/>
                </a:solidFill>
                <a:latin typeface="Calibri"/>
                <a:ea typeface="微軟正黑體"/>
              </a:rPr>
              <a:t>Vineet Kumar・Meghanadh Pulivarthi・Vishwajeet Kumar・Jaydeep Sen・Riyaz Ahmad Bhat・Sachindra Joshi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38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47B87"/>
                </a:solidFill>
                <a:latin typeface="Calibri"/>
                <a:ea typeface="微軟正黑體"/>
              </a:rPr>
              <a:t>IBM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80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47B87"/>
                </a:solidFill>
                <a:latin typeface="Calibri"/>
                <a:ea typeface="微軟正黑體"/>
              </a:rPr>
              <a:t>arXiv:2609.03874v1 [cs.AI] · 2026年9月3日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長度切塊會把文件天生的語意結構一起丟掉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905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0607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RAG（檢索增強生成）要精準檢索才能壓低幻覺；LLM 雖能處理更長上下文，仍受「lost in the middle」問題所苦。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主流檢索器把長文件切成固定長度的區塊（length-based chunk），卻丟棄了目錄（ToC）這類全域語意結構。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長度切塊之間缺乏語意邊界，彼此在檢索時互相競爭，導致檢索品質打折扣。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反觀 Wikipedia 條目、教科書、企業說明文件、SEC 10-K 報告，本來就自帶清楚的目錄結構——這是一個被浪費的訊號。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1F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  <a:ea typeface="微軟正黑體"/>
              </a:rPr>
              <a:t>STAIR 的出發點：把「目錄」還給檢索器，而不是切成無結構的長度區塊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Introduction, arXiv:2609.03874v1, 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人類靠目錄定位答案，甚至不必通讀整本書</a:t>
            </a:r>
          </a:p>
        </p:txBody>
      </p:sp>
      <p:pic>
        <p:nvPicPr>
          <p:cNvPr id="5" name="Picture 4" descr="fig1_to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68" y="1417320"/>
            <a:ext cx="8303183" cy="416052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65099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222E"/>
                </a:solidFill>
                <a:latin typeface="Calibri"/>
                <a:ea typeface="微軟正黑體"/>
              </a:rPr>
              <a:t>查詢「What is the plurality voting system?」時，讀者沿目錄找到「4.2.3 選舉制度與政黨」小節即可命中答案——ToC 條目與內容之間有清楚的語意邊界，這正是 STAIR 想教會 LLM 的能力。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Figure 1, arXiv:2609.03874v1, p.2 — Introduction to Comparative Government and Politics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方法總覽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STAIR 用三階段流程把目錄結構直接教給 LLM</a:t>
            </a:r>
          </a:p>
        </p:txBody>
      </p: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380" y="1371600"/>
            <a:ext cx="8226480" cy="3977639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548640" y="5532120"/>
            <a:ext cx="3520440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5605272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Stage 1・輸入準備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879592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B222E"/>
                </a:solidFill>
                <a:latin typeface="Calibri"/>
                <a:ea typeface="微軟正黑體"/>
              </a:rPr>
              <a:t>從書本抽取 ToC，並用 LLM 生成合成 QA 訓練資料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5532120"/>
            <a:ext cx="3520440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5605272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Stage 2・訓練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5879592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B222E"/>
                </a:solidFill>
                <a:latin typeface="Calibri"/>
                <a:ea typeface="微軟正黑體"/>
              </a:rPr>
              <a:t>把「ToC + 查詢」拼接為輸入，微調 LLM 生成正確葉節點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5532120"/>
            <a:ext cx="3520440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5605272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Stage 3・推論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5879592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B222E"/>
                </a:solidFill>
                <a:latin typeface="Calibri"/>
                <a:ea typeface="微軟正黑體"/>
              </a:rPr>
              <a:t>限制式生成（constrained generation）只允許輸出合法 ToC 葉節點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Figure 2, arXiv:2609.03874v1, p.5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關鍵設計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把「目錄＋查詢」拼成一則提示，微調生成正確葉節點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6858000" cy="461772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6345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62B"/>
                </a:solidFill>
                <a:latin typeface="Calibri"/>
                <a:ea typeface="微軟正黑體"/>
              </a:rPr>
              <a:t>訓練樣本（原文照錄）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6345936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### Book: Teaching in a Digital Age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Pick the best section from the table of contents below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which can answer the user query below. Only generate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the section name, do not generate any explanation!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### Table of Contents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1 Chapter 1: Fundamental Change in Education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  ...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leaf 12.7 Step five: master the technology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leaf 12.8 Step six: set appropriate learning goals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leaf 12.9 Step seven: design course structure and learning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  ...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leaf 13.7 Building the future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### Query: What is the suggested time allocation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for students studying a course or program?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### Section: leaf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8EAED"/>
                </a:solidFill>
                <a:latin typeface="Consolas"/>
                <a:ea typeface="Consolas"/>
              </a:rPr>
              <a:t>Completion → 12.9 Step seven: design course structure and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463040"/>
            <a:ext cx="3977639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30" b="0" i="0">
                <a:solidFill>
                  <a:srgbClr val="1B222E"/>
                </a:solidFill>
                <a:latin typeface="Calibri"/>
                <a:ea typeface="微軟正黑體"/>
              </a:rPr>
              <a:t>語料知識內化：把整本書的內容對應到各章節標題，記入模型參數。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30" b="0" i="0">
                <a:solidFill>
                  <a:srgbClr val="1B222E"/>
                </a:solidFill>
                <a:latin typeface="Calibri"/>
                <a:ea typeface="微軟正黑體"/>
              </a:rPr>
              <a:t>學習目錄推理：從完整的 ToC 全域結構中，挑出唯一能回答查詢的葉節點。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30" b="0" i="0">
                <a:solidFill>
                  <a:srgbClr val="1B222E"/>
                </a:solidFill>
                <a:latin typeface="Calibri"/>
                <a:ea typeface="微軟正黑體"/>
              </a:rPr>
              <a:t>與 DSI 的差異只有一個：STAIR 的輸入裡多了完整 ToC，DSI 必須自己從訓練資料裡「悟出」書的結構。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30" b="0" i="0">
                <a:solidFill>
                  <a:srgbClr val="1B222E"/>
                </a:solidFill>
                <a:latin typeface="Calibri"/>
                <a:ea typeface="微軟正黑體"/>
              </a:rPr>
              <a:t>推論限制式生成只允許輸出合法葉節點，幾乎杜絕「生成不存在章節」的幻覺。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Table 2 (sample training example) &amp; §4.2, arXiv:2609.03874v1, p.5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新基準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SearchTome：6 大領域、18 本書、19 萬則帶目錄標註的問題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81328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51560"/>
                <a:gridCol w="1234440"/>
                <a:gridCol w="1828800"/>
                <a:gridCol w="420624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領域</a:t>
                      </a:r>
                    </a:p>
                  </a:txBody>
                  <a:tcPr marL="76200" marR="76200" marT="50800" marB="50800" anchor="ctr">
                    <a:solidFill>
                      <a:srgbClr val="1F35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書籍數</a:t>
                      </a:r>
                    </a:p>
                  </a:txBody>
                  <a:tcPr marL="76200" marR="76200" marT="50800" marB="50800" anchor="ctr">
                    <a:solidFill>
                      <a:srgbClr val="1F35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總頁數</a:t>
                      </a:r>
                    </a:p>
                  </a:txBody>
                  <a:tcPr marL="76200" marR="76200" marT="50800" marB="50800" anchor="ctr">
                    <a:solidFill>
                      <a:srgbClr val="1F35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ToC 葉節點數</a:t>
                      </a:r>
                    </a:p>
                  </a:txBody>
                  <a:tcPr marL="76200" marR="76200" marT="50800" marB="50800" anchor="ctr">
                    <a:solidFill>
                      <a:srgbClr val="1F35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Train / Dev / Test 問題數</a:t>
                      </a:r>
                    </a:p>
                  </a:txBody>
                  <a:tcPr marL="76200" marR="76200" marT="50800" marB="50800" anchor="ctr">
                    <a:solidFill>
                      <a:srgbClr val="1F355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Education 教育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2,258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676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9,346 / 3,548 / 15,326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Finance 財務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1,967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285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9,834 / 3,963 / 16,415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Law 法律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2,248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605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16,824 / 6,578 / 27,472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Medicine 醫學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2,585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313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10,560 / 4,178 / 17,346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Natural Sciences 自然科學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1,941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516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9,364 / 3,705 / 15,719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Social Sciences 社會科學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1,476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485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6,530 / 2,530 / 10,971</a:t>
                      </a:r>
                    </a:p>
                  </a:txBody>
                  <a:tcPr marL="76200" marR="76200" marT="50800" marB="50800" anchor="ctr">
                    <a:solidFill>
                      <a:srgbClr val="F2F3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349240"/>
            <a:ext cx="2606040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16168"/>
            <a:ext cx="2459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本開放教科書，來源真實出版品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5349240"/>
            <a:ext cx="2606040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54406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2,880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5916168"/>
            <a:ext cx="2459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個 ToC 葉節點作為檢索目標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349240"/>
            <a:ext cx="2606040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54406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190,209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5916168"/>
            <a:ext cx="2459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則 train/dev/test 問題，LLM 生成後人工留存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5349240"/>
            <a:ext cx="2862072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5440680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5916168"/>
            <a:ext cx="27157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大領域：教育/財務/法律/醫學/自然科學/社會科學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Table 1, arXiv:2609.03874v1, p.4 — 各領域數字為論文逐書統計加總（Python 計算，非人工加總）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實驗設置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五種基線、三項指標，STAIR 與 DSI 使用相同基座模型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529584" cy="457200"/>
          </a:xfrm>
          <a:prstGeom prst="rect">
            <a:avLst/>
          </a:prstGeom>
          <a:solidFill>
            <a:srgbClr val="1F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微軟正黑體"/>
              </a:rPr>
              <a:t>對照基線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3529584" cy="379476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30552"/>
            <a:ext cx="323697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Mistral Instruct v0.2：原生 LLM，beam search 產生 Top-K 候選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BM25：Elastic Search 索引，葉節點作為文件識別碼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DPR：NV-Embed-v2 開箱即用（MTEB 榜首開源嵌入模型）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DSI：與 STAIR 用同一基座微調，但輸入不含 ToC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Haiku：Claude Haiku 4.5，作為額外對照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508760"/>
            <a:ext cx="3529584" cy="457200"/>
          </a:xfrm>
          <a:prstGeom prst="rect">
            <a:avLst/>
          </a:prstGeom>
          <a:solidFill>
            <a:srgbClr val="1F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微軟正黑體"/>
              </a:rPr>
              <a:t>評測指標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965960"/>
            <a:ext cx="3529584" cy="379476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130552"/>
            <a:ext cx="323697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Recall@1（R@1）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Recall@3（R@3）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nDCG@3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全部以 BeIR 工具套件計算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508760"/>
            <a:ext cx="3529584" cy="457200"/>
          </a:xfrm>
          <a:prstGeom prst="rect">
            <a:avLst/>
          </a:prstGeom>
          <a:solidFill>
            <a:srgbClr val="1F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微軟正黑體"/>
              </a:rPr>
              <a:t>微調設定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965960"/>
            <a:ext cx="3529584" cy="379476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30552"/>
            <a:ext cx="323697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基座：Mistral Instruct v0.2 + LoRA（r=16, α=32）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最長 200 epoch，早停耐心值 20（以 dev set R@1 為準）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輸入長度上限：STAIR 14k tokens／DSI 512 tokens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3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130" b="0" i="0">
                <a:solidFill>
                  <a:srgbClr val="1B222E"/>
                </a:solidFill>
                <a:latin typeface="Calibri"/>
                <a:ea typeface="微軟正黑體"/>
              </a:rPr>
              <a:t>輸出長度上限：64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§5.1–5.2, Table 4 caption, arXiv:2609.03874v1, pp.5-8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主要結果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355C"/>
                </a:solidFill>
                <a:latin typeface="Calibri"/>
                <a:ea typeface="微軟正黑體"/>
              </a:rPr>
              <a:t>STAIR 平均 Recall@1 達 82.6%，較最強基線 DSI 高 7.4 個百分點</a:t>
            </a:r>
          </a:p>
        </p:txBody>
      </p:sp>
      <p:pic>
        <p:nvPicPr>
          <p:cNvPr id="5" name="Picture 4" descr="table4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2485272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548640" y="4526280"/>
            <a:ext cx="2606040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82.6%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093208"/>
            <a:ext cx="2459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STAIR 平均 R@1（六領域）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4526280"/>
            <a:ext cx="2606040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6177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3B6FA0"/>
                </a:solidFill>
                <a:latin typeface="Calibri"/>
                <a:ea typeface="微軟正黑體"/>
              </a:rPr>
              <a:t>76.9%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5093208"/>
            <a:ext cx="2459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DSI 平均 R@1（次佳系統）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526280"/>
            <a:ext cx="2606040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6177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747B87"/>
                </a:solidFill>
                <a:latin typeface="Calibri"/>
                <a:ea typeface="微軟正黑體"/>
              </a:rPr>
              <a:t>59.5%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5093208"/>
            <a:ext cx="2459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BM25 平均 R@1（詞面比對）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526280"/>
            <a:ext cx="2862072" cy="9601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617720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747B87"/>
                </a:solidFill>
                <a:latin typeface="Calibri"/>
                <a:ea typeface="微軟正黑體"/>
              </a:rPr>
              <a:t>13.8%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5093208"/>
            <a:ext cx="27157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Mistral 原生 R@1（未微調）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5099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唯一的輸入差異只有 ToC：STAIR 與 DSI 同基座、同訓練流程，STAIR 領先幅度可歸因於目錄結構本身。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Table 4, arXiv:2609.03874v1, p.8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穩健性檢驗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六大領域皆通過顯著性檢定：差距不是資料規模的巧合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905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06070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採用 Smucker et al. (2007) 為檢索系統量身設計的隨機化檢定（randomization test）。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虛無假設：DSI 與 STAIR 的輸出來自同一分布，Recall@1 差異只是抽樣變異。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以 p = 0.05 為門檻，分別在 6 個領域（教育/財務/法律/醫學/自然科學/社會科學）獨立檢定。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六個領域的虛無假設全數被拒絕：STAIR 對 DSI 的領先幅度在統計上顯著。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09160"/>
            <a:ext cx="1755648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762B"/>
                </a:solidFill>
                <a:latin typeface="Calibri"/>
                <a:ea typeface="微軟正黑體"/>
              </a:rPr>
              <a:t>p &lt; 0.05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184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B222E"/>
                </a:solidFill>
                <a:latin typeface="Calibri"/>
                <a:ea typeface="微軟正黑體"/>
              </a:rPr>
              <a:t>Education 教育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4709160"/>
            <a:ext cx="1755648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800600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762B"/>
                </a:solidFill>
                <a:latin typeface="Calibri"/>
                <a:ea typeface="微軟正黑體"/>
              </a:rPr>
              <a:t>p &lt; 0.05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5184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B222E"/>
                </a:solidFill>
                <a:latin typeface="Calibri"/>
                <a:ea typeface="微軟正黑體"/>
              </a:rPr>
              <a:t>Finance 財務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709160"/>
            <a:ext cx="1755648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800600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762B"/>
                </a:solidFill>
                <a:latin typeface="Calibri"/>
                <a:ea typeface="微軟正黑體"/>
              </a:rPr>
              <a:t>p &lt; 0.05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5184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B222E"/>
                </a:solidFill>
                <a:latin typeface="Calibri"/>
                <a:ea typeface="微軟正黑體"/>
              </a:rPr>
              <a:t>Law 法律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709160"/>
            <a:ext cx="1755648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800600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762B"/>
                </a:solidFill>
                <a:latin typeface="Calibri"/>
                <a:ea typeface="微軟正黑體"/>
              </a:rPr>
              <a:t>p &lt; 0.05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184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B222E"/>
                </a:solidFill>
                <a:latin typeface="Calibri"/>
                <a:ea typeface="微軟正黑體"/>
              </a:rPr>
              <a:t>Med 醫學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709160"/>
            <a:ext cx="1755648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762B"/>
                </a:solidFill>
                <a:latin typeface="Calibri"/>
                <a:ea typeface="微軟正黑體"/>
              </a:rPr>
              <a:t>p &lt; 0.05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5184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B222E"/>
                </a:solidFill>
                <a:latin typeface="Calibri"/>
                <a:ea typeface="微軟正黑體"/>
              </a:rPr>
              <a:t>NatSci 自然科學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4709160"/>
            <a:ext cx="1755648" cy="86868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4800600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762B"/>
                </a:solidFill>
                <a:latin typeface="Calibri"/>
                <a:ea typeface="微軟正黑體"/>
              </a:rPr>
              <a:t>p &lt; 0.05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5184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B222E"/>
                </a:solidFill>
                <a:latin typeface="Calibri"/>
                <a:ea typeface="微軟正黑體"/>
              </a:rPr>
              <a:t>SocSci 社會科學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1F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  <a:ea typeface="微軟正黑體"/>
              </a:rPr>
              <a:t>結論：Recall@1 的提升來自 STAIR 的設計本身，而非 SearchTome 的資料量或資料分布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§6, arXiv:2609.03874v1, p.6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消融研究 · 幻覺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有 ToC 輸入，STAIR 的幻覺率幾乎恆為零</a:t>
            </a:r>
          </a:p>
        </p:txBody>
      </p:sp>
      <p:pic>
        <p:nvPicPr>
          <p:cNvPr id="5" name="Picture 4" descr="fig3_hallu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94" y="1417320"/>
            <a:ext cx="5489612" cy="44348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600200"/>
            <a:ext cx="3931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幻覺定義：模型生成了「非葉節點」的識別碼，也就是 ToC 裡不存在的章節。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訓練樣本越少的書，DSI 幻覺率越高，最高衝到接近 12%。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STAIR 不論書籍訓練樣本多寡，幻覺率都貼著 0，因為推論階段用限制式生成，只能輸出合法葉節點。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整體而言 STAIR 的幻覺率低於 0.05%，遠低於 DSI。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Figure 3, arXiv:2609.03874v1, p.8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消融研究 · 低資源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訓練樣本越少的章節，STAIR 相對 DSI 的優勢越大</a:t>
            </a:r>
          </a:p>
        </p:txBody>
      </p:sp>
      <p:pic>
        <p:nvPicPr>
          <p:cNvPr id="5" name="Picture 4" descr="fig4_recall_l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48" y="1417320"/>
            <a:ext cx="5947903" cy="4434840"/>
          </a:xfrm>
          <a:prstGeom prst="rect">
            <a:avLst/>
          </a:prstGeom>
          <a:ln w="9525">
            <a:solidFill>
              <a:srgbClr val="DDDF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600200"/>
            <a:ext cx="3931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橫軸依「每個葉節點的訓練樣本數」由少到多排序，縱軸為滑動視窗（100）計算的 Recall@1。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沒有 ToC 的 DSI 必須自行「發現並記住」書本結構，訓練樣本稀少的葉節點特別容易被漏掉。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STAIR 不需要「記住」葉節點——直接讀取輸入中的 ToC，因此小樣本區間依然維持較高 Recall@1。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隨著訓練樣本增加，兩者差距縮小，但 STAIR 全程保持領先。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Figure 4, arXiv:2609.03874v1, p.8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同一道題，五套系統給出五種答案——只有 STAIR 命中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22E"/>
                </a:solidFill>
                <a:latin typeface="Calibri"/>
                <a:ea typeface="微軟正黑體"/>
              </a:rPr>
              <a:t>書籍：The Whole Child: Development in the Early Years　|　查詢：「當照顧者與教師貶低學齡前兒童的自主行為時，孩子會有什麼反應？」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106423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852160"/>
                <a:gridCol w="3749039"/>
              </a:tblGrid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系統</a:t>
                      </a:r>
                    </a:p>
                  </a:txBody>
                  <a:tcPr marL="101600" marR="101600" marT="63500" marB="63500" anchor="ctr">
                    <a:solidFill>
                      <a:srgbClr val="1F35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預測結果</a:t>
                      </a:r>
                    </a:p>
                  </a:txBody>
                  <a:tcPr marL="101600" marR="101600" marT="63500" marB="63500" anchor="ctr">
                    <a:solidFill>
                      <a:srgbClr val="1F35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判讀</a:t>
                      </a:r>
                    </a:p>
                  </a:txBody>
                  <a:tcPr marL="101600" marR="101600" marT="63500" marB="63500" anchor="ctr">
                    <a:solidFill>
                      <a:srgbClr val="1F355C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Mistral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同時吐出 3 個候選（含正解），未學會只能選一個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缺乏任務微調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BM25</a:t>
                      </a:r>
                    </a:p>
                  </a:txBody>
                  <a:tcPr marL="101600" marR="101600" marT="63500" marB="635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8.3.2 Moral Development</a:t>
                      </a:r>
                    </a:p>
                  </a:txBody>
                  <a:tcPr marL="101600" marR="101600" marT="63500" marB="635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純詞面重疊，選錯章節</a:t>
                      </a:r>
                    </a:p>
                  </a:txBody>
                  <a:tcPr marL="101600" marR="101600" marT="63500" marB="63500" anchor="ctr">
                    <a:solidFill>
                      <a:srgbClr val="F2F3F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DPR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2.2.2 Autonomy vs. Shame/Doubt (Toddlerhood)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詞義相近但語料未微調，選錯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DSI</a:t>
                      </a:r>
                    </a:p>
                  </a:txBody>
                  <a:tcPr marL="101600" marR="101600" marT="63500" marB="635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2.2.2 Autonomy vs. Shame/Doubt (Preschool years)</a:t>
                      </a:r>
                    </a:p>
                  </a:txBody>
                  <a:tcPr marL="101600" marR="101600" marT="63500" marB="63500" anchor="ctr">
                    <a:solidFill>
                      <a:srgbClr val="F2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看似合理，實為幻覺出的章節標題（ToC 中不存在）</a:t>
                      </a:r>
                    </a:p>
                  </a:txBody>
                  <a:tcPr marL="101600" marR="101600" marT="63500" marB="63500" anchor="ctr">
                    <a:solidFill>
                      <a:srgbClr val="F2F3F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STAIR</a:t>
                      </a:r>
                    </a:p>
                  </a:txBody>
                  <a:tcPr marL="101600" marR="101600" marT="63500" marB="63500" anchor="ctr">
                    <a:solidFill>
                      <a:srgbClr val="FCEE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2.2.3 Initiative vs. Guilt (Preschool Years) ✔ 正解</a:t>
                      </a:r>
                    </a:p>
                  </a:txBody>
                  <a:tcPr marL="101600" marR="101600" marT="63500" marB="63500" anchor="ctr">
                    <a:solidFill>
                      <a:srgbClr val="FCEE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B222E"/>
                          </a:solidFill>
                          <a:latin typeface="Calibri"/>
                          <a:ea typeface="微軟正黑體"/>
                        </a:rPr>
                        <a:t>準確命中金標準葉節點</a:t>
                      </a:r>
                    </a:p>
                  </a:txBody>
                  <a:tcPr marL="101600" marR="101600" marT="63500" marB="63500" anchor="ctr">
                    <a:solidFill>
                      <a:srgbClr val="FCEE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Table 3 (Example 1) &amp; §6.2, arXiv:2609.03874v1, p.7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適用邊界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目前只驗證於「本來就有目錄結構」的語料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905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06070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評測語料本身都已具備清楚的全域結構（教科書目錄），尚未涵蓋沒有現成 ToC 的真實場景。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尚未在人工／動態建構 ToC 的標準長文件基準上驗證。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500" b="0" i="0">
                <a:solidFill>
                  <a:srgbClr val="1B222E"/>
                </a:solidFill>
                <a:latin typeface="Calibri"/>
                <a:ea typeface="微軟正黑體"/>
              </a:rPr>
              <a:t>尚未測試企業級規模語料——例如可能多達數百萬條網址的內部文件庫。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60520"/>
            <a:ext cx="5394960" cy="141732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8853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55C"/>
                </a:solidFill>
                <a:latin typeface="Calibri"/>
                <a:ea typeface="微軟正黑體"/>
              </a:rPr>
              <a:t>本文已驗證規模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3600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6 大領域・18 本開放教科書・2,880 個 ToC 葉節點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（皆為本來就帶有清楚目錄結構的語料）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4617720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D9762B"/>
                </a:solidFill>
                <a:latin typeface="Calibri"/>
                <a:ea typeface="微軟正黑體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4160520"/>
            <a:ext cx="4800600" cy="1417320"/>
          </a:xfrm>
          <a:prstGeom prst="rect">
            <a:avLst/>
          </a:prstGeom>
          <a:solidFill>
            <a:srgbClr val="FCEEE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288536"/>
            <a:ext cx="4343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9762B"/>
                </a:solidFill>
                <a:latin typeface="Calibri"/>
                <a:ea typeface="微軟正黑體"/>
              </a:rPr>
              <a:t>未來待驗證規模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636008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企業級語料・不存在現成 ToC 的文件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B222E"/>
                </a:solidFill>
                <a:latin typeface="Calibri"/>
                <a:ea typeface="微軟正黑體"/>
              </a:rPr>
              <a:t>可能多達數百萬條網址的內部文件庫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1F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  <a:ea typeface="微軟正黑體"/>
              </a:rPr>
              <a:t>下一步：把「建構 ToC」也交給系統自己完成，而不是假設它已經存在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§8 Limitations, arXiv:2609.03874v1, p.9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62B"/>
                </a:solidFill>
                <a:latin typeface="Calibri"/>
                <a:ea typeface="微軟正黑體"/>
              </a:rPr>
              <a:t>結論與未來方向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F355C"/>
                </a:solidFill>
                <a:latin typeface="Calibri"/>
                <a:ea typeface="微軟正黑體"/>
              </a:rPr>
              <a:t>把「目錄」變成檢索訊號，而不是被丟棄的雜訊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450" b="0" i="0">
                <a:solidFill>
                  <a:srgbClr val="1B222E"/>
                </a:solidFill>
                <a:latin typeface="Calibri"/>
                <a:ea typeface="微軟正黑體"/>
              </a:rPr>
              <a:t>STAIR 首次把書本／長文件的目錄（ToC）當作 model-based indexing 的檢索單元與訓練訊號。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450" b="0" i="0">
                <a:solidFill>
                  <a:srgbClr val="1B222E"/>
                </a:solidFill>
                <a:latin typeface="Calibri"/>
                <a:ea typeface="微軟正黑體"/>
              </a:rPr>
              <a:t>在 6 大領域、18 本書的 SearchTome 上，STAIR 全面超越 BM25、DPR、DSI 與原生 Mistral。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D9762B"/>
                </a:solidFill>
                <a:latin typeface="Calibri"/>
                <a:ea typeface="微軟正黑體"/>
              </a:rPr>
              <a:t>— </a:t>
            </a:r>
            <a:r>
              <a:rPr sz="1450" b="0" i="0">
                <a:solidFill>
                  <a:srgbClr val="1B222E"/>
                </a:solidFill>
                <a:latin typeface="Calibri"/>
                <a:ea typeface="微軟正黑體"/>
              </a:rPr>
              <a:t>未來方向：對未見語料動態建構類 ToC 結構；發展零樣本、可迭代檢索並對葉節點內容做推理的代理式（agentic）多跳檢索。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26280"/>
            <a:ext cx="3520440" cy="123444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82.6%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093208"/>
            <a:ext cx="33741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Recall@1，較 DSI +7.4 個百分點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4526280"/>
            <a:ext cx="3520440" cy="123444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46177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&lt;0.05%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5093208"/>
            <a:ext cx="33741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幻覺率（生成非法葉節點的比例）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8704" y="4526280"/>
            <a:ext cx="3703320" cy="1234440"/>
          </a:xfrm>
          <a:prstGeom prst="rect">
            <a:avLst/>
          </a:prstGeom>
          <a:solidFill>
            <a:srgbClr val="F2F3F1"/>
          </a:solidFill>
          <a:ln w="9525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8704" y="461772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62B"/>
                </a:solidFill>
                <a:latin typeface="Calibri"/>
                <a:ea typeface="微軟正黑體"/>
              </a:rPr>
              <a:t>6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5093208"/>
            <a:ext cx="3557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1B222E"/>
                </a:solidFill>
                <a:latin typeface="Calibri"/>
                <a:ea typeface="微軟正黑體"/>
              </a:rPr>
              <a:t>領域皆通過顯著性檢定（p&lt;0.05）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47B87"/>
                </a:solidFill>
                <a:latin typeface="Calibri"/>
                <a:ea typeface="微軟正黑體"/>
              </a:rPr>
              <a:t>Source: §7 Conclusion &amp; §6, arXiv:2609.03874v1, pp.8-9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47B87"/>
                </a:solidFill>
                <a:latin typeface="Calibri"/>
                <a:ea typeface="微軟正黑體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