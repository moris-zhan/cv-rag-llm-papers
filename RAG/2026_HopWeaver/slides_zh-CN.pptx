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本篇論文由中山大學、香港都會大學團隊發表，發表於 ACL 2026 主會長論文。核心貢獻是提出 HopWeaver——第一個完全不需要人工介入、能直接從原始語料跨文件自動合成真正多跳問題（Bridge 與 Comparison 兩種類型）的框架，並自建一套三維評估系統驗證合成品質，程式碼與框架已在 GitHub 開源。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背景鋪陳：人工標注的三個知名多跳資料集都面臨規模化困難與標注偏誤問題，而 Min et al. (2019) 更直接證明 HotpotQA 中大量「多跳」問題其實可被單跳推理解開，說明「多跳」標籤本身並不保證真正的跨文件推理需求。現有自動合成方法（知識圖譜驅動、模板驅動、或依賴人工預先配對段落）都還是需要人工介入的某個環節，尚未有方法能完全自主地從原始語料中發現互補文件並構造問題——這就是 HopWeaver 想解決的問題。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這張圖直接展示 HopWeaver 合成的兩種問題長什麼樣子。上半部 Bridge 問題透過「Tom Hanks 主演的電影」這個橋接實體，把來源文件（演員與角色）和目標文件（導演資訊）串接起來；下半部 Comparison 問題則是找到「最佳男主角得獎數」這個共享屬性，分別從兩份文件取值再比較。兩個例子都必須整合兩份文件才能作答，這正是論文反覆強調的『真正的』多跳推理，而非可以被單一文件捷徑解開的偽多跳問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這張全流程圖是整篇論文的技術主幹。上半部（綠色）是 Bridge 問題合成：識別橋接實體→粗篩加精排取得互補文件→用兩份文件各自生成子問題再融合成一個多跳問題。下半部（藍色）是 Comparison 問題合成：抽取實體與屬性→依信心程度選擇直接推薦或多樣化搜尋→在檢索結果中找到雙方都有數值的可比屬性→構造比較型問題。兩條軌道最終都匯入右側灰色的 Polishing &amp; Validation 模組，依 PASS/ADJUST/REWORK/REJECT四種結果把關品質。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 問題合成的核心難點在於：怎麼找到『真正互補』而非『只是相關』的第二份文件。論文的做法是先用一個改良版 MMR 公式做粗篩——同時獎勵與查詢的相關性、懲罰與來源文件的重疊（避免選到內容重複的文件）、懲罰與已選文件的重疊（促進多樣性），再交給微調過的 reranker 做精排。構造問題時如果融合失敗或違反兩個限制條件（每個事實只能來自一份文件、不能有捷徑文件同時橋接不相鄰的實體），就換下一份候選文件重試，而不是直接放棄。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Comparison 問題合成的邏輯和 Bridge 不同：不是找橋接實體，而是找『可比較的屬性』。先抽取實體的幾組事實型屬性（例如得獎數、人口、成立年份），並用 1–5 分篩掉不夠具體的候選；接著 LLM 自行判斷要不要直接推薦一個可比實體（Direct Recommendation，更精準）或退而求其次做多樣化搜尋（Diversified Search，更廣泛）；最後在檢索到的文件裡找到雙方都有數值的同一屬性，組成比較型問題。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這一頁講的是 reranker 怎麼被訓練出來的。巧妙之處在於：不需要額外人工標注『哪些文件是真正互補的』，而是直接讓 Bridge 問題合成流程自己跑一遍——能成功生成多跳問題的候選文件就是正例，失敗的就是負例，這個監督訊號來自下游任務本身的真實成敗。再用這些正負例組成對比學習三元組，以交叉熵損失訓練 reranker，讓它學會分辨『看起來相關』和『真正互補』的差別。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Polishing &amp; Validation 模組是兩條合成軌道共用的最後一道關卡，每個問題會得到 PASS、ADJUST、REWORKED、REJECTED 四種結果之一。消融實驗（Table 6）顯示這道關卡對能力較弱的生成模型幫助特別大——GLM-4-9B-0414 的 Bridge 問題平均分數在 Polisher 處理後從 3.71 升到 3.87，顯示這個模組能讓資源有限的小模型，透過針對性修正而非擴大參數量，也能產出高品質的合成問題。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作者認為評估合成的多跳問題不能只看單一指標，因此設計了三維評估系統。第一維用 LLM 裁判評分，並特別強調『自我一致性』優先於『與人類對齊』，同時做了一次人工配對驗證，顯示 LLM 裁判與人類多數決的判斷有 94% 一致；第二維比較模型『只看問題』和『看問題加黃金文件』兩種設定下的表現差距，藉此驗證問題確實需要證據才能回答；第三維則用檢索指標驗證黃金證據在原始語料中真的找得到，也衡量把所有分散的證據『同時』找齊的難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這是全文最核心的品質評估結果。綠色標示的四列是用不同 LLM 驅動 HopWeaver 合成的問題，灰白列是三個人工資料集的基準。可以看到即使換成開源模型（QwQ-32B、Qwen3-14B，甚至只有 9B 參數的 GLM-4-9B），HopWeaver 合成的問題品質也能追上或超越人工資料集；用最強的 Gemini-2.5-flash 時更是全面超越。另外也能觀察到一個一致的模式：Comparison 問題的分數普遍高於 Bridge 問題，這點在後面的 RAG 評測中也會再次出現。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這張雷達圖把 Table 1 的單一平均分拆解成九個更細緻的品質維度。紅線（Gemini_bridge）幾乎在每個維度都貼齊或超越其他資料集，特別是在 Logical Sophistication（邏輯複雜度）與 Information Integration（資訊整合）兩個維度上，HopWeaver 各版本明顯拉開差距——這正好呼應了它『需要真正跨文件推理』的設計目標。唯一的例外是 Conciseness（簡潔度），人工資料集在這個維度上略占優勢，作者也在正文中坦承這一點，而不是迴避負面結果。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可答性與難度評估的結果：把同一批問題分別餵給模型，一次只給問題（Q-Only），一次連黃金文件一起給（Q+Docs）。所有模型在所有設定下都出現大幅進步，證明這些問題單靠模型的內部知識答不出來，必須依賴 HopWeaver 提供的證據文件。同時也能看到 Comparison 問題在 Q+Docs 設定下普遍逼近 90% 以上的高分，而 Bridge 問題即使有證據，最高也只到 65% 左右，反映 Bridge 類型的跨文件推理難度更高。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證據可達性評估想回答兩個問題：黃金證據找不找得到？把所有必要證據『同時』找齊有多難？從 Recall@K 來看，個別文件的可及性相當高（BM25 Recall@20 超過 70%），說明問題確實紮根於真實語料，不是憑空捏造。但 Support F1（衡量完整證據集合的檢索準確率）普遍偏低，只有 0.17 到 0.22，這個落差正是多跳推理困難的來源——光找到一份文件不夠，還要同時找齊所有分散的證據才能真正回答問題。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這是用 FlashRAG 工具包對五種主流 RAG 方法做的端到端評測，括號內是相對 Standard RAG基線的百分比變化。可以看到在 HopWeaver 資料集上，多數『進階』RAG 方法反而不如最簡單的標準版 RAG，FLARE 和 IRCoT 甚至大跌 57% 和 50%。作者認為這說明這些方法在既有基準（HotpotQA、2WikiMultiHopQA）上的優勢，可能只是適應了那些資料集裡常見的特定推理模式，換一個問題結構更多元的資料集就未必能維持優勢——這正是 HopWeaver 作為壓力測試工具的價值所在。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兩組消融實驗分別驗證了論文的兩個關鍵模組。左邊：把檢索策略從最基本的密集檢索，逐步疊加 MMR 多樣性、零樣本重排、到最終微調過的 reranker，成功率從 70.1% 一路提升到75.3%，平均嘗試次數也從 1.59 降到 1.17，證明微調確實讓合成更有效率。右邊：比較同一批問題在 Polisher 處理前後的分數，可以看到對能力較弱的 GLM-4-9B幫助最大（Bridge 平均分從 3.71 升到 3.87），而對已經很強的 Gemini-2.5-flash 邊際效益較小，說明 Polisher 在『資源受限』情境下的價值特別突出。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這一頁把三塊互補的驗證資訊放在一起：管線效率（Table 7）顯示大部分失敗都在早期、成本較低的步驟被篩掉，避免浪費昂貴的後續 API 呼叫；成本分析（Appendix D）給出具體數字——用最貴的 Gemini-2.5-flash 合成 1000 題只要不到 8 美元，遠低於人工標注的成本；人工驗證（Appendix C.1、C.2）則從另一個角度佐證框架的可靠性：LLM 裁判的判斷和人類專家的多數決有 94% 一致，隨機抽測的 100 條推理路徑裡92% 邏輯正確，僅有的少數錯誤多半是『資訊落差』（推理依賴了證據片段之外的資訊），而非結構性缺陷。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總結收尾：作者坦誠列出三個侷限——合成品質受限於骨幹 LLM 能力、語料品質決定問題的事實準確性、全自動化可能放大原始語料的偏誤。特別說明實驗只用英文維基是資源限制而非架構限制，因為整個『先檢索、再合成』的管線本身與語言、領域無關，換一套語料和多語言嵌入模型即可套用。附錄裡也示範了一個橫跨三份文件、經過兩次遞迴串接的 3-hop 問題作為概念驗證。整體而言，這篇論文的貢獻不只是一個新資料集，而是驗證了一條完全自動化、可規模化的多跳問題合成路徑，並讓合成出的資料集反過來成為檢驗現有 RAG 系統穩健性的壓力測試工具。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  <a:ea typeface="微軟正黑體"/>
              </a:rPr>
              <a:t>METHODS · Automatic Multi-Hop QA Dataset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585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800" b="1" i="0">
                <a:solidFill>
                  <a:srgbClr val="1B3A5C"/>
                </a:solidFill>
                <a:latin typeface="Calibri"/>
                <a:ea typeface="微軟正黑體"/>
              </a:rPr>
              <a:t>不靠人工介入，跨文件自動合成</a:t>
            </a:r>
          </a:p>
          <a:p>
            <a:pPr algn="l">
              <a:lnSpc>
                <a:spcPct val="118000"/>
              </a:lnSpc>
            </a:pPr>
            <a:r>
              <a:rPr sz="3800" b="1" i="0">
                <a:solidFill>
                  <a:srgbClr val="1B3A5C"/>
                </a:solidFill>
                <a:latin typeface="Calibri"/>
                <a:ea typeface="微軟正黑體"/>
              </a:rPr>
              <a:t>真正的多跳問題：HopWeaver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520440"/>
            <a:ext cx="1005840" cy="50800"/>
          </a:xfrm>
          <a:prstGeom prst="rect">
            <a:avLst/>
          </a:prstGeom>
          <a:solidFill>
            <a:srgbClr val="D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703320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1">
                <a:solidFill>
                  <a:srgbClr val="22303C"/>
                </a:solidFill>
                <a:latin typeface="Calibri"/>
                <a:ea typeface="微軟正黑體"/>
              </a:rPr>
              <a:t>HopWeaver: Cross-Document Synthesis of High-Quality and Authentic</a:t>
            </a:r>
          </a:p>
          <a:p>
            <a:pPr algn="l">
              <a:lnSpc>
                <a:spcPct val="125000"/>
              </a:lnSpc>
            </a:pPr>
            <a:r>
              <a:rPr sz="1400" b="0" i="1">
                <a:solidFill>
                  <a:srgbClr val="22303C"/>
                </a:solidFill>
                <a:latin typeface="Calibri"/>
                <a:ea typeface="微軟正黑體"/>
              </a:rPr>
              <a:t>Multi-Hop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572000"/>
            <a:ext cx="1118585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  <a:ea typeface="微軟正黑體"/>
              </a:rPr>
              <a:t>Zhiyu Shen、Jiyuan Liu、Yunhe Pang、Yanghui Rao、Fu Lee Wang、Jianxing Yu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  <a:ea typeface="微軟正黑體"/>
              </a:rPr>
              <a:t>Sun Yat-sen University · Hong Kong Metropolitan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48640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  <a:ea typeface="微軟正黑體"/>
              </a:rPr>
              <a:t>ACL 2026 (Volume 1: Long Papers), San Diego · 2026年7月2–7日 · doi:10.18653/v1/2026.acl-long.1295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85216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  <a:ea typeface="微軟正黑體"/>
              </a:rPr>
              <a:t>程式碼開源：github.com/Zh1yuShen/HopWeaver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libri"/>
                <a:ea typeface="微軟正黑體"/>
              </a:rPr>
              <a:t>建構高品質多跳問答資料集，長期卡在「人工太貴、自動太淺」的兩難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502920" cy="38100"/>
          </a:xfrm>
          <a:prstGeom prst="rect">
            <a:avLst/>
          </a:prstGeom>
          <a:solidFill>
            <a:srgbClr val="D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06070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600" b="1" i="0">
                <a:solidFill>
                  <a:srgbClr val="D9752B"/>
                </a:solidFill>
                <a:latin typeface="Calibri"/>
                <a:ea typeface="微軟正黑體"/>
              </a:rPr>
              <a:t>▸ </a:t>
            </a:r>
            <a:r>
              <a:rPr sz="1600" b="0" i="0">
                <a:solidFill>
                  <a:srgbClr val="22303C"/>
                </a:solidFill>
                <a:latin typeface="Calibri"/>
                <a:ea typeface="微軟正黑體"/>
              </a:rPr>
              <a:t>人工標注（HotpotQA、2WikiMultiHopQA、MuSiQue）成本高、難以規模化，且容易引入標注偏誤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600" b="1" i="0">
                <a:solidFill>
                  <a:srgbClr val="D9752B"/>
                </a:solidFill>
                <a:latin typeface="Calibri"/>
                <a:ea typeface="微軟正黑體"/>
              </a:rPr>
              <a:t>▸ </a:t>
            </a:r>
            <a:r>
              <a:rPr sz="1600" b="0" i="0">
                <a:solidFill>
                  <a:srgbClr val="22303C"/>
                </a:solidFill>
                <a:latin typeface="Calibri"/>
                <a:ea typeface="微軟正黑體"/>
              </a:rPr>
              <a:t>既有評測已證實隱憂：許多所謂「多跳」問題其實可用單跳推理解出，凸顯資料集本身的漏洞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600" b="1" i="0">
                <a:solidFill>
                  <a:srgbClr val="D9752B"/>
                </a:solidFill>
                <a:latin typeface="Calibri"/>
                <a:ea typeface="微軟正黑體"/>
              </a:rPr>
              <a:t>▸ </a:t>
            </a:r>
            <a:r>
              <a:rPr sz="1600" b="0" i="0">
                <a:solidFill>
                  <a:srgbClr val="22303C"/>
                </a:solidFill>
                <a:latin typeface="Calibri"/>
                <a:ea typeface="微軟正黑體"/>
              </a:rPr>
              <a:t>現有自動合成方法仍依賴人工提供的證據文件、結構化知識圖譜或預先配對好的段落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429000"/>
            <a:ext cx="5394960" cy="1417320"/>
          </a:xfrm>
          <a:prstGeom prst="rect">
            <a:avLst/>
          </a:prstGeom>
          <a:solidFill>
            <a:srgbClr val="FFFFFF"/>
          </a:solidFill>
          <a:ln w="15875">
            <a:solidFill>
              <a:srgbClr val="3E8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520440"/>
            <a:ext cx="5120640" cy="1234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 i="0">
                <a:solidFill>
                  <a:srgbClr val="3E8E5B"/>
                </a:solidFill>
                <a:latin typeface="Calibri"/>
                <a:ea typeface="微軟正黑體"/>
              </a:rPr>
              <a:t>根本限制一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200" b="0" i="0">
                <a:solidFill>
                  <a:srgbClr val="22303C"/>
                </a:solidFill>
                <a:latin typeface="Calibri"/>
                <a:ea typeface="微軟正黑體"/>
              </a:rPr>
              <a:t>無法跨文件定位真正的橋接實體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3429000"/>
            <a:ext cx="5394960" cy="1417320"/>
          </a:xfrm>
          <a:prstGeom prst="rect">
            <a:avLst/>
          </a:prstGeom>
          <a:solidFill>
            <a:srgbClr val="FFFFFF"/>
          </a:solidFill>
          <a:ln w="15875">
            <a:solidFill>
              <a:srgbClr val="2E6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3520440"/>
            <a:ext cx="5120640" cy="1234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 i="0">
                <a:solidFill>
                  <a:srgbClr val="2E6E9E"/>
                </a:solidFill>
                <a:latin typeface="Calibri"/>
                <a:ea typeface="微軟正黑體"/>
              </a:rPr>
              <a:t>根本限制二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200" b="0" i="0">
                <a:solidFill>
                  <a:srgbClr val="22303C"/>
                </a:solidFill>
                <a:latin typeface="Calibri"/>
                <a:ea typeface="微軟正黑體"/>
              </a:rPr>
              <a:t>檢索到的文件常彼此重複，而非真正互補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989320"/>
            <a:ext cx="54864" cy="566928"/>
          </a:xfrm>
          <a:prstGeom prst="rect">
            <a:avLst/>
          </a:prstGeom>
          <a:solidFill>
            <a:srgbClr val="D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5971032"/>
            <a:ext cx="11021263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B3A5C"/>
                </a:solidFill>
                <a:latin typeface="Calibri"/>
                <a:ea typeface="微軟正黑體"/>
              </a:rPr>
              <a:t>這正是 HopWeaver 切入的缺口：讓框架自己從原始語料發現互補文件、自主構造推理路徑。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  <a:ea typeface="微軟正黑體"/>
              </a:rPr>
              <a:t>Source: §1 Introduction, Shen et al., 2026 (ACL 2026 / aclanthology.org/2026.acl-long.1295)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libri"/>
                <a:ea typeface="微軟正黑體"/>
              </a:rPr>
              <a:t>HopWeaver：全自動、跨文件合成 Bridge 與 Comparison 兩類多跳問題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502920" cy="38100"/>
          </a:xfrm>
          <a:prstGeom prst="rect">
            <a:avLst/>
          </a:prstGeom>
          <a:solidFill>
            <a:srgbClr val="D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1_motivating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5433646" cy="47091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63840" y="1371600"/>
            <a:ext cx="3824935" cy="2103120"/>
          </a:xfrm>
          <a:prstGeom prst="rect">
            <a:avLst/>
          </a:prstGeom>
          <a:solidFill>
            <a:srgbClr val="FFFFFF"/>
          </a:solidFill>
          <a:ln w="15875">
            <a:solidFill>
              <a:srgbClr val="3E8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0" y="1463040"/>
            <a:ext cx="3550615" cy="1920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 i="0">
                <a:solidFill>
                  <a:srgbClr val="3E8E5B"/>
                </a:solidFill>
                <a:latin typeface="Calibri"/>
                <a:ea typeface="微軟正黑體"/>
              </a:rPr>
              <a:t>Bridge 問題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200" b="0" i="0">
                <a:solidFill>
                  <a:srgbClr val="22303C"/>
                </a:solidFill>
                <a:latin typeface="Calibri"/>
                <a:ea typeface="微軟正黑體"/>
              </a:rPr>
              <a:t>以「橋接實體」串起兩份文件：
Tom Hanks 主演《浩劫重生》，
該片由誰執導？→ 需先找到
《浩劫重生》這個橋接實體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0" y="3657600"/>
            <a:ext cx="3824935" cy="2377440"/>
          </a:xfrm>
          <a:prstGeom prst="rect">
            <a:avLst/>
          </a:prstGeom>
          <a:solidFill>
            <a:srgbClr val="FFFFFF"/>
          </a:solidFill>
          <a:ln w="15875">
            <a:solidFill>
              <a:srgbClr val="2E6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3749040"/>
            <a:ext cx="3550615" cy="21945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 i="0">
                <a:solidFill>
                  <a:srgbClr val="2E6E9E"/>
                </a:solidFill>
                <a:latin typeface="Calibri"/>
                <a:ea typeface="微軟正黑體"/>
              </a:rPr>
              <a:t>Comparison 問題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200" b="0" i="0">
                <a:solidFill>
                  <a:srgbClr val="22303C"/>
                </a:solidFill>
                <a:latin typeface="Calibri"/>
                <a:ea typeface="微軟正黑體"/>
              </a:rPr>
              <a:t>以「共享屬性」比較兩個實體：
Tom Hanks 與 Leonardo DiCaprio
誰獲得的奧斯卡最佳男主角
獎項較多？→ 需分別找到雙方
在不同文件中的得獎數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  <a:ea typeface="微軟正黑體"/>
              </a:rPr>
              <a:t>Source: Figure 1, Shen et al., 2026 (ACL 2026 / aclanthology.org/2026.acl-long.1295)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libri"/>
                <a:ea typeface="微軟正黑體"/>
              </a:rPr>
              <a:t>全流程總覽：Bridge 與 Comparison 各自多步驟，共用 Polishing 守門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502920" cy="38100"/>
          </a:xfrm>
          <a:prstGeom prst="rect">
            <a:avLst/>
          </a:prstGeom>
          <a:solidFill>
            <a:srgbClr val="D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2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72213"/>
            <a:ext cx="11185855" cy="400501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5989320"/>
            <a:ext cx="54864" cy="566928"/>
          </a:xfrm>
          <a:prstGeom prst="rect">
            <a:avLst/>
          </a:prstGeom>
          <a:solidFill>
            <a:srgbClr val="D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5971032"/>
            <a:ext cx="11021263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B3A5C"/>
                </a:solidFill>
                <a:latin typeface="Calibri"/>
                <a:ea typeface="微軟正黑體"/>
              </a:rPr>
              <a:t>兩條合成軌道都遵循同一骨架：先鎖定實體，再檢索互補文件，最後構造問題並交給</a:t>
            </a:r>
          </a:p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B3A5C"/>
                </a:solidFill>
                <a:latin typeface="Calibri"/>
                <a:ea typeface="微軟正黑體"/>
              </a:rPr>
              <a:t>Polishing &amp; Validation 模組把關，才輸出最終的多跳 QA。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  <a:ea typeface="微軟正黑體"/>
              </a:rPr>
              <a:t>Source: Figure 2, Shen et al., 2026 (ACL 2026 / aclanthology.org/2026.acl-long.1295)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libri"/>
                <a:ea typeface="微軟正黑體"/>
              </a:rPr>
              <a:t>Bridge 問題：先鎖定橋接實體，再用「粗篩＋精排」找到真正互補的文件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502920" cy="38100"/>
          </a:xfrm>
          <a:prstGeom prst="rect">
            <a:avLst/>
          </a:prstGeom>
          <a:solidFill>
            <a:srgbClr val="D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06070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300"/>
              </a:spcAft>
            </a:pPr>
            <a:r>
              <a:rPr sz="1450" b="1" i="0">
                <a:solidFill>
                  <a:srgbClr val="3E8E5B"/>
                </a:solidFill>
                <a:latin typeface="Calibri"/>
                <a:ea typeface="微軟正黑體"/>
              </a:rPr>
              <a:t>▸ </a:t>
            </a:r>
            <a:r>
              <a:rPr sz="1450" b="0" i="0">
                <a:solidFill>
                  <a:srgbClr val="22303C"/>
                </a:solidFill>
                <a:latin typeface="Calibri"/>
                <a:ea typeface="微軟正黑體"/>
              </a:rPr>
              <a:t>Step 1 橋接實體識別：從語料隨機取樣來源文件，LLM 挑選文字片段並識別橋接實體 eb，
據此生成優化過的檢索查詢 q</a:t>
            </a:r>
          </a:p>
          <a:p>
            <a:pPr algn="l">
              <a:lnSpc>
                <a:spcPct val="120000"/>
              </a:lnSpc>
              <a:spcAft>
                <a:spcPts val="1300"/>
              </a:spcAft>
            </a:pPr>
            <a:r>
              <a:rPr sz="1450" b="1" i="0">
                <a:solidFill>
                  <a:srgbClr val="3E8E5B"/>
                </a:solidFill>
                <a:latin typeface="Calibri"/>
                <a:ea typeface="微軟正黑體"/>
              </a:rPr>
              <a:t>▸ </a:t>
            </a:r>
            <a:r>
              <a:rPr sz="1450" b="0" i="0">
                <a:solidFill>
                  <a:srgbClr val="22303C"/>
                </a:solidFill>
                <a:latin typeface="Calibri"/>
                <a:ea typeface="微軟正黑體"/>
              </a:rPr>
              <a:t>Step 2 兩階段檢索：先以改良版 MMR 粗篩候選文件，兼顧查詢相關性、與來源文件的差異
性、候選間的多樣性；再用微調過的 reranker 精排，取得 top-k 互補文件</a:t>
            </a:r>
          </a:p>
          <a:p>
            <a:pPr algn="l">
              <a:lnSpc>
                <a:spcPct val="120000"/>
              </a:lnSpc>
              <a:spcAft>
                <a:spcPts val="1300"/>
              </a:spcAft>
            </a:pPr>
            <a:r>
              <a:rPr sz="1450" b="1" i="0">
                <a:solidFill>
                  <a:srgbClr val="3E8E5B"/>
                </a:solidFill>
                <a:latin typeface="Calibri"/>
                <a:ea typeface="微軟正黑體"/>
              </a:rPr>
              <a:t>▸ </a:t>
            </a:r>
            <a:r>
              <a:rPr sz="1450" b="0" i="0">
                <a:solidFill>
                  <a:srgbClr val="22303C"/>
                </a:solidFill>
                <a:latin typeface="Calibri"/>
                <a:ea typeface="微軟正黑體"/>
              </a:rPr>
              <a:t>Step 3 問題構造：分別從來源與目標文件生成兩個子問題，以 eb 為樞紐融合成一個不直接
洩漏橋接實體、卻必須跨文件推理才能回答的多跳問題</a:t>
            </a:r>
          </a:p>
          <a:p>
            <a:pPr algn="l">
              <a:lnSpc>
                <a:spcPct val="120000"/>
              </a:lnSpc>
              <a:spcAft>
                <a:spcPts val="1300"/>
              </a:spcAft>
            </a:pPr>
            <a:r>
              <a:rPr sz="1450" b="1" i="0">
                <a:solidFill>
                  <a:srgbClr val="3E8E5B"/>
                </a:solidFill>
                <a:latin typeface="Calibri"/>
                <a:ea typeface="微軟正黑體"/>
              </a:rPr>
              <a:t>▸ </a:t>
            </a:r>
            <a:r>
              <a:rPr sz="1450" b="0" i="0">
                <a:solidFill>
                  <a:srgbClr val="22303C"/>
                </a:solidFill>
                <a:latin typeface="Calibri"/>
                <a:ea typeface="微軟正黑體"/>
              </a:rPr>
              <a:t>Step 3 驗證與重試：問題違反 Fact Distribution 或 No-Shortcut 限制時，換下一份候選文件
重新嘗試，而非直接放棄整個樣本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257800"/>
            <a:ext cx="11185855" cy="777240"/>
          </a:xfrm>
          <a:prstGeom prst="rect">
            <a:avLst/>
          </a:prstGeom>
          <a:solidFill>
            <a:srgbClr val="EAF3EC"/>
          </a:solidFill>
          <a:ln w="9525">
            <a:solidFill>
              <a:srgbClr val="3E8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330952"/>
            <a:ext cx="1072865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2303C"/>
                </a:solidFill>
                <a:latin typeface="Calibri"/>
                <a:ea typeface="微軟正黑體"/>
              </a:rPr>
              <a:t>Score(dᵢ) = λ₁·sim(q, dᵢ) − λ₂·sim(dᵢ, dₛ) − λ₃·max_{dⱼ∈S} sim(dᵢ, dⱼ)　　（查詢相關性 − 與來源文件的重疊 − 與已選文件的重疊，見 Eq.1）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  <a:ea typeface="微軟正黑體"/>
              </a:rPr>
              <a:t>Source: §3.1, Eq.(1), Shen et al., 2026 (ACL 2026 / aclanthology.org/2026.acl-long.1295)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libri"/>
                <a:ea typeface="微軟正黑體"/>
              </a:rPr>
              <a:t>Comparison 問題：先抽取可比屬性，再依信心程度選擇檢索策略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502920" cy="38100"/>
          </a:xfrm>
          <a:prstGeom prst="rect">
            <a:avLst/>
          </a:prstGeom>
          <a:solidFill>
            <a:srgbClr val="D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06070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300"/>
              </a:spcAft>
            </a:pPr>
            <a:r>
              <a:rPr sz="1450" b="1" i="0">
                <a:solidFill>
                  <a:srgbClr val="2E6E9E"/>
                </a:solidFill>
                <a:latin typeface="Calibri"/>
                <a:ea typeface="微軟正黑體"/>
              </a:rPr>
              <a:t>▸ </a:t>
            </a:r>
            <a:r>
              <a:rPr sz="1450" b="0" i="0">
                <a:solidFill>
                  <a:srgbClr val="22303C"/>
                </a:solidFill>
                <a:latin typeface="Calibri"/>
                <a:ea typeface="微軟正黑體"/>
              </a:rPr>
              <a:t>Step 1 實體與屬性抽取：識別主體實體 ea 及其類型（人物／地點／組織），抽取 3–5 組
適合比較的事實型屬性—數值配對</a:t>
            </a:r>
          </a:p>
          <a:p>
            <a:pPr algn="l">
              <a:lnSpc>
                <a:spcPct val="120000"/>
              </a:lnSpc>
              <a:spcAft>
                <a:spcPts val="1300"/>
              </a:spcAft>
            </a:pPr>
            <a:r>
              <a:rPr sz="1450" b="1" i="0">
                <a:solidFill>
                  <a:srgbClr val="2E6E9E"/>
                </a:solidFill>
                <a:latin typeface="Calibri"/>
                <a:ea typeface="微軟正黑體"/>
              </a:rPr>
              <a:t>▸ </a:t>
            </a:r>
            <a:r>
              <a:rPr sz="1450" b="0" i="0">
                <a:solidFill>
                  <a:srgbClr val="22303C"/>
                </a:solidFill>
                <a:latin typeface="Calibri"/>
                <a:ea typeface="微軟正黑體"/>
              </a:rPr>
              <a:t>Step 2 品質過濾：每個實體與屬性依 1–5 分濃縮度評分，未達門檻者直接淘汰，確保後續
比較具體且可驗證</a:t>
            </a:r>
          </a:p>
          <a:p>
            <a:pPr algn="l">
              <a:lnSpc>
                <a:spcPct val="120000"/>
              </a:lnSpc>
              <a:spcAft>
                <a:spcPts val="1300"/>
              </a:spcAft>
            </a:pPr>
            <a:r>
              <a:rPr sz="1450" b="1" i="0">
                <a:solidFill>
                  <a:srgbClr val="2E6E9E"/>
                </a:solidFill>
                <a:latin typeface="Calibri"/>
                <a:ea typeface="微軟正黑體"/>
              </a:rPr>
              <a:t>▸ </a:t>
            </a:r>
            <a:r>
              <a:rPr sz="1450" b="0" i="0">
                <a:solidFill>
                  <a:srgbClr val="22303C"/>
                </a:solidFill>
                <a:latin typeface="Calibri"/>
                <a:ea typeface="微軟正黑體"/>
              </a:rPr>
              <a:t>Step 3 查詢與檢索：優先嘗試 Direct Recommendation（LLM 直接推薦一個可比實體並生成
驗證查詢）；信心不足時退回 Diversified Search（生成三種查詢廣泛搜尋同類型實體）</a:t>
            </a:r>
          </a:p>
          <a:p>
            <a:pPr algn="l">
              <a:lnSpc>
                <a:spcPct val="120000"/>
              </a:lnSpc>
              <a:spcAft>
                <a:spcPts val="1300"/>
              </a:spcAft>
            </a:pPr>
            <a:r>
              <a:rPr sz="1450" b="1" i="0">
                <a:solidFill>
                  <a:srgbClr val="2E6E9E"/>
                </a:solidFill>
                <a:latin typeface="Calibri"/>
                <a:ea typeface="微軟正黑體"/>
              </a:rPr>
              <a:t>▸ </a:t>
            </a:r>
            <a:r>
              <a:rPr sz="1450" b="0" i="0">
                <a:solidFill>
                  <a:srgbClr val="22303C"/>
                </a:solidFill>
                <a:latin typeface="Calibri"/>
                <a:ea typeface="微軟正黑體"/>
              </a:rPr>
              <a:t>Step 4 問題構造：在檢索結果中找到雙方都有具體數值的可比屬性對，生成「哪個較高：
ea 或 ec？」形式的比較型問題，並保留完整推理路徑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989320"/>
            <a:ext cx="54864" cy="566928"/>
          </a:xfrm>
          <a:prstGeom prst="rect">
            <a:avLst/>
          </a:prstGeom>
          <a:solidFill>
            <a:srgbClr val="2E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5971032"/>
            <a:ext cx="11021263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B3A5C"/>
                </a:solidFill>
                <a:latin typeface="Calibri"/>
                <a:ea typeface="微軟正黑體"/>
              </a:rPr>
              <a:t>兩種策略互為備援：能自信推薦時走 Direct Recommendation 提高精準度，</a:t>
            </a:r>
          </a:p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B3A5C"/>
                </a:solidFill>
                <a:latin typeface="Calibri"/>
                <a:ea typeface="微軟正黑體"/>
              </a:rPr>
              <a:t>信心不足時退回 Diversified Search 擴大搜尋範圍，避免無謂放棄樣本。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  <a:ea typeface="微軟正黑體"/>
              </a:rPr>
              <a:t>Source: §3.2, Shen et al., 2026 (ACL 2026 / aclanthology.org/2026.acl-long.1295)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libri"/>
                <a:ea typeface="微軟正黑體"/>
              </a:rPr>
              <a:t>用「合成過程本身的成敗」當監督訊號，對比學習微調 Reranker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502920" cy="38100"/>
          </a:xfrm>
          <a:prstGeom prst="rect">
            <a:avLst/>
          </a:prstGeom>
          <a:solidFill>
            <a:srgbClr val="D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57607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300"/>
              </a:spcAft>
            </a:pPr>
            <a:r>
              <a:rPr sz="1400" b="1" i="0">
                <a:solidFill>
                  <a:srgbClr val="3E8E5B"/>
                </a:solidFill>
                <a:latin typeface="Calibri"/>
                <a:ea typeface="微軟正黑體"/>
              </a:rPr>
              <a:t>▸ </a:t>
            </a:r>
            <a:r>
              <a:rPr sz="1400" b="0" i="0">
                <a:solidFill>
                  <a:srgbClr val="22303C"/>
                </a:solidFill>
                <a:latin typeface="Calibri"/>
                <a:ea typeface="微軟正黑體"/>
              </a:rPr>
              <a:t>模擬 Bridge 問題合成流程：用粗篩檢索到一批候選文件 {dᵢ}，每個候選各自嘗試
生成連接子問題</a:t>
            </a:r>
          </a:p>
          <a:p>
            <a:pPr algn="l">
              <a:lnSpc>
                <a:spcPct val="120000"/>
              </a:lnSpc>
              <a:spcAft>
                <a:spcPts val="1300"/>
              </a:spcAft>
            </a:pPr>
            <a:r>
              <a:rPr sz="1400" b="1" i="0">
                <a:solidFill>
                  <a:srgbClr val="3E8E5B"/>
                </a:solidFill>
                <a:latin typeface="Calibri"/>
                <a:ea typeface="微軟正黑體"/>
              </a:rPr>
              <a:t>▸ </a:t>
            </a:r>
            <a:r>
              <a:rPr sz="1400" b="0" i="0">
                <a:solidFill>
                  <a:srgbClr val="22303C"/>
                </a:solidFill>
                <a:latin typeface="Calibri"/>
                <a:ea typeface="微軟正黑體"/>
              </a:rPr>
              <a:t>成功生成有效多跳問題的候選標記為正例 d⁺，失敗的標記為負例 d⁻，這個訊號直接
來自下游任務本身的成敗，不需要額外人工標注</a:t>
            </a:r>
          </a:p>
          <a:p>
            <a:pPr algn="l">
              <a:lnSpc>
                <a:spcPct val="120000"/>
              </a:lnSpc>
              <a:spcAft>
                <a:spcPts val="1300"/>
              </a:spcAft>
            </a:pPr>
            <a:r>
              <a:rPr sz="1400" b="1" i="0">
                <a:solidFill>
                  <a:srgbClr val="3E8E5B"/>
                </a:solidFill>
                <a:latin typeface="Calibri"/>
                <a:ea typeface="微軟正黑體"/>
              </a:rPr>
              <a:t>▸ </a:t>
            </a:r>
            <a:r>
              <a:rPr sz="1400" b="0" i="0">
                <a:solidFill>
                  <a:srgbClr val="22303C"/>
                </a:solidFill>
                <a:latin typeface="Calibri"/>
                <a:ea typeface="微軟正黑體"/>
              </a:rPr>
              <a:t>以 (查詢=eb, d⁺, d⁻) 組成對比學習三元組，訓練 reranker 學會分辨「真正互補」與
「表面相關」的文件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617720"/>
            <a:ext cx="5760720" cy="960120"/>
          </a:xfrm>
          <a:prstGeom prst="rect">
            <a:avLst/>
          </a:prstGeom>
          <a:solidFill>
            <a:srgbClr val="EAF3EC"/>
          </a:solidFill>
          <a:ln w="9525">
            <a:solidFill>
              <a:srgbClr val="3E8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4681728"/>
            <a:ext cx="5358384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22303C"/>
                </a:solidFill>
                <a:latin typeface="Calibri"/>
                <a:ea typeface="微軟正黑體"/>
              </a:rPr>
              <a:t>L = − (1/N) · Σᵢ log[ exp(f(eb,d⁺ᵢ)) / Σⱼ exp(f(eb,dᵢⱼ)) ]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22303C"/>
                </a:solidFill>
                <a:latin typeface="Calibri"/>
                <a:ea typeface="微軟正黑體"/>
              </a:rPr>
              <a:t>以交叉熵損失訓練 reranker 區分正負例（Eq.2）</a:t>
            </a:r>
          </a:p>
        </p:txBody>
      </p:sp>
      <p:pic>
        <p:nvPicPr>
          <p:cNvPr id="8" name="Picture 7" descr="fig3_fine_tuning_reran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011636"/>
            <a:ext cx="5105095" cy="1737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5989320"/>
            <a:ext cx="54864" cy="566928"/>
          </a:xfrm>
          <a:prstGeom prst="rect">
            <a:avLst/>
          </a:prstGeom>
          <a:solidFill>
            <a:srgbClr val="D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5971032"/>
            <a:ext cx="11021263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B3A5C"/>
                </a:solidFill>
                <a:latin typeface="Calibri"/>
                <a:ea typeface="微軟正黑體"/>
              </a:rPr>
              <a:t>消融實驗證實：微調後的 reranker 讓合成成功率與效率同步提升（見後續投影片 Table 5）。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  <a:ea typeface="微軟正黑體"/>
              </a:rPr>
              <a:t>Source: Figure 3 &amp; §3.3, Eq.(2), Shen et al., 2026 (ACL 2026 / aclanthology.org/2026.acl-long.1295)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libri"/>
                <a:ea typeface="微軟正黑體"/>
              </a:rPr>
              <a:t>每個問題都要通過「四選一」品質守門，才能進入最終資料集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502920" cy="38100"/>
          </a:xfrm>
          <a:prstGeom prst="rect">
            <a:avLst/>
          </a:prstGeom>
          <a:solidFill>
            <a:srgbClr val="D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2606040" cy="228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2331720" cy="21031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 i="0">
                <a:solidFill>
                  <a:srgbClr val="1B3A5C"/>
                </a:solidFill>
                <a:latin typeface="Calibri"/>
                <a:ea typeface="微軟正黑體"/>
              </a:rPr>
              <a:t>PASS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200" b="0" i="0">
                <a:solidFill>
                  <a:srgbClr val="22303C"/>
                </a:solidFill>
                <a:latin typeface="Calibri"/>
                <a:ea typeface="微軟正黑體"/>
              </a:rPr>
              <a:t>直接採用
問題已符合品質要求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298448"/>
            <a:ext cx="2606040" cy="228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3E8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1389888"/>
            <a:ext cx="2331720" cy="21031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 i="0">
                <a:solidFill>
                  <a:srgbClr val="3E8E5B"/>
                </a:solidFill>
                <a:latin typeface="Calibri"/>
                <a:ea typeface="微軟正黑體"/>
              </a:rPr>
              <a:t>ADJUST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200" b="0" i="0">
                <a:solidFill>
                  <a:srgbClr val="22303C"/>
                </a:solidFill>
                <a:latin typeface="Calibri"/>
                <a:ea typeface="微軟正黑體"/>
              </a:rPr>
              <a:t>微調用詞與流暢度
輸出修訂後的問題與推理路徑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298448"/>
            <a:ext cx="2606040" cy="228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2E6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389888"/>
            <a:ext cx="2331720" cy="21031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 i="0">
                <a:solidFill>
                  <a:srgbClr val="2E6E9E"/>
                </a:solidFill>
                <a:latin typeface="Calibri"/>
                <a:ea typeface="微軟正黑體"/>
              </a:rPr>
              <a:t>REWORKED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200" b="0" i="0">
                <a:solidFill>
                  <a:srgbClr val="22303C"/>
                </a:solidFill>
                <a:latin typeface="Calibri"/>
                <a:ea typeface="微軟正黑體"/>
              </a:rPr>
              <a:t>大幅重構
輸出全新的問題、推理路徑與答案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69680" y="1298448"/>
            <a:ext cx="2606040" cy="228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1389888"/>
            <a:ext cx="2331720" cy="21031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 i="0">
                <a:solidFill>
                  <a:srgbClr val="6B7280"/>
                </a:solidFill>
                <a:latin typeface="Calibri"/>
                <a:ea typeface="微軟正黑體"/>
              </a:rPr>
              <a:t>REJECTED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200" b="0" i="0">
                <a:solidFill>
                  <a:srgbClr val="22303C"/>
                </a:solidFill>
                <a:latin typeface="Calibri"/>
                <a:ea typeface="微軟正黑體"/>
              </a:rPr>
              <a:t>捨棄
缺陷無法修復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931920"/>
            <a:ext cx="54864" cy="566928"/>
          </a:xfrm>
          <a:prstGeom prst="rect">
            <a:avLst/>
          </a:prstGeom>
          <a:solidFill>
            <a:srgbClr val="D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3913632"/>
            <a:ext cx="11021263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B3A5C"/>
                </a:solidFill>
                <a:latin typeface="Calibri"/>
                <a:ea typeface="微軟正黑體"/>
              </a:rPr>
              <a:t>這一步確保每個問題都（一）真正需要跨文件推理、（二）不洩漏橋接實體、</a:t>
            </a:r>
          </a:p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B3A5C"/>
                </a:solidFill>
                <a:latin typeface="Calibri"/>
                <a:ea typeface="微軟正黑體"/>
              </a:rPr>
              <a:t>（三）保持流暢且不暴露中間推理步驟。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892040"/>
            <a:ext cx="1118585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50" b="1" i="0">
                <a:solidFill>
                  <a:srgbClr val="D9752B"/>
                </a:solidFill>
                <a:latin typeface="Calibri"/>
                <a:ea typeface="微軟正黑體"/>
              </a:rPr>
              <a:t>▸ </a:t>
            </a:r>
            <a:r>
              <a:rPr sz="1350" b="0" i="0">
                <a:solidFill>
                  <a:srgbClr val="22303C"/>
                </a:solidFill>
                <a:latin typeface="Calibri"/>
                <a:ea typeface="微軟正黑體"/>
              </a:rPr>
              <a:t>消融實驗顯示 Polisher 對較弱的生成模型幫助最大：GLM-4-9B 的 Bridge 問題平均分數
從 3.71 提升到 3.87，遠大於 Gemini-2.5-flash 等強模型的邊際提升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  <a:ea typeface="微軟正黑體"/>
              </a:rPr>
              <a:t>Source: §3.4 &amp; Table 6, Shen et al., 2026 (ACL 2026 / aclanthology.org/2026.acl-long.1295)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libri"/>
                <a:ea typeface="微軟正黑體"/>
              </a:rPr>
              <a:t>三個維度交叉驗證：問題品質、可答性與難度、證據可達性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502920" cy="38100"/>
          </a:xfrm>
          <a:prstGeom prst="rect">
            <a:avLst/>
          </a:prstGeom>
          <a:solidFill>
            <a:srgbClr val="D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3611880" cy="2743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3337560" cy="2560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 i="0">
                <a:solidFill>
                  <a:srgbClr val="1B3A5C"/>
                </a:solidFill>
                <a:latin typeface="Calibri"/>
                <a:ea typeface="微軟正黑體"/>
              </a:rPr>
              <a:t>LLM-as-Judge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200" b="0" i="0">
                <a:solidFill>
                  <a:srgbClr val="22303C"/>
                </a:solidFill>
                <a:latin typeface="Calibri"/>
                <a:ea typeface="微軟正黑體"/>
              </a:rPr>
              <a:t>5 個 LLM 裁判以 Likert 量表評分，
以自我一致性而非人類對齊作為
可靠性標準；人工複核顯示 94%
多數決一致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1298448"/>
            <a:ext cx="3611880" cy="2743200"/>
          </a:xfrm>
          <a:prstGeom prst="rect">
            <a:avLst/>
          </a:prstGeom>
          <a:solidFill>
            <a:srgbClr val="FFFFFF"/>
          </a:solidFill>
          <a:ln w="15875">
            <a:solidFill>
              <a:srgbClr val="3E8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389888"/>
            <a:ext cx="3337560" cy="2560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 i="0">
                <a:solidFill>
                  <a:srgbClr val="3E8E5B"/>
                </a:solidFill>
                <a:latin typeface="Calibri"/>
                <a:ea typeface="微軟正黑體"/>
              </a:rPr>
              <a:t>可答性與難度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200" b="0" i="0">
                <a:solidFill>
                  <a:srgbClr val="22303C"/>
                </a:solidFill>
                <a:latin typeface="Calibri"/>
                <a:ea typeface="微軟正黑體"/>
              </a:rPr>
              <a:t>比較 Q-Only（僅問題）與 Q+Docs
（問題＋黃金文件）兩種設定下的
答題表現，驗證問題是否真的需要
證據才能作答</a:t>
            </a:r>
          </a:p>
        </p:txBody>
      </p:sp>
      <p:sp>
        <p:nvSpPr>
          <p:cNvPr id="9" name="Rectangle 8"/>
          <p:cNvSpPr/>
          <p:nvPr/>
        </p:nvSpPr>
        <p:spPr>
          <a:xfrm>
            <a:off x="8183880" y="1298448"/>
            <a:ext cx="3611880" cy="2743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E6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389888"/>
            <a:ext cx="3337560" cy="2560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 i="0">
                <a:solidFill>
                  <a:srgbClr val="2E6E9E"/>
                </a:solidFill>
                <a:latin typeface="Calibri"/>
                <a:ea typeface="微軟正黑體"/>
              </a:rPr>
              <a:t>證據可達性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200" b="0" i="0">
                <a:solidFill>
                  <a:srgbClr val="22303C"/>
                </a:solidFill>
                <a:latin typeface="Calibri"/>
                <a:ea typeface="微軟正黑體"/>
              </a:rPr>
              <a:t>以 MAP、Recall@K、NDCG@K、
Support F1 檢驗黃金證據能否被
多種檢索器找回，並衡量同時找齊
全部證據的難度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989320"/>
            <a:ext cx="54864" cy="566928"/>
          </a:xfrm>
          <a:prstGeom prst="rect">
            <a:avLst/>
          </a:prstGeom>
          <a:solidFill>
            <a:srgbClr val="D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5971032"/>
            <a:ext cx="11021263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B3A5C"/>
                </a:solidFill>
                <a:latin typeface="Calibri"/>
                <a:ea typeface="微軟正黑體"/>
              </a:rPr>
              <a:t>三個維度互為印證：品質評分確認「像不像好問題」，可答性驗證「是否真的需要證據」，</a:t>
            </a:r>
          </a:p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B3A5C"/>
                </a:solidFill>
                <a:latin typeface="Calibri"/>
                <a:ea typeface="微軟正黑體"/>
              </a:rPr>
              <a:t>證據可達性則衡量「證據好不好找齊」——共同刻劃出合成資料集的真實難度。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  <a:ea typeface="微軟正黑體"/>
              </a:rPr>
              <a:t>Source: §4 Data Quality Evaluation System, Shen et al., 2026 (ACL 2026 / aclanthology.org/2026.acl-long.1295)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libri"/>
                <a:ea typeface="微軟正黑體"/>
              </a:rPr>
              <a:t>用 Gemini-2.5-flash 生成時，HopWeaver 的問題品質全面超越三個人工資料集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502920" cy="38100"/>
          </a:xfrm>
          <a:prstGeom prst="rect">
            <a:avLst/>
          </a:prstGeom>
          <a:solidFill>
            <a:srgbClr val="D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98448"/>
          <a:ext cx="11183111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828800"/>
                <a:gridCol w="1828800"/>
                <a:gridCol w="1828800"/>
                <a:gridCol w="1856231"/>
              </a:tblGrid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生成來源</a:t>
                      </a:r>
                    </a:p>
                  </a:txBody>
                  <a:tcPr anchor="ctr" marL="76200" marR="76200" marT="38100" marB="381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Bridge 多跳率(%)</a:t>
                      </a:r>
                    </a:p>
                  </a:txBody>
                  <a:tcPr anchor="ctr" marL="76200" marR="76200" marT="38100" marB="381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Bridge 平均分</a:t>
                      </a:r>
                    </a:p>
                  </a:txBody>
                  <a:tcPr anchor="ctr" marL="76200" marR="76200" marT="38100" marB="381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Comparison 多跳率(%)</a:t>
                      </a:r>
                    </a:p>
                  </a:txBody>
                  <a:tcPr anchor="ctr" marL="76200" marR="76200" marT="38100" marB="381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Comparison 平均分</a:t>
                      </a:r>
                    </a:p>
                  </a:txBody>
                  <a:tcPr anchor="ctr" marL="76200" marR="76200" marT="38100" marB="38100">
                    <a:solidFill>
                      <a:srgbClr val="1B3A5C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HopWeaver · Gemini-2.5-flash</a:t>
                      </a:r>
                    </a:p>
                  </a:txBody>
                  <a:tcPr anchor="ctr" marL="76200" marR="76200" marT="25400" marB="25400"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96.4</a:t>
                      </a:r>
                    </a:p>
                  </a:txBody>
                  <a:tcPr anchor="ctr" marL="76200" marR="76200" marT="25400" marB="25400"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4.27</a:t>
                      </a:r>
                    </a:p>
                  </a:txBody>
                  <a:tcPr anchor="ctr" marL="76200" marR="76200" marT="25400" marB="25400"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98.6</a:t>
                      </a:r>
                    </a:p>
                  </a:txBody>
                  <a:tcPr anchor="ctr" marL="76200" marR="76200" marT="25400" marB="25400"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4.45</a:t>
                      </a:r>
                    </a:p>
                  </a:txBody>
                  <a:tcPr anchor="ctr" marL="76200" marR="76200" marT="25400" marB="25400">
                    <a:solidFill>
                      <a:srgbClr val="EAF3EC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HopWeaver · QwQ-32B</a:t>
                      </a:r>
                    </a:p>
                  </a:txBody>
                  <a:tcPr anchor="ctr" marL="76200" marR="76200" marT="25400" marB="25400"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98.9</a:t>
                      </a:r>
                    </a:p>
                  </a:txBody>
                  <a:tcPr anchor="ctr" marL="76200" marR="76200" marT="25400" marB="25400"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4.23</a:t>
                      </a:r>
                    </a:p>
                  </a:txBody>
                  <a:tcPr anchor="ctr" marL="76200" marR="76200" marT="25400" marB="25400"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97.4</a:t>
                      </a:r>
                    </a:p>
                  </a:txBody>
                  <a:tcPr anchor="ctr" marL="76200" marR="76200" marT="25400" marB="25400"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4.40</a:t>
                      </a:r>
                    </a:p>
                  </a:txBody>
                  <a:tcPr anchor="ctr" marL="76200" marR="76200" marT="25400" marB="25400">
                    <a:solidFill>
                      <a:srgbClr val="EAF3EC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HopWeaver · Qwen3-14B</a:t>
                      </a:r>
                    </a:p>
                  </a:txBody>
                  <a:tcPr anchor="ctr" marL="76200" marR="76200" marT="25400" marB="25400"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96.9</a:t>
                      </a:r>
                    </a:p>
                  </a:txBody>
                  <a:tcPr anchor="ctr" marL="76200" marR="76200" marT="25400" marB="25400"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4.09</a:t>
                      </a:r>
                    </a:p>
                  </a:txBody>
                  <a:tcPr anchor="ctr" marL="76200" marR="76200" marT="25400" marB="25400"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95.9</a:t>
                      </a:r>
                    </a:p>
                  </a:txBody>
                  <a:tcPr anchor="ctr" marL="76200" marR="76200" marT="25400" marB="25400"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4.36</a:t>
                      </a:r>
                    </a:p>
                  </a:txBody>
                  <a:tcPr anchor="ctr" marL="76200" marR="76200" marT="25400" marB="25400">
                    <a:solidFill>
                      <a:srgbClr val="EAF3EC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HopWeaver · GLM-4-9B-0414</a:t>
                      </a:r>
                    </a:p>
                  </a:txBody>
                  <a:tcPr anchor="ctr" marL="76200" marR="76200" marT="25400" marB="25400"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89.8</a:t>
                      </a:r>
                    </a:p>
                  </a:txBody>
                  <a:tcPr anchor="ctr" marL="76200" marR="76200" marT="25400" marB="25400"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3.87</a:t>
                      </a:r>
                    </a:p>
                  </a:txBody>
                  <a:tcPr anchor="ctr" marL="76200" marR="76200" marT="25400" marB="25400"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93.9</a:t>
                      </a:r>
                    </a:p>
                  </a:txBody>
                  <a:tcPr anchor="ctr" marL="76200" marR="76200" marT="25400" marB="25400"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4.26</a:t>
                      </a:r>
                    </a:p>
                  </a:txBody>
                  <a:tcPr anchor="ctr" marL="76200" marR="76200" marT="25400" marB="25400">
                    <a:solidFill>
                      <a:srgbClr val="EAF3EC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人工資料集 · HotpotQA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92.8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4.23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95.6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4.20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人工資料集 · 2WikiMultiHopQA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92.8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4.04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97.6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4.42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人工資料集 · MuSiQue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91.2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3.78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N/A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N/A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5989320"/>
            <a:ext cx="54864" cy="566928"/>
          </a:xfrm>
          <a:prstGeom prst="rect">
            <a:avLst/>
          </a:prstGeom>
          <a:solidFill>
            <a:srgbClr val="D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5971032"/>
            <a:ext cx="11021263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B3A5C"/>
                </a:solidFill>
                <a:latin typeface="Calibri"/>
                <a:ea typeface="微軟正黑體"/>
              </a:rPr>
              <a:t>以 Gemini-2.5-flash 生成時，Comparison 問題達 98.6% 多跳率、4.45 平均分，</a:t>
            </a:r>
          </a:p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B3A5C"/>
                </a:solidFill>
                <a:latin typeface="Calibri"/>
                <a:ea typeface="微軟正黑體"/>
              </a:rPr>
              <a:t>Bridge 問題達 96.4%、4.27，皆超越三個人工資料集中的最佳表現。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  <a:ea typeface="微軟正黑體"/>
              </a:rPr>
              <a:t>Source: Table 1 (500 samples, 5 LLM judges), Shen et al., 2026 (ACL 2026 / aclanthology.org/2026.acl-long.1295)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libri"/>
                <a:ea typeface="微軟正黑體"/>
              </a:rPr>
              <a:t>多維度拆解：邏輯複雜度與資訊整合領先明顯，簡潔度略遜人工資料集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502920" cy="38100"/>
          </a:xfrm>
          <a:prstGeom prst="rect">
            <a:avLst/>
          </a:prstGeom>
          <a:solidFill>
            <a:srgbClr val="D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4_radar_eval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5762807" cy="47091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549640" y="1371600"/>
            <a:ext cx="3139135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49640" y="1371600"/>
            <a:ext cx="54864" cy="1463040"/>
          </a:xfrm>
          <a:prstGeom prst="rect">
            <a:avLst/>
          </a:prstGeom>
          <a:solidFill>
            <a:srgbClr val="3E8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50808" y="1444752"/>
            <a:ext cx="2809951" cy="131673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3E8E5B"/>
                </a:solidFill>
                <a:latin typeface="Calibri"/>
                <a:ea typeface="微軟正黑體"/>
              </a:rPr>
              <a:t>Logical
Sophistication</a:t>
            </a:r>
          </a:p>
          <a:p>
            <a:pPr algn="l">
              <a:lnSpc>
                <a:spcPct val="108000"/>
              </a:lnSpc>
              <a:spcBef>
                <a:spcPts val="400"/>
              </a:spcBef>
            </a:pPr>
            <a:r>
              <a:rPr sz="1150" b="0" i="0">
                <a:solidFill>
                  <a:srgbClr val="22303C"/>
                </a:solidFill>
                <a:latin typeface="Calibri"/>
                <a:ea typeface="微軟正黑體"/>
              </a:rPr>
              <a:t>HopWeaver 各版本在此維度
的評分普遍高於三個人工
資料集</a:t>
            </a:r>
          </a:p>
        </p:txBody>
      </p:sp>
      <p:sp>
        <p:nvSpPr>
          <p:cNvPr id="9" name="Rectangle 8"/>
          <p:cNvSpPr/>
          <p:nvPr/>
        </p:nvSpPr>
        <p:spPr>
          <a:xfrm>
            <a:off x="8549640" y="2971800"/>
            <a:ext cx="3139135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49640" y="2971800"/>
            <a:ext cx="54864" cy="1463040"/>
          </a:xfrm>
          <a:prstGeom prst="rect">
            <a:avLst/>
          </a:prstGeom>
          <a:solidFill>
            <a:srgbClr val="2E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50808" y="3044952"/>
            <a:ext cx="2809951" cy="131673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6E9E"/>
                </a:solidFill>
                <a:latin typeface="Calibri"/>
                <a:ea typeface="微軟正黑體"/>
              </a:rPr>
              <a:t>Information
Integration</a:t>
            </a:r>
          </a:p>
          <a:p>
            <a:pPr algn="l">
              <a:lnSpc>
                <a:spcPct val="108000"/>
              </a:lnSpc>
              <a:spcBef>
                <a:spcPts val="400"/>
              </a:spcBef>
            </a:pPr>
            <a:r>
              <a:rPr sz="1150" b="0" i="0">
                <a:solidFill>
                  <a:srgbClr val="22303C"/>
                </a:solidFill>
                <a:latin typeface="Calibri"/>
                <a:ea typeface="微軟正黑體"/>
              </a:rPr>
              <a:t>作者特別點名的另一個
明顯領先維度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49640" y="4572000"/>
            <a:ext cx="3139135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49640" y="4572000"/>
            <a:ext cx="54864" cy="141732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0808" y="4645152"/>
            <a:ext cx="2809951" cy="127101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6B7280"/>
                </a:solidFill>
                <a:latin typeface="Calibri"/>
                <a:ea typeface="微軟正黑體"/>
              </a:rPr>
              <a:t>Conciseness</a:t>
            </a:r>
          </a:p>
          <a:p>
            <a:pPr algn="l">
              <a:lnSpc>
                <a:spcPct val="108000"/>
              </a:lnSpc>
              <a:spcBef>
                <a:spcPts val="400"/>
              </a:spcBef>
            </a:pPr>
            <a:r>
              <a:rPr sz="1150" b="0" i="0">
                <a:solidFill>
                  <a:srgbClr val="22303C"/>
                </a:solidFill>
                <a:latin typeface="Calibri"/>
                <a:ea typeface="微軟正黑體"/>
              </a:rPr>
              <a:t>唯一人工資料集（HotpotQA／
2Wiki）略占優勢的維度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  <a:ea typeface="微軟正黑體"/>
              </a:rPr>
              <a:t>Source: Figure 4, Shen et al., 2026 (ACL 2026 / aclanthology.org/2026.acl-long.1295); 縱軸截斷為 [3.0, 4.5]（完整量表 [1, 5]）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libri"/>
                <a:ea typeface="微軟正黑體"/>
              </a:rPr>
              <a:t>從 Q-Only 到 Q+Docs 的巨大進步，證明問題確實需要跨文件證據才能作答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502920" cy="38100"/>
          </a:xfrm>
          <a:prstGeom prst="rect">
            <a:avLst/>
          </a:prstGeom>
          <a:solidFill>
            <a:srgbClr val="D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52728"/>
            <a:ext cx="5349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E8E5B"/>
                </a:solidFill>
                <a:latin typeface="Calibri"/>
                <a:ea typeface="微軟正黑體"/>
              </a:rPr>
              <a:t>Bridge 問題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18488"/>
          <a:ext cx="534924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914400"/>
                <a:gridCol w="914400"/>
                <a:gridCol w="914400"/>
                <a:gridCol w="914400"/>
              </a:tblGrid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模型</a:t>
                      </a:r>
                    </a:p>
                  </a:txBody>
                  <a:tcPr anchor="ctr" marL="76200" marR="76200" marT="38100" marB="381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Q-Only</a:t>
                      </a:r>
                    </a:p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EM</a:t>
                      </a:r>
                    </a:p>
                  </a:txBody>
                  <a:tcPr anchor="ctr" marL="76200" marR="76200" marT="38100" marB="381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Q-Only</a:t>
                      </a:r>
                    </a:p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F1</a:t>
                      </a:r>
                    </a:p>
                  </a:txBody>
                  <a:tcPr anchor="ctr" marL="76200" marR="76200" marT="38100" marB="381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Q+Docs</a:t>
                      </a:r>
                    </a:p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EM</a:t>
                      </a:r>
                    </a:p>
                  </a:txBody>
                  <a:tcPr anchor="ctr" marL="76200" marR="76200" marT="38100" marB="381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Q+Docs</a:t>
                      </a:r>
                    </a:p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F1</a:t>
                      </a:r>
                    </a:p>
                  </a:txBody>
                  <a:tcPr anchor="ctr" marL="76200" marR="76200" marT="38100" marB="38100">
                    <a:solidFill>
                      <a:srgbClr val="1B3A5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GPT-4o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29.0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40.5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51.0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65.0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Claude-3.7-Sonnet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23.0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33.0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50.0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62.0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Llama-3.3-70B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18.0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30.6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45.0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60.9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Qwen3-8B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10.0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22.3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47.0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60.2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26480" y="1252728"/>
            <a:ext cx="5349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E6E9E"/>
                </a:solidFill>
                <a:latin typeface="Calibri"/>
                <a:ea typeface="微軟正黑體"/>
              </a:rPr>
              <a:t>Comparison 問題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1618488"/>
          <a:ext cx="534924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914400"/>
                <a:gridCol w="914400"/>
                <a:gridCol w="914400"/>
                <a:gridCol w="914400"/>
              </a:tblGrid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模型</a:t>
                      </a:r>
                    </a:p>
                  </a:txBody>
                  <a:tcPr anchor="ctr" marL="76200" marR="76200" marT="38100" marB="381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Q-Only</a:t>
                      </a:r>
                    </a:p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EM</a:t>
                      </a:r>
                    </a:p>
                  </a:txBody>
                  <a:tcPr anchor="ctr" marL="76200" marR="76200" marT="38100" marB="381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Q-Only</a:t>
                      </a:r>
                    </a:p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F1</a:t>
                      </a:r>
                    </a:p>
                  </a:txBody>
                  <a:tcPr anchor="ctr" marL="76200" marR="76200" marT="38100" marB="381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Q+Docs</a:t>
                      </a:r>
                    </a:p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EM</a:t>
                      </a:r>
                    </a:p>
                  </a:txBody>
                  <a:tcPr anchor="ctr" marL="76200" marR="76200" marT="38100" marB="381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Q+Docs</a:t>
                      </a:r>
                    </a:p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F1</a:t>
                      </a:r>
                    </a:p>
                  </a:txBody>
                  <a:tcPr anchor="ctr" marL="76200" marR="76200" marT="38100" marB="38100">
                    <a:solidFill>
                      <a:srgbClr val="1B3A5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GPT-4o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69.0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70.5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94.0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94.2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Claude-3.7-Sonnet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47.0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50.2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91.0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93.4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Llama-3.3-70B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49.0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51.8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74.0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78.9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Qwen3-8B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50.0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55.4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62.0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66.0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02920" y="5074920"/>
            <a:ext cx="54864" cy="566928"/>
          </a:xfrm>
          <a:prstGeom prst="rect">
            <a:avLst/>
          </a:prstGeom>
          <a:solidFill>
            <a:srgbClr val="D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5056632"/>
            <a:ext cx="11021263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B3A5C"/>
                </a:solidFill>
                <a:latin typeface="Calibri"/>
                <a:ea typeface="微軟正黑體"/>
              </a:rPr>
              <a:t>GPT-4o 的 Bridge EM 從 29.0% 升到 51.0%，Compare EM 從 69.0% 升到 94.0%；連 Qwen3-8B 的 Compare F1 也從 55.4% 跳到 66.0%——顯示證據確實不可或缺。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17220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  <a:ea typeface="微軟正黑體"/>
              </a:rPr>
              <a:t>Source: Table 2 (100 samples), §5.2, Shen et al., 2026 (ACL 2026 / aclanthology.org/2026.acl-long.1295)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libri"/>
                <a:ea typeface="微軟正黑體"/>
              </a:rPr>
              <a:t>個別證據文件多能被檢索到，但同時找齊全部證據仍然困難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502920" cy="38100"/>
          </a:xfrm>
          <a:prstGeom prst="rect">
            <a:avLst/>
          </a:prstGeom>
          <a:solidFill>
            <a:srgbClr val="D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98448"/>
          <a:ext cx="11185851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388973"/>
                <a:gridCol w="1388973"/>
                <a:gridCol w="1388973"/>
                <a:gridCol w="1388973"/>
                <a:gridCol w="1388973"/>
                <a:gridCol w="1388973"/>
                <a:gridCol w="1388973"/>
              </a:tblGrid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檢索方法</a:t>
                      </a:r>
                    </a:p>
                  </a:txBody>
                  <a:tcPr anchor="ctr" marL="76200" marR="76200" marT="38100" marB="381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MAP</a:t>
                      </a:r>
                    </a:p>
                  </a:txBody>
                  <a:tcPr anchor="ctr" marL="76200" marR="76200" marT="38100" marB="381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Recall@5</a:t>
                      </a:r>
                    </a:p>
                  </a:txBody>
                  <a:tcPr anchor="ctr" marL="76200" marR="76200" marT="38100" marB="381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Recall@10</a:t>
                      </a:r>
                    </a:p>
                  </a:txBody>
                  <a:tcPr anchor="ctr" marL="76200" marR="76200" marT="38100" marB="381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Recall@20</a:t>
                      </a:r>
                    </a:p>
                  </a:txBody>
                  <a:tcPr anchor="ctr" marL="76200" marR="76200" marT="38100" marB="381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NDCG@5</a:t>
                      </a:r>
                    </a:p>
                  </a:txBody>
                  <a:tcPr anchor="ctr" marL="76200" marR="76200" marT="38100" marB="381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NDCG@10</a:t>
                      </a:r>
                    </a:p>
                  </a:txBody>
                  <a:tcPr anchor="ctr" marL="76200" marR="76200" marT="38100" marB="381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Support F1</a:t>
                      </a:r>
                    </a:p>
                  </a:txBody>
                  <a:tcPr anchor="ctr" marL="76200" marR="76200" marT="38100" marB="38100">
                    <a:solidFill>
                      <a:srgbClr val="1B3A5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BM25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0.5605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0.6150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0.6650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0.7050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0.6305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0.6510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0.2217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GTE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0.5092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0.5600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0.5900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0.6250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0.5828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0.5946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0.1967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E5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0.4107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0.4600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0.5150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0.5800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0.4720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0.4943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0.1717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3703320"/>
            <a:ext cx="1118585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1" i="0">
                <a:solidFill>
                  <a:srgbClr val="D9752B"/>
                </a:solidFill>
                <a:latin typeface="Calibri"/>
                <a:ea typeface="微軟正黑體"/>
              </a:rPr>
              <a:t>▸ </a:t>
            </a:r>
            <a:r>
              <a:rPr sz="1400" b="0" i="0">
                <a:solidFill>
                  <a:srgbClr val="22303C"/>
                </a:solidFill>
                <a:latin typeface="Calibri"/>
                <a:ea typeface="微軟正黑體"/>
              </a:rPr>
              <a:t>個別文件相當容易找到：BM25 的 Recall@20 達 0.7050，證實資料集確實根植於原始語料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1" i="0">
                <a:solidFill>
                  <a:srgbClr val="D9752B"/>
                </a:solidFill>
                <a:latin typeface="Calibri"/>
                <a:ea typeface="微軟正黑體"/>
              </a:rPr>
              <a:t>▸ </a:t>
            </a:r>
            <a:r>
              <a:rPr sz="1400" b="0" i="0">
                <a:solidFill>
                  <a:srgbClr val="22303C"/>
                </a:solidFill>
                <a:latin typeface="Calibri"/>
                <a:ea typeface="微軟正黑體"/>
              </a:rPr>
              <a:t>但同時找齊「全部」必要證據明顯更難：三種檢索器的 Support F1 都只有 0.17–0.22（橙色標示）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1" i="0">
                <a:solidFill>
                  <a:srgbClr val="D9752B"/>
                </a:solidFill>
                <a:latin typeface="Calibri"/>
                <a:ea typeface="微軟正黑體"/>
              </a:rPr>
              <a:t>▸ </a:t>
            </a:r>
            <a:r>
              <a:rPr sz="1400" b="0" i="0">
                <a:solidFill>
                  <a:srgbClr val="22303C"/>
                </a:solidFill>
                <a:latin typeface="Calibri"/>
                <a:ea typeface="微軟正黑體"/>
              </a:rPr>
              <a:t>這種「個別可尋、整體難齊」的落差正好驗證了問題的真正多跳性質——不能靠單一檢索命中取巧；
同時 BM25 &gt; GTE &gt; E5 的排序差異也顯示資料集能有效區分不同檢索策略的優劣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  <a:ea typeface="微軟正黑體"/>
              </a:rPr>
              <a:t>Source: Table 3, §5.3, Shen et al., 2026 (ACL 2026 / aclanthology.org/2026.acl-long.1295)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libri"/>
                <a:ea typeface="微軟正黑體"/>
              </a:rPr>
              <a:t>換上更聰明的 RAG 方法，在 HopWeaver 資料集上未必贏得了「標準版」RAG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502920" cy="38100"/>
          </a:xfrm>
          <a:prstGeom prst="rect">
            <a:avLst/>
          </a:prstGeom>
          <a:solidFill>
            <a:srgbClr val="D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98448"/>
          <a:ext cx="11173968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221992"/>
                <a:gridCol w="2221992"/>
                <a:gridCol w="2221992"/>
                <a:gridCol w="2130552"/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方法（F1-Score）</a:t>
                      </a:r>
                    </a:p>
                  </a:txBody>
                  <a:tcPr anchor="ctr" marL="76200" marR="76200" marT="38100" marB="381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HopWeaver</a:t>
                      </a:r>
                    </a:p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Bridge</a:t>
                      </a:r>
                    </a:p>
                  </a:txBody>
                  <a:tcPr anchor="ctr" marL="76200" marR="76200" marT="38100" marB="381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HopWeaver</a:t>
                      </a:r>
                    </a:p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Comparison</a:t>
                      </a:r>
                    </a:p>
                  </a:txBody>
                  <a:tcPr anchor="ctr" marL="76200" marR="76200" marT="38100" marB="381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HotpotQA</a:t>
                      </a:r>
                    </a:p>
                  </a:txBody>
                  <a:tcPr anchor="ctr" marL="76200" marR="76200" marT="38100" marB="381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2WikiMultiHopQA</a:t>
                      </a:r>
                    </a:p>
                  </a:txBody>
                  <a:tcPr anchor="ctr" marL="76200" marR="76200" marT="38100" marB="38100">
                    <a:solidFill>
                      <a:srgbClr val="1B3A5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Standard RAG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0.318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0.417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0.353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0.210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REPLUG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0.226</a:t>
                      </a:r>
                    </a:p>
                    <a:p>
                      <a:pPr algn="ctr"/>
                      <a:r>
                        <a:rPr sz="120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(↓29%)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0.483</a:t>
                      </a:r>
                    </a:p>
                    <a:p>
                      <a:pPr algn="ctr"/>
                      <a:r>
                        <a:rPr sz="120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(↑16%)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0.312</a:t>
                      </a:r>
                    </a:p>
                    <a:p>
                      <a:pPr algn="ctr"/>
                      <a:r>
                        <a:rPr sz="120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(↓12%)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0.211</a:t>
                      </a:r>
                    </a:p>
                    <a:p>
                      <a:pPr algn="ctr"/>
                      <a:r>
                        <a:rPr sz="120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(↑1%)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SuRe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0.328</a:t>
                      </a:r>
                    </a:p>
                    <a:p>
                      <a:pPr algn="ctr"/>
                      <a:r>
                        <a:rPr sz="120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(↑3%)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0.265</a:t>
                      </a:r>
                    </a:p>
                    <a:p>
                      <a:pPr algn="ctr"/>
                      <a:r>
                        <a:rPr sz="120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(↓36%)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0.334</a:t>
                      </a:r>
                    </a:p>
                    <a:p>
                      <a:pPr algn="ctr"/>
                      <a:r>
                        <a:rPr sz="120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(↓5%)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0.206</a:t>
                      </a:r>
                    </a:p>
                    <a:p>
                      <a:pPr algn="ctr"/>
                      <a:r>
                        <a:rPr sz="120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(↓2%)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FLARE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0.136</a:t>
                      </a:r>
                    </a:p>
                    <a:p>
                      <a:pPr algn="ctr"/>
                      <a:r>
                        <a:rPr sz="120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(↓57%)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0.303</a:t>
                      </a:r>
                    </a:p>
                    <a:p>
                      <a:pPr algn="ctr"/>
                      <a:r>
                        <a:rPr sz="120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(↓27%)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0.280</a:t>
                      </a:r>
                    </a:p>
                    <a:p>
                      <a:pPr algn="ctr"/>
                      <a:r>
                        <a:rPr sz="120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(↓21%)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0.339</a:t>
                      </a:r>
                    </a:p>
                    <a:p>
                      <a:pPr algn="ctr"/>
                      <a:r>
                        <a:rPr sz="120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(↑61%)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IRCoT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0.158</a:t>
                      </a:r>
                    </a:p>
                    <a:p>
                      <a:pPr algn="ctr"/>
                      <a:r>
                        <a:rPr sz="120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(↓50%)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0.279</a:t>
                      </a:r>
                    </a:p>
                    <a:p>
                      <a:pPr algn="ctr"/>
                      <a:r>
                        <a:rPr sz="120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(↓33%)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0.415</a:t>
                      </a:r>
                    </a:p>
                    <a:p>
                      <a:pPr algn="ctr"/>
                      <a:r>
                        <a:rPr sz="120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(↑18%)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0.324</a:t>
                      </a:r>
                    </a:p>
                    <a:p>
                      <a:pPr algn="ctr"/>
                      <a:r>
                        <a:rPr sz="120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(↑54%)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5806440"/>
            <a:ext cx="54864" cy="566928"/>
          </a:xfrm>
          <a:prstGeom prst="rect">
            <a:avLst/>
          </a:prstGeom>
          <a:solidFill>
            <a:srgbClr val="D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5788152"/>
            <a:ext cx="11021263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B3A5C"/>
                </a:solidFill>
                <a:latin typeface="Calibri"/>
                <a:ea typeface="微軟正黑體"/>
              </a:rPr>
              <a:t>FLARE、IRCoT 等進階方法在 HopWeaver 資料集上分別大跌 57%／50%，</a:t>
            </a:r>
          </a:p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B3A5C"/>
                </a:solidFill>
                <a:latin typeface="Calibri"/>
                <a:ea typeface="微軟正黑體"/>
              </a:rPr>
              <a:t>說明這些方法的優勢可能只是「吃準」了既有基準的推理模式，未必真正通用。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  <a:ea typeface="微軟正黑體"/>
              </a:rPr>
              <a:t>Source: Table 4 (FlashRAG toolkit), §5.4, Shen et al., 2026 (ACL 2026 / aclanthology.org/2026.acl-long.1295)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libri"/>
                <a:ea typeface="微軟正黑體"/>
              </a:rPr>
              <a:t>微調過的 Reranker 與 Polisher 模組，各自帶來可驗證的品質與效率提升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502920" cy="38100"/>
          </a:xfrm>
          <a:prstGeom prst="rect">
            <a:avLst/>
          </a:prstGeom>
          <a:solidFill>
            <a:srgbClr val="D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52728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3E8E5B"/>
                </a:solidFill>
                <a:latin typeface="Calibri"/>
                <a:ea typeface="微軟正黑體"/>
              </a:rPr>
              <a:t>消融一：Reranker 檢索策略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18488"/>
          <a:ext cx="4114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91440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檢索策略</a:t>
                      </a:r>
                    </a:p>
                  </a:txBody>
                  <a:tcPr anchor="ctr" marL="76200" marR="76200" marT="38100" marB="381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成功率(%)↑</a:t>
                      </a:r>
                    </a:p>
                  </a:txBody>
                  <a:tcPr anchor="ctr" marL="76200" marR="76200" marT="38100" marB="381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平均嘗試次數↓</a:t>
                      </a:r>
                    </a:p>
                  </a:txBody>
                  <a:tcPr anchor="ctr" marL="76200" marR="76200" marT="38100" marB="38100">
                    <a:solidFill>
                      <a:srgbClr val="1B3A5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Standard Dense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70.1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1.59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Diverse (MMR)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70.9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1.62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Diverse+Rerank (ZS)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74.0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1.32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Diverse+Rerank (FT，本文)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D9752B"/>
                          </a:solidFill>
                          <a:latin typeface="Calibri"/>
                          <a:ea typeface="微軟正黑體"/>
                        </a:rPr>
                        <a:t>75.3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D9752B"/>
                          </a:solidFill>
                          <a:latin typeface="Calibri"/>
                          <a:ea typeface="微軟正黑體"/>
                        </a:rPr>
                        <a:t>1.17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892040" y="1252728"/>
            <a:ext cx="67967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E6E9E"/>
                </a:solidFill>
                <a:latin typeface="Calibri"/>
                <a:ea typeface="微軟正黑體"/>
              </a:rPr>
              <a:t>消融二：Polisher 模組效果（Original → Polished）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892040" y="1618488"/>
          <a:ext cx="6796734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960120"/>
                <a:gridCol w="1427378"/>
                <a:gridCol w="1427378"/>
                <a:gridCol w="1427378"/>
              </a:tblGrid>
              <a:tr h="39116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生成模型</a:t>
                      </a:r>
                    </a:p>
                  </a:txBody>
                  <a:tcPr anchor="ctr" marL="76200" marR="76200" marT="38100" marB="381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版本</a:t>
                      </a:r>
                    </a:p>
                  </a:txBody>
                  <a:tcPr anchor="ctr" marL="76200" marR="76200" marT="38100" marB="381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Bridge</a:t>
                      </a:r>
                    </a:p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多跳率(%)</a:t>
                      </a:r>
                    </a:p>
                  </a:txBody>
                  <a:tcPr anchor="ctr" marL="76200" marR="76200" marT="38100" marB="381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Bridge</a:t>
                      </a:r>
                    </a:p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平均分</a:t>
                      </a:r>
                    </a:p>
                  </a:txBody>
                  <a:tcPr anchor="ctr" marL="76200" marR="76200" marT="38100" marB="381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Comp.</a:t>
                      </a:r>
                    </a:p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多跳率(%)/平均分</a:t>
                      </a:r>
                    </a:p>
                  </a:txBody>
                  <a:tcPr anchor="ctr" marL="76200" marR="76200" marT="38100" marB="38100">
                    <a:solidFill>
                      <a:srgbClr val="1B3A5C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Gemini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Original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95.2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4.26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98.0 / 4.42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Gemini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Polished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96.4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4.27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98.6 / 4.45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QwQ-32B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Original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97.6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4.20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97.2 / 4.36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QwQ-32B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Polished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98.9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4.23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97.4 / 4.40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Qwen3-14B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Original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96.8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4.03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94.0 / 4.34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Qwen3-14B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Polished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96.9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4.09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95.9 / 4.36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GLM-4-9B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Original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84.5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3.71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92.8 / 4.13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GLM-4-9B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Polished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89.8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3.87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93.9 / 4.25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02920" y="6035040"/>
            <a:ext cx="54864" cy="566928"/>
          </a:xfrm>
          <a:prstGeom prst="rect">
            <a:avLst/>
          </a:prstGeom>
          <a:solidFill>
            <a:srgbClr val="D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6016752"/>
            <a:ext cx="11021263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B3A5C"/>
                </a:solidFill>
                <a:latin typeface="Calibri"/>
                <a:ea typeface="微軟正黑體"/>
              </a:rPr>
              <a:t>微調 reranker 讓成功率提升、嘗試次數下降；Polisher 對能力較弱的 GLM-4-9B 提升最明顯</a:t>
            </a:r>
          </a:p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B3A5C"/>
                </a:solidFill>
                <a:latin typeface="Calibri"/>
                <a:ea typeface="微軟正黑體"/>
              </a:rPr>
              <a:t>（Bridge 平均分 3.71→3.87），對已經很強的 Gemini 邊際效益則較小。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  <a:ea typeface="微軟正黑體"/>
              </a:rPr>
              <a:t>Source: Table 5 &amp; Table 6, §5.5, Shen et al., 2026 (ACL 2026 / aclanthology.org/2026.acl-long.1295)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libri"/>
                <a:ea typeface="微軟正黑體"/>
              </a:rPr>
              <a:t>管線多數在早期就篩掉不合格候選，人工複核也驗證了框架的可靠性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502920" cy="38100"/>
          </a:xfrm>
          <a:prstGeom prst="rect">
            <a:avLst/>
          </a:prstGeom>
          <a:solidFill>
            <a:srgbClr val="D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66751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300"/>
              </a:spcAft>
            </a:pPr>
            <a:r>
              <a:rPr sz="1400" b="1" i="0">
                <a:solidFill>
                  <a:srgbClr val="D9752B"/>
                </a:solidFill>
                <a:latin typeface="Calibri"/>
                <a:ea typeface="微軟正黑體"/>
              </a:rPr>
              <a:t>▸ </a:t>
            </a:r>
            <a:r>
              <a:rPr sz="1400" b="0" i="0">
                <a:solidFill>
                  <a:srgbClr val="22303C"/>
                </a:solidFill>
                <a:latin typeface="Calibri"/>
                <a:ea typeface="微軟正黑體"/>
              </a:rPr>
              <a:t>拒絕統計顯示：Bridge 問題失敗中，78% 發生在 Step 3a（子問題生成失敗），
在進入昂貴的後續步驟前就被有效篩掉</a:t>
            </a:r>
          </a:p>
          <a:p>
            <a:pPr algn="l">
              <a:lnSpc>
                <a:spcPct val="120000"/>
              </a:lnSpc>
              <a:spcAft>
                <a:spcPts val="1300"/>
              </a:spcAft>
            </a:pPr>
            <a:r>
              <a:rPr sz="1400" b="1" i="0">
                <a:solidFill>
                  <a:srgbClr val="D9752B"/>
                </a:solidFill>
                <a:latin typeface="Calibri"/>
                <a:ea typeface="微軟正黑體"/>
              </a:rPr>
              <a:t>▸ </a:t>
            </a:r>
            <a:r>
              <a:rPr sz="1400" b="0" i="0">
                <a:solidFill>
                  <a:srgbClr val="22303C"/>
                </a:solidFill>
                <a:latin typeface="Calibri"/>
                <a:ea typeface="微軟正黑體"/>
              </a:rPr>
              <a:t>Comparison 問題的拒絕則主要來自 Step 2 屬性過濾（6.6%），Polisher 最終
拒絕率極低（Bridge、Comparison 皆為 3.1%／1.9%），顯示上游合成品質已經很高</a:t>
            </a:r>
          </a:p>
          <a:p>
            <a:pPr algn="l">
              <a:lnSpc>
                <a:spcPct val="120000"/>
              </a:lnSpc>
              <a:spcAft>
                <a:spcPts val="1300"/>
              </a:spcAft>
            </a:pPr>
            <a:r>
              <a:rPr sz="1400" b="1" i="0">
                <a:solidFill>
                  <a:srgbClr val="D9752B"/>
                </a:solidFill>
                <a:latin typeface="Calibri"/>
                <a:ea typeface="微軟正黑體"/>
              </a:rPr>
              <a:t>▸ </a:t>
            </a:r>
            <a:r>
              <a:rPr sz="1400" b="0" i="0">
                <a:solidFill>
                  <a:srgbClr val="22303C"/>
                </a:solidFill>
                <a:latin typeface="Calibri"/>
                <a:ea typeface="微軟正黑體"/>
              </a:rPr>
              <a:t>成本分析：以 Gemini-2.5-flash 合成 1000 題約需 $7.90；若改用小型開源模型，
生成成本幾乎可以忽略不計</a:t>
            </a:r>
          </a:p>
          <a:p>
            <a:pPr algn="l">
              <a:lnSpc>
                <a:spcPct val="120000"/>
              </a:lnSpc>
              <a:spcAft>
                <a:spcPts val="1300"/>
              </a:spcAft>
            </a:pPr>
            <a:r>
              <a:rPr sz="1400" b="1" i="0">
                <a:solidFill>
                  <a:srgbClr val="D9752B"/>
                </a:solidFill>
                <a:latin typeface="Calibri"/>
                <a:ea typeface="微軟正黑體"/>
              </a:rPr>
              <a:t>▸ </a:t>
            </a:r>
            <a:r>
              <a:rPr sz="1400" b="0" i="0">
                <a:solidFill>
                  <a:srgbClr val="22303C"/>
                </a:solidFill>
                <a:latin typeface="Calibri"/>
                <a:ea typeface="微軟正黑體"/>
              </a:rPr>
              <a:t>人工複核：LLM 裁判與人類多數決評分 94% 一致；隨機抽測 100 條推理路徑，
92% 邏輯正確，主要誤差來自「資訊落差」而非邏輯錯誤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1298448"/>
            <a:ext cx="4282135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06640" y="1298448"/>
            <a:ext cx="54864" cy="1234440"/>
          </a:xfrm>
          <a:prstGeom prst="rect">
            <a:avLst/>
          </a:prstGeom>
          <a:solidFill>
            <a:srgbClr val="D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07808" y="1371600"/>
            <a:ext cx="3952951" cy="108813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D9752B"/>
                </a:solidFill>
                <a:latin typeface="Calibri"/>
                <a:ea typeface="微軟正黑體"/>
              </a:rPr>
              <a:t>78%</a:t>
            </a:r>
          </a:p>
          <a:p>
            <a:pPr algn="l">
              <a:lnSpc>
                <a:spcPct val="108000"/>
              </a:lnSpc>
              <a:spcBef>
                <a:spcPts val="400"/>
              </a:spcBef>
            </a:pPr>
            <a:r>
              <a:rPr sz="1150" b="0" i="0">
                <a:solidFill>
                  <a:srgbClr val="22303C"/>
                </a:solidFill>
                <a:latin typeface="Calibri"/>
                <a:ea typeface="微軟正黑體"/>
              </a:rPr>
              <a:t>Bridge 拒絕案例集中在
Step 3a（子問題生成）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2715768"/>
            <a:ext cx="4282135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06640" y="2715768"/>
            <a:ext cx="54864" cy="1234440"/>
          </a:xfrm>
          <a:prstGeom prst="rect">
            <a:avLst/>
          </a:prstGeom>
          <a:solidFill>
            <a:srgbClr val="3E8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7808" y="2788920"/>
            <a:ext cx="3952951" cy="108813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3E8E5B"/>
                </a:solidFill>
                <a:latin typeface="Calibri"/>
                <a:ea typeface="微軟正黑體"/>
              </a:rPr>
              <a:t>94% / 92%</a:t>
            </a:r>
          </a:p>
          <a:p>
            <a:pPr algn="l">
              <a:lnSpc>
                <a:spcPct val="108000"/>
              </a:lnSpc>
              <a:spcBef>
                <a:spcPts val="400"/>
              </a:spcBef>
            </a:pPr>
            <a:r>
              <a:rPr sz="1150" b="0" i="0">
                <a:solidFill>
                  <a:srgbClr val="22303C"/>
                </a:solidFill>
                <a:latin typeface="Calibri"/>
                <a:ea typeface="微軟正黑體"/>
              </a:rPr>
              <a:t>LLM 裁判與人類一致率／
人工複核推理路徑正確率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4133088"/>
            <a:ext cx="4282135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4133088"/>
            <a:ext cx="54864" cy="1234440"/>
          </a:xfrm>
          <a:prstGeom prst="rect">
            <a:avLst/>
          </a:prstGeom>
          <a:solidFill>
            <a:srgbClr val="2E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7808" y="4206240"/>
            <a:ext cx="3952951" cy="108813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E6E9E"/>
                </a:solidFill>
                <a:latin typeface="Calibri"/>
                <a:ea typeface="微軟正黑體"/>
              </a:rPr>
              <a:t>$7.90</a:t>
            </a:r>
          </a:p>
          <a:p>
            <a:pPr algn="l">
              <a:lnSpc>
                <a:spcPct val="108000"/>
              </a:lnSpc>
              <a:spcBef>
                <a:spcPts val="400"/>
              </a:spcBef>
            </a:pPr>
            <a:r>
              <a:rPr sz="1150" b="0" i="0">
                <a:solidFill>
                  <a:srgbClr val="22303C"/>
                </a:solidFill>
                <a:latin typeface="Calibri"/>
                <a:ea typeface="微軟正黑體"/>
              </a:rPr>
              <a:t>以 Gemini-2.5-flash 合成
1000 題多跳問題的預估成本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  <a:ea typeface="微軟正黑體"/>
              </a:rPr>
              <a:t>Source: Table 7, Appendix C.1/C.2/D, Shen et al., 2026 (ACL 2026 / aclanthology.org/2026.acl-long.1295)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libri"/>
                <a:ea typeface="微軟正黑體"/>
              </a:rPr>
              <a:t>侷限於英文維基與骨幹 LLM 能力，但管線本身與語言、領域無關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502920" cy="38100"/>
          </a:xfrm>
          <a:prstGeom prst="rect">
            <a:avLst/>
          </a:prstGeom>
          <a:solidFill>
            <a:srgbClr val="D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8585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400"/>
              </a:spcAft>
            </a:pPr>
            <a:r>
              <a:rPr sz="1500" b="1" i="0">
                <a:solidFill>
                  <a:srgbClr val="D9752B"/>
                </a:solidFill>
                <a:latin typeface="Calibri"/>
                <a:ea typeface="微軟正黑體"/>
              </a:rPr>
              <a:t>▸ </a:t>
            </a:r>
            <a:r>
              <a:rPr sz="1500" b="0" i="0">
                <a:solidFill>
                  <a:srgbClr val="22303C"/>
                </a:solidFill>
                <a:latin typeface="Calibri"/>
                <a:ea typeface="微軟正黑體"/>
              </a:rPr>
              <a:t>侷限：合成問題的細膩程度受限於骨幹 LLM 的推理與語言能力；語料的涵蓋面與潔淨度
決定生成問題的廣度與事實準確性；全自動流程可能放大原始語料中既有的偏誤</a:t>
            </a:r>
          </a:p>
          <a:p>
            <a:pPr algn="l">
              <a:lnSpc>
                <a:spcPct val="122000"/>
              </a:lnSpc>
              <a:spcAft>
                <a:spcPts val="1400"/>
              </a:spcAft>
            </a:pPr>
            <a:r>
              <a:rPr sz="1500" b="1" i="0">
                <a:solidFill>
                  <a:srgbClr val="D9752B"/>
                </a:solidFill>
                <a:latin typeface="Calibri"/>
                <a:ea typeface="微軟正黑體"/>
              </a:rPr>
              <a:t>▸ </a:t>
            </a:r>
            <a:r>
              <a:rPr sz="1500" b="0" i="0">
                <a:solidFill>
                  <a:srgbClr val="22303C"/>
                </a:solidFill>
                <a:latin typeface="Calibri"/>
                <a:ea typeface="微軟正黑體"/>
              </a:rPr>
              <a:t>實驗範圍聚焦英文維基百科，以便與 HotpotQA、2WikiMultiHopQA、MuSiQue 公平比較——
作者強調這反映的是資源限制，而非架構限制：只需替換語料與多語言嵌入模型</a:t>
            </a:r>
          </a:p>
          <a:p>
            <a:pPr algn="l">
              <a:lnSpc>
                <a:spcPct val="122000"/>
              </a:lnSpc>
              <a:spcAft>
                <a:spcPts val="1400"/>
              </a:spcAft>
            </a:pPr>
            <a:r>
              <a:rPr sz="1500" b="1" i="0">
                <a:solidFill>
                  <a:srgbClr val="D9752B"/>
                </a:solidFill>
                <a:latin typeface="Calibri"/>
                <a:ea typeface="微軟正黑體"/>
              </a:rPr>
              <a:t>▸ </a:t>
            </a:r>
            <a:r>
              <a:rPr sz="1500" b="0" i="0">
                <a:solidFill>
                  <a:srgbClr val="22303C"/>
                </a:solidFill>
                <a:latin typeface="Calibri"/>
                <a:ea typeface="微軟正黑體"/>
              </a:rPr>
              <a:t>可擴展性：Bridge 合成流程可遞迴串接（本次目標文件變成下一輪來源文件），論文示範了
一個橫跨三份文件的 3-hop 問題（Didier Lockwood → Stéphane Grappelli → La Grosse Pomme 爵士俱樂部）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166360"/>
            <a:ext cx="54864" cy="566928"/>
          </a:xfrm>
          <a:prstGeom prst="rect">
            <a:avLst/>
          </a:prstGeom>
          <a:solidFill>
            <a:srgbClr val="D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5148072"/>
            <a:ext cx="11021263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B3A5C"/>
                </a:solidFill>
                <a:latin typeface="Calibri"/>
                <a:ea typeface="微軟正黑體"/>
              </a:rPr>
              <a:t>HopWeaver 證明了「不靠人工介入」的跨文件多跳問題合成是可行的，</a:t>
            </a:r>
          </a:p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B3A5C"/>
                </a:solidFill>
                <a:latin typeface="Calibri"/>
                <a:ea typeface="微軟正黑體"/>
              </a:rPr>
              <a:t>合成出的資料集也真實暴露了先進 RAG 系統在特定推理模式之外的弱點。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  <a:ea typeface="微軟正黑體"/>
              </a:rPr>
              <a:t>Source: Limitations &amp; §C.4, §6 Conclusion, Shen et al., 2026 (ACL 2026 / aclanthology.org/2026.acl-long.1295)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