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一句話主張先講結果：照片上傳當下就被看懂。三張卡對應題目三個環節，下方深色帶是貫穿三環節的車況接力；最後一列是試點目標，細節在 P13。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【講稿】取還車照片若不可用（太暗、沒拍到車牌、角度錯、模糊），後續車況比對與責任判定都會受影響。我們把品質把關前移到「拍照當下」：App 依必拍清單逐張引導，端側輕量模型即時檢核，不合格立即提示重拍，合格才進入環節二的車況比對。 【技術路線】端側：曝光與清晰度規則＋輕量偵測（車牌、車體部位），低延遲、離線可用；疑義照片再送雲端 VLM 複核。 【待確認】R1、R2 規則內容；必拍清單張數與角度；與環節二的資料介面；成效指標的基線數字（需 iRent 提供）。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【講稿】「只對這次」是這一環的關鍵：以取車照片為基準，還車用同視角比對，取車時已存在的傷痕不計入這位用戶，避免誤報與無謂的責任爭議。車內整潔也一樣，以取車等級為基準，等級下降才預警。 【技術路線】影像對位（特徵匹配）＋差異偵測找出新增車損；整潔分級可用 VLM 對照三級範例判斷，低信心案件交人工複核。 【待確認】R3、R4 規則內容；三級的判定門檻；整潔範例需換成 iRent 實拍照片。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講稿】預警只有在變成行動時才有價值。環節二產生的預警工單，會依嚴重度排序顯示在後台，營運人員一眼看到先處理哪一台；同時車輛即時下架，已預約的下一位用戶自動改派，整備完成並通過複拍檢核才恢復出租。 【設計假設】嚴重度分級與暫停出租門檻依規則 R5、R6 決定；儀表板為示意資料，車牌為虛構。 【待確認】R5、R6 規則內容；改派與通知流程是否可與 iRent 現有系統串接；成效指標的基線數字需 iRent 提供。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P8 系統架構：四層由左至右對應題目三環節。實線框為 demo 已驗證（Gemini 整潔判讀），虛線框為目標架構。核心是取還車變化比對：取車基準為上一位用戶的還車照加本次用戶簽名前上傳的異常照，只對本次租用新增的損傷預警；任何收費都必須經人工確認對照證據。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P9 模型選型：每一層的方法、選用理由與論文原始名稱，編號對應 P15 與 Plan.md #1–#12。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P10 MVP：三環節原型畫面。環節一即時防呆、環節二整潔判讀與取還車比對以 Gemini 做可操作 demo，環節三營運工單為 mockup。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P11 差異化：與三種現行或業界做法比較。關鍵在取車基準比對可歸責，且 AI 不單獨收費。國外案例依議程 D7 不點名，來源列於 P15。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P12 車況接力：四步流程、防弊與難以複製的優勢（D6a–D6c、D11、D23）。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P13 KPI：五項指標的定義、試點目標與量測方式（議程 D3、D13）。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P14 導入：三階段時程、資源需求與風險對策（議程 D12、D24）。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P15 補充資料：14 篇參考文獻、其他資料來源與原型連結（議程 D14）。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附錄：逐項對照題目要求與提案設計，確保主題連結度。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731520" y="1417320"/>
            <a:ext cx="60350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sz="4400" lang="zh-TW" altLang="en-US">
                <a:solidFill>
                  <a:srgbClr val="FFFFFF"/>
                </a:solidFill>
                <a:ea typeface="Microsoft JhengHei"/>
              </a:rPr>
              <a:t>iRent 車況接力 AI</a:t>
            </a:r>
          </a:p>
        </p:txBody>
      </p:sp>
      <p:sp>
        <p:nvSpPr>
          <p:cNvPr id="85" name="Google Shape;85;p1"/>
          <p:cNvSpPr txBox="1"/>
          <p:nvPr/>
        </p:nvSpPr>
        <p:spPr>
          <a:xfrm>
            <a:off x="731520" y="2743200"/>
            <a:ext cx="53949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i="0" sz="1400" u="none" cap="none" strike="noStrike" lang="zh-TW" altLang="en-US">
                <a:solidFill>
                  <a:srgbClr val="FFFFFF"/>
                </a:solidFill>
                <a:ea typeface="Microsoft JhengHei"/>
                <a:sym typeface="Arial"/>
              </a:rPr>
              <a:t>運用 AI 打造 iRent 智能車況管家：優化租還車體驗與營運效率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i="0" sz="2000" u="none" cap="none" strike="noStrike" lang="zh-TW" altLang="en-US">
                <a:solidFill>
                  <a:srgbClr val="F76A65"/>
                </a:solidFill>
                <a:ea typeface="Microsoft JhengHei"/>
                <a:sym typeface="Arial"/>
              </a:rPr>
              <a:t>你拍的每一張，都是下一位的安心</a:t>
            </a: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0" i="0" sz="1200" u="none" cap="none" strike="noStrike" lang="zh-TW" altLang="en-US">
                <a:solidFill>
                  <a:srgbClr val="9E9E9E"/>
                </a:solidFill>
                <a:ea typeface="Microsoft JhengHei"/>
                <a:sym typeface="Arial"/>
              </a:rPr>
              <a:t>團隊：優還｜2026 和泰 AI 黑客松 初賽提案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77240" y="1261872"/>
            <a:ext cx="822960" cy="64008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altLang="en-US">
                <a:solidFill>
                  <a:srgbClr val="D0D0D0"/>
                </a:solidFill>
                <a:ea typeface="Microsoft JhengHei"/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  <a:ea typeface="Microsoft JhengHe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>
                <a:solidFill>
                  <a:srgbClr val="D0D0D0"/>
                </a:solidFill>
                <a:ea typeface="Microsoft JhengHei"/>
              </a:rPr>
              <a:t>※ 本頁</a:t>
            </a:r>
            <a:r>
              <a:rPr b="1" lang="zh-TW" altLang="en-US">
                <a:solidFill>
                  <a:srgbClr val="D0D0D0"/>
                </a:solidFill>
                <a:ea typeface="Microsoft JhengHei"/>
              </a:rPr>
              <a:t>不計入提案簡報 15 頁限制</a:t>
            </a:r>
            <a:r>
              <a:rPr lang="zh-TW" altLang="en-US">
                <a:solidFill>
                  <a:srgbClr val="D0D0D0"/>
                </a:solidFill>
                <a:ea typeface="Microsoft JhengHei"/>
              </a:rPr>
              <a:t>，</a:t>
            </a:r>
            <a:r>
              <a:rPr b="1" lang="zh-TW" altLang="en-US">
                <a:solidFill>
                  <a:srgbClr val="D0D0D0"/>
                </a:solidFill>
                <a:ea typeface="Microsoft JhengHei"/>
              </a:rPr>
              <a:t>所有欄位皆為必填</a:t>
            </a:r>
            <a:r>
              <a:rPr lang="zh-TW" altLang="en-US">
                <a:solidFill>
                  <a:srgbClr val="D0D0D0"/>
                </a:solidFill>
                <a:ea typeface="Microsoft JhengHei"/>
              </a:rPr>
              <a:t>。表格樣式可自行美化，但</a:t>
            </a:r>
            <a:r>
              <a:rPr b="1" lang="zh-TW" altLang="en-US">
                <a:solidFill>
                  <a:srgbClr val="D0D0D0"/>
                </a:solidFill>
                <a:ea typeface="Microsoft JhengHei"/>
              </a:rPr>
              <a:t>欄位名稱與順序請保持一致</a:t>
            </a:r>
            <a:r>
              <a:rPr lang="zh-TW" altLang="en-US">
                <a:solidFill>
                  <a:srgbClr val="D0D0D0"/>
                </a:solidFill>
                <a:ea typeface="Microsoft JhengHei"/>
              </a:rPr>
              <a:t>。</a:t>
            </a:r>
            <a:endParaRPr>
              <a:solidFill>
                <a:schemeClr val="dk1"/>
              </a:solidFill>
              <a:ea typeface="Microsoft JhengHei"/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sz="3600" lang="zh-TW" altLang="en-US">
                <a:solidFill>
                  <a:srgbClr val="FFFFFF"/>
                </a:solidFill>
                <a:ea typeface="Microsoft JhengHei"/>
              </a:rPr>
              <a:t>提案</a:t>
            </a:r>
            <a:r>
              <a:rPr b="1" sz="3600" lang="zh-TW" altLang="en-US">
                <a:solidFill>
                  <a:srgbClr val="FFFFFF"/>
                </a:solidFill>
                <a:ea typeface="Microsoft JhengHei"/>
              </a:rPr>
              <a:t>摘要</a:t>
            </a:r>
            <a:endParaRPr sz="3600">
              <a:ea typeface="Microsoft JhengHei"/>
            </a:endParaRPr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2432304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4747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ea typeface="Microsoft JhengHei"/>
                        </a:rPr>
                        <a:t>團隊名稱</a:t>
                      </a:r>
                      <a:endParaRPr sz="1800">
                        <a:ea typeface="Microsoft JhengHei"/>
                      </a:endParaRPr>
                    </a:p>
                  </a:txBody>
                  <a:tcPr marT="45720" marB="4572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solidFill>
                            <a:srgbClr val="888888"/>
                          </a:solidFill>
                          <a:ea typeface="Microsoft JhengHei"/>
                        </a:rPr>
                        <a:t>優還</a:t>
                      </a:r>
                    </a:p>
                  </a:txBody>
                  <a:tcPr marT="45720" marB="4572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ea typeface="Microsoft JhengHei"/>
                        </a:rPr>
                        <a:t>產品/服務名稱</a:t>
                      </a:r>
                      <a:endParaRPr sz="1800">
                        <a:ea typeface="Microsoft JhengHei"/>
                      </a:endParaRPr>
                    </a:p>
                  </a:txBody>
                  <a:tcPr marT="45720" marB="4572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solidFill>
                            <a:srgbClr val="888888"/>
                          </a:solidFill>
                          <a:ea typeface="Microsoft JhengHei"/>
                        </a:rPr>
                        <a:t>iRent 車況接力 AI</a:t>
                      </a:r>
                    </a:p>
                  </a:txBody>
                  <a:tcPr marT="45720" marB="4572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ea typeface="Microsoft JhengHei"/>
                        </a:rPr>
                        <a:t>企業挑戰題目</a:t>
                      </a:r>
                      <a:endParaRPr sz="1800">
                        <a:ea typeface="Microsoft JhengHei"/>
                      </a:endParaRPr>
                    </a:p>
                  </a:txBody>
                  <a:tcPr marT="45720" marB="4572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solidFill>
                            <a:srgbClr val="888888"/>
                          </a:solidFill>
                          <a:ea typeface="Microsoft JhengHei"/>
                        </a:rPr>
                        <a:t>運用 AI 打造 iRent 智能車況管家：優化租還車體驗與營運效率</a:t>
                      </a:r>
                    </a:p>
                  </a:txBody>
                  <a:tcPr marT="45720" marB="4572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ea typeface="Microsoft JhengHei"/>
                        </a:rPr>
                        <a:t>目標對象</a:t>
                      </a:r>
                      <a:endParaRPr sz="1800">
                        <a:ea typeface="Microsoft JhengHei"/>
                      </a:endParaRPr>
                    </a:p>
                  </a:txBody>
                  <a:tcPr marT="45720" marB="4572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solidFill>
                            <a:srgbClr val="888888"/>
                          </a:solidFill>
                          <a:ea typeface="Microsoft JhengHei"/>
                        </a:rPr>
                        <a:t>iRent 後台車況審核與整備人員，以及每一位取還車的租車用戶</a:t>
                      </a:r>
                    </a:p>
                  </a:txBody>
                  <a:tcPr marT="45720" marB="4572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ea typeface="Microsoft JhengHei"/>
                        </a:rPr>
                        <a:t>解決方案設計重點</a:t>
                      </a:r>
                      <a:endParaRPr sz="1800">
                        <a:ea typeface="Microsoft JhengHe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ea typeface="Microsoft JhengHei"/>
                        </a:rPr>
                        <a:t>(至多3項)</a:t>
                      </a:r>
                      <a:endParaRPr sz="1800">
                        <a:ea typeface="Microsoft JhengHei"/>
                      </a:endParaRPr>
                    </a:p>
                  </a:txBody>
                  <a:tcPr marT="45720" marB="4572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lang="zh-TW" altLang="en-US">
                          <a:solidFill>
                            <a:srgbClr val="888888"/>
                          </a:solidFill>
                          <a:ea typeface="Microsoft JhengHei"/>
                        </a:rPr>
                        <a:t>1. 拍照當下 AI 即時防呆，不合格立即引導重拍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lang="zh-TW" altLang="en-US">
                          <a:solidFill>
                            <a:srgbClr val="888888"/>
                          </a:solidFill>
                          <a:ea typeface="Microsoft JhengHei"/>
                        </a:rPr>
                        <a:t>2. 取還車照片比對，只對本次租用的新車損與髒汙預警</a:t>
                      </a: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lang="zh-TW" altLang="en-US">
                          <a:solidFill>
                            <a:srgbClr val="888888"/>
                          </a:solidFill>
                          <a:ea typeface="Microsoft JhengHei"/>
                        </a:rPr>
                        <a:t>3. 預警自動派工，並以車況接力機制保護下一位用戶</a:t>
                      </a:r>
                    </a:p>
                  </a:txBody>
                  <a:tcPr marT="45720" marB="4572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ea typeface="Microsoft JhengHei"/>
                        </a:rPr>
                        <a:t>運用到的AI技術、</a:t>
                      </a:r>
                      <a:endParaRPr sz="1800">
                        <a:ea typeface="Microsoft JhengHei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ea typeface="Microsoft JhengHei"/>
                        </a:rPr>
                        <a:t>服務或模型等資源</a:t>
                      </a:r>
                      <a:endParaRPr sz="1800">
                        <a:ea typeface="Microsoft JhengHei"/>
                      </a:endParaRPr>
                    </a:p>
                  </a:txBody>
                  <a:tcPr marT="45720" marB="4572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solidFill>
                            <a:srgbClr val="888888"/>
                          </a:solidFill>
                          <a:ea typeface="Microsoft JhengHei"/>
                        </a:rPr>
                        <a:t>Gemini（視覺語言判讀與車況報告）、車損分割模型（CarDD 預訓練）、取還車變化偵測、手機端影像品質模型</a:t>
                      </a:r>
                    </a:p>
                  </a:txBody>
                  <a:tcPr marT="45720" marB="4572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ea typeface="Microsoft JhengHei"/>
                        </a:rPr>
                        <a:t>預期效益簡述</a:t>
                      </a:r>
                      <a:endParaRPr sz="1800">
                        <a:ea typeface="Microsoft JhengHei"/>
                      </a:endParaRPr>
                    </a:p>
                  </a:txBody>
                  <a:tcPr marT="45720" marB="4572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lang="zh-TW" altLang="en-US">
                          <a:solidFill>
                            <a:srgbClr val="888888"/>
                          </a:solidFill>
                          <a:ea typeface="Microsoft JhengHei"/>
                        </a:rPr>
                        <a:t>人工審照片工時減少 60–80%；異常預警縮短至還車後 5 分鐘內；髒車客訴與車損爭議各減少 50%（目標值）</a:t>
                      </a:r>
                    </a:p>
                  </a:txBody>
                  <a:tcPr marT="45720" marB="45720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3" name="TextBox 92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提案摘要（不計入 15 頁）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1. 提案概述｜讓每一張取還車照片都被 AI 即時看懂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280160"/>
            <a:ext cx="11338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lang="zh-TW" altLang="en-US">
                <a:solidFill>
                  <a:srgbClr val="E60012"/>
                </a:solidFill>
                <a:ea typeface="Microsoft JhengHei"/>
              </a:rPr>
              <a:t>產品｜iRent 車況接力 AI　　團隊｜優還　　標語｜你拍的每一張，都是下一位的安心</a:t>
            </a:r>
          </a:p>
          <a:p>
            <a:pPr algn="l">
              <a:spcAft>
                <a:spcPts val="600"/>
              </a:spcAft>
            </a:pPr>
            <a:r>
              <a:rPr sz="1550" b="1" lang="zh-TW" altLang="en-US">
                <a:solidFill>
                  <a:srgbClr val="212121"/>
                </a:solidFill>
                <a:ea typeface="Microsoft JhengHei"/>
              </a:rPr>
              <a:t>讓每一張取還車照片在上傳當下就被 AI 看懂：不合格立即重拍，只對「這次」新增的車損與髒汙預警，並直接轉成整備工單。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331720"/>
            <a:ext cx="352958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331720"/>
            <a:ext cx="3529584" cy="64008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532888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lang="zh-TW" altLang="en-US">
                <a:solidFill>
                  <a:srgbClr val="E60012"/>
                </a:solidFill>
                <a:ea typeface="Microsoft JhengHei"/>
              </a:rPr>
              <a:t>環節一</a:t>
            </a:r>
          </a:p>
          <a:p>
            <a:pPr algn="l">
              <a:spcAft>
                <a:spcPts val="200"/>
              </a:spcAft>
            </a:pPr>
            <a:r>
              <a:rPr sz="1500" b="1" lang="zh-TW" altLang="en-US">
                <a:solidFill>
                  <a:srgbClr val="212121"/>
                </a:solidFill>
                <a:ea typeface="Microsoft JhengHei"/>
              </a:rPr>
              <a:t>拍照即時防呆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3118103"/>
            <a:ext cx="31272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lang="zh-TW" altLang="en-US">
                <a:solidFill>
                  <a:srgbClr val="616161"/>
                </a:solidFill>
                <a:ea typeface="Microsoft JhengHei"/>
              </a:rPr>
              <a:t>手機端當下檢查模糊、太暗、角度、車牌、距離與畫面過髒，不合格立即提示重拍。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3813048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lang="zh-TW" altLang="en-US">
                <a:solidFill>
                  <a:srgbClr val="212121"/>
                </a:solidFill>
                <a:ea typeface="Microsoft JhengHei"/>
              </a:rPr>
              <a:t>受益｜用戶一次拍對；後台不再收到不能用的照片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41063" y="3063239"/>
            <a:ext cx="374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E60012"/>
                </a:solidFill>
                <a:ea typeface="Microsoft Jheng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331720"/>
            <a:ext cx="352958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2331720"/>
            <a:ext cx="3529584" cy="64008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2532888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lang="zh-TW" altLang="en-US">
                <a:solidFill>
                  <a:srgbClr val="E60012"/>
                </a:solidFill>
                <a:ea typeface="Microsoft JhengHei"/>
              </a:rPr>
              <a:t>環節二</a:t>
            </a:r>
          </a:p>
          <a:p>
            <a:pPr algn="l">
              <a:spcAft>
                <a:spcPts val="200"/>
              </a:spcAft>
            </a:pPr>
            <a:r>
              <a:rPr sz="1500" b="1" lang="zh-TW" altLang="en-US">
                <a:solidFill>
                  <a:srgbClr val="212121"/>
                </a:solidFill>
                <a:ea typeface="Microsoft JhengHei"/>
              </a:rPr>
              <a:t>還車 AI 辨識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3118103"/>
            <a:ext cx="31272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lang="zh-TW" altLang="en-US">
                <a:solidFill>
                  <a:srgbClr val="616161"/>
                </a:solidFill>
                <a:ea typeface="Microsoft JhengHei"/>
              </a:rPr>
              <a:t>以取車基準比對同視角照片，只標出本次新車損；車內由 Gemini 先列證據，再以規則分乾淨、普通、髒汙。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3813048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lang="zh-TW" altLang="en-US">
                <a:solidFill>
                  <a:srgbClr val="212121"/>
                </a:solidFill>
                <a:ea typeface="Microsoft JhengHei"/>
              </a:rPr>
              <a:t>受益｜審核人員只看被標出的少數異常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3063239"/>
            <a:ext cx="374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E60012"/>
                </a:solidFill>
                <a:ea typeface="Microsoft Jheng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0455" y="2331720"/>
            <a:ext cx="352958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0455" y="2331720"/>
            <a:ext cx="3529584" cy="64008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4" y="2532888"/>
            <a:ext cx="31272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lang="zh-TW" altLang="en-US">
                <a:solidFill>
                  <a:srgbClr val="E60012"/>
                </a:solidFill>
                <a:ea typeface="Microsoft JhengHei"/>
              </a:rPr>
              <a:t>環節三</a:t>
            </a:r>
          </a:p>
          <a:p>
            <a:pPr algn="l">
              <a:spcAft>
                <a:spcPts val="200"/>
              </a:spcAft>
            </a:pPr>
            <a:r>
              <a:rPr sz="1500" b="1" lang="zh-TW" altLang="en-US">
                <a:solidFill>
                  <a:srgbClr val="212121"/>
                </a:solidFill>
                <a:ea typeface="Microsoft JhengHei"/>
              </a:rPr>
              <a:t>預警即派工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3118103"/>
            <a:ext cx="312724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lang="zh-TW" altLang="en-US">
                <a:solidFill>
                  <a:srgbClr val="616161"/>
                </a:solidFill>
                <a:ea typeface="Microsoft JhengHei"/>
              </a:rPr>
              <a:t>新車損或髒汙即時通知後台、客服與外勤並建立工單，依下一筆預約排優先序；AI 不單獨收費，由人確認。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3813048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lang="zh-TW" altLang="en-US">
                <a:solidFill>
                  <a:srgbClr val="212121"/>
                </a:solidFill>
                <a:ea typeface="Microsoft JhengHei"/>
              </a:rPr>
              <a:t>受益｜下一位用戶不會接到髒車或別人的車損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389120"/>
            <a:ext cx="11365992" cy="868680"/>
          </a:xfrm>
          <a:prstGeom prst="roundRect">
            <a:avLst>
              <a:gd name="adj" fmla="val 8000"/>
            </a:avLst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1737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lang="zh-TW" altLang="en-US">
                <a:solidFill>
                  <a:srgbClr val="FFFFFF"/>
                </a:solidFill>
                <a:ea typeface="Microsoft JhengHei"/>
              </a:rPr>
              <a:t>車況接力</a:t>
            </a:r>
          </a:p>
          <a:p>
            <a:pPr algn="l">
              <a:spcAft>
                <a:spcPts val="200"/>
              </a:spcAft>
            </a:pPr>
            <a:r>
              <a:rPr sz="950" b="0" lang="zh-TW" altLang="en-US">
                <a:solidFill>
                  <a:srgbClr val="F76A65"/>
                </a:solidFill>
                <a:ea typeface="Microsoft JhengHei"/>
              </a:rPr>
              <a:t>貫穿三環節的服務設計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4600" y="4544568"/>
            <a:ext cx="2057400" cy="557783"/>
          </a:xfrm>
          <a:prstGeom prst="roundRect">
            <a:avLst>
              <a:gd name="adj" fmla="val 8000"/>
            </a:avLst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24328" y="4544568"/>
            <a:ext cx="1837943" cy="5577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lang="zh-TW" altLang="en-US">
                <a:solidFill>
                  <a:srgbClr val="FFFFFF"/>
                </a:solidFill>
                <a:ea typeface="Microsoft JhengHei"/>
              </a:rPr>
              <a:t>用戶 A 的還車照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617720"/>
            <a:ext cx="2468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76A65"/>
                </a:solidFill>
                <a:ea typeface="Microsoft JhengHe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18888" y="4544568"/>
            <a:ext cx="2057400" cy="557783"/>
          </a:xfrm>
          <a:prstGeom prst="roundRect">
            <a:avLst>
              <a:gd name="adj" fmla="val 8000"/>
            </a:avLst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28616" y="4544568"/>
            <a:ext cx="1837943" cy="5577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lang="zh-TW" altLang="en-US">
                <a:solidFill>
                  <a:srgbClr val="FFFFFF"/>
                </a:solidFill>
                <a:ea typeface="Microsoft JhengHei"/>
              </a:rPr>
              <a:t>成為用戶 B 的取車基準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4617720"/>
            <a:ext cx="2468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76A65"/>
                </a:solidFill>
                <a:ea typeface="Microsoft JhengHe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23176" y="4544568"/>
            <a:ext cx="2057400" cy="557783"/>
          </a:xfrm>
          <a:prstGeom prst="roundRect">
            <a:avLst>
              <a:gd name="adj" fmla="val 8000"/>
            </a:avLst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32904" y="4544568"/>
            <a:ext cx="1837943" cy="5577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lang="zh-TW" altLang="en-US">
                <a:solidFill>
                  <a:srgbClr val="FFFFFF"/>
                </a:solidFill>
                <a:ea typeface="Microsoft JhengHei"/>
              </a:rPr>
              <a:t>B 簽名前回報差異</a:t>
            </a:r>
          </a:p>
          <a:p>
            <a:pPr algn="ctr">
              <a:spcAft>
                <a:spcPts val="0"/>
              </a:spcAft>
            </a:pPr>
            <a:r>
              <a:rPr sz="1050" b="1" lang="zh-TW" altLang="en-US">
                <a:solidFill>
                  <a:srgbClr val="FFFFFF"/>
                </a:solidFill>
                <a:ea typeface="Microsoft JhengHei"/>
              </a:rPr>
              <a:t>屬實獲和泰 Points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4617720"/>
            <a:ext cx="2468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76A65"/>
                </a:solidFill>
                <a:ea typeface="Microsoft JhengHei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27464" y="4544568"/>
            <a:ext cx="2057400" cy="557783"/>
          </a:xfrm>
          <a:prstGeom prst="roundRect">
            <a:avLst>
              <a:gd name="adj" fmla="val 8000"/>
            </a:avLst>
          </a:prstGeom>
          <a:solidFill>
            <a:srgbClr val="424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37192" y="4544568"/>
            <a:ext cx="1837943" cy="5577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lang="zh-TW" altLang="en-US">
                <a:solidFill>
                  <a:srgbClr val="FFFFFF"/>
                </a:solidFill>
                <a:ea typeface="Microsoft JhengHei"/>
              </a:rPr>
              <a:t>車況紀錄連動整備與派車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5440680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lang="zh-TW" altLang="en-US">
                <a:solidFill>
                  <a:srgbClr val="212121"/>
                </a:solidFill>
                <a:ea typeface="Microsoft JhengHei"/>
              </a:rPr>
              <a:t>試點目標</a:t>
            </a:r>
          </a:p>
          <a:p>
            <a:pPr algn="l">
              <a:spcAft>
                <a:spcPts val="200"/>
              </a:spcAft>
            </a:pPr>
            <a:r>
              <a:rPr sz="900" b="0" lang="zh-TW" altLang="en-US">
                <a:solidFill>
                  <a:srgbClr val="9E9E9E"/>
                </a:solidFill>
                <a:ea typeface="Microsoft JhengHei"/>
              </a:rPr>
              <a:t>團隊推估，詳見 P13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94560" y="5440680"/>
            <a:ext cx="3081528" cy="56692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77440" y="5440680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60012"/>
                </a:solidFill>
                <a:ea typeface="Microsoft JhengHei"/>
              </a:rPr>
              <a:t>↓ 60–80%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5440680"/>
            <a:ext cx="15270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人工審照片工時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22392" y="5440680"/>
            <a:ext cx="3081528" cy="56692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05272" y="5440680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lang="zh-TW" altLang="en-US">
                <a:solidFill>
                  <a:srgbClr val="E60012"/>
                </a:solidFill>
                <a:ea typeface="Microsoft JhengHei"/>
              </a:rPr>
              <a:t>≤ 5 分鐘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5440680"/>
            <a:ext cx="15270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還車到異常預警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50224" y="5440680"/>
            <a:ext cx="3081528" cy="566928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33104" y="5440680"/>
            <a:ext cx="12344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60012"/>
                </a:solidFill>
                <a:ea typeface="Microsoft JhengHei"/>
              </a:rPr>
              <a:t>↓ 50%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67544" y="5440680"/>
            <a:ext cx="15270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髒車客訴與車損爭議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1. 提案概述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P1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2. 目標對象與痛點｜為什麼需要智能車況管家：三個痛點</a:t>
            </a:r>
          </a:p>
        </p:txBody>
      </p:sp>
      <p:sp>
        <p:nvSpPr>
          <p:cNvPr id="6" name="Shape 3"/>
          <p:cNvSpPr/>
          <p:nvPr/>
        </p:nvSpPr>
        <p:spPr>
          <a:xfrm>
            <a:off x="815975" y="1582995"/>
            <a:ext cx="3397250" cy="4347270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047750" y="181477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ea typeface="Microsoft JhengHei"/>
              </a:rPr>
              <a:t>1</a:t>
            </a:r>
            <a:endParaRPr lang="en-US" sz="1600" dirty="0">
              <a:ea typeface="Microsoft JhengHei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47750" y="2310070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sz="1800" b="1" dirty="0" lang="zh-TW" altLang="en-US">
                <a:solidFill>
                  <a:srgbClr val="212121"/>
                </a:solidFill>
                <a:ea typeface="Microsoft JhengHei"/>
              </a:rPr>
              <a:t>人工檢查太慢</a:t>
            </a:r>
            <a:endParaRPr lang="en-US" sz="1800" dirty="0">
              <a:ea typeface="Microsoft JhengHei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47750" y="2673211"/>
            <a:ext cx="3021711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sz="1400" dirty="0" lang="zh-TW" altLang="en-US">
                <a:solidFill>
                  <a:srgbClr val="424242"/>
                </a:solidFill>
                <a:ea typeface="Microsoft JhengHei"/>
              </a:rPr>
              <a:t>取還車照片要靠人逐張檢視比對，人力耗時，車輛回到可出租狀態的等待也跟著拉長。</a:t>
            </a:r>
            <a:endParaRPr lang="en-US" sz="1400" dirty="0">
              <a:ea typeface="Microsoft JhengHei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397375" y="1582995"/>
            <a:ext cx="3397250" cy="4347270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629150" y="181477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ea typeface="Microsoft JhengHei"/>
              </a:rPr>
              <a:t>2</a:t>
            </a:r>
            <a:endParaRPr lang="en-US" sz="1600" dirty="0">
              <a:ea typeface="Microsoft JhengHe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629150" y="2310070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sz="1800" b="1" dirty="0" lang="zh-TW" altLang="en-US">
                <a:solidFill>
                  <a:srgbClr val="212121"/>
                </a:solidFill>
                <a:ea typeface="Microsoft JhengHei"/>
              </a:rPr>
              <a:t>回報不夠即時</a:t>
            </a:r>
            <a:endParaRPr lang="en-US" sz="1800" dirty="0">
              <a:ea typeface="Microsoft JhengHei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629150" y="2673211"/>
            <a:ext cx="3021711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sz="1400" dirty="0" lang="zh-TW" altLang="en-US">
                <a:solidFill>
                  <a:srgbClr val="424242"/>
                </a:solidFill>
                <a:ea typeface="Microsoft JhengHei"/>
              </a:rPr>
              <a:t>車損與髒汙往往事後才被發現，客服與整備端無法第一時間掌握車況，後續排程只能被動應對。</a:t>
            </a:r>
            <a:endParaRPr lang="en-US" sz="1400" dirty="0">
              <a:ea typeface="Microsoft JhengHei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978775" y="1582995"/>
            <a:ext cx="3397250" cy="4347270"/>
          </a:xfrm>
          <a:prstGeom prst="roundRect">
            <a:avLst>
              <a:gd name="adj" fmla="val 215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210550" y="181477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ea typeface="Microsoft JhengHei"/>
              </a:rPr>
              <a:t>3</a:t>
            </a:r>
            <a:endParaRPr lang="en-US" sz="1600" dirty="0">
              <a:ea typeface="Microsoft JhengHei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210550" y="2310070"/>
            <a:ext cx="302171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sz="1800" b="1" dirty="0" lang="zh-TW" altLang="en-US">
                <a:solidFill>
                  <a:srgbClr val="212121"/>
                </a:solidFill>
                <a:ea typeface="Microsoft JhengHei"/>
              </a:rPr>
              <a:t>責任難以釐清</a:t>
            </a:r>
            <a:endParaRPr lang="en-US" sz="1800" dirty="0">
              <a:ea typeface="Microsoft JhengHei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210550" y="2673211"/>
            <a:ext cx="3021711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sz="1400" dirty="0" lang="zh-TW" altLang="en-US">
                <a:solidFill>
                  <a:srgbClr val="424242"/>
                </a:solidFill>
                <a:ea typeface="Microsoft JhengHei"/>
              </a:rPr>
              <a:t>事後才發現車損時，使用者已離開，缺乏客觀的前後對照，難以判斷是否為本次租用造成。</a:t>
            </a:r>
            <a:endParaRPr lang="en-US" sz="1400" dirty="0">
              <a:ea typeface="Microsoft Jheng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2. 目標對象與痛點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P2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2. 目標對象與痛點｜痛點如何被解決</a:t>
            </a:r>
          </a:p>
        </p:txBody>
      </p:sp>
      <p:sp>
        <p:nvSpPr>
          <p:cNvPr id="6" name="Shape 3"/>
          <p:cNvSpPr/>
          <p:nvPr/>
        </p:nvSpPr>
        <p:spPr>
          <a:xfrm>
            <a:off x="815975" y="1532195"/>
            <a:ext cx="28511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996950" y="1944350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sz="1200" b="1" dirty="0" lang="zh-TW" altLang="en-US">
                <a:solidFill>
                  <a:srgbClr val="E60012"/>
                </a:solidFill>
                <a:ea typeface="Microsoft JhengHei"/>
              </a:rPr>
              <a:t>痛點 1</a:t>
            </a:r>
            <a:endParaRPr lang="en-US" sz="1200" dirty="0">
              <a:ea typeface="Microsoft JhengHei"/>
            </a:endParaRPr>
          </a:p>
        </p:txBody>
      </p:sp>
      <p:sp>
        <p:nvSpPr>
          <p:cNvPr id="8" name="Text 5"/>
          <p:cNvSpPr/>
          <p:nvPr/>
        </p:nvSpPr>
        <p:spPr>
          <a:xfrm>
            <a:off x="996950" y="2195770"/>
            <a:ext cx="25638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sz="1600" b="1" dirty="0" lang="zh-TW" altLang="en-US">
                <a:solidFill>
                  <a:srgbClr val="212121"/>
                </a:solidFill>
                <a:ea typeface="Microsoft JhengHei"/>
              </a:rPr>
              <a:t>人工檢查太慢</a:t>
            </a:r>
            <a:endParaRPr lang="en-US" sz="1600" dirty="0">
              <a:ea typeface="Microsoft JhengHei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80460" y="201668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ea typeface="Microsoft JhengHei"/>
              </a:rPr>
              <a:t>→</a:t>
            </a:r>
            <a:endParaRPr lang="en-US" sz="2200" dirty="0">
              <a:ea typeface="Microsoft JhengHei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029075" y="1532195"/>
            <a:ext cx="53403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210050" y="1944350"/>
            <a:ext cx="51277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sz="1500" b="1" dirty="0" lang="zh-TW" altLang="en-US">
                <a:solidFill>
                  <a:srgbClr val="212121"/>
                </a:solidFill>
                <a:ea typeface="Microsoft JhengHei"/>
              </a:rPr>
              <a:t>AI 取還車比對，自動篩出異常</a:t>
            </a:r>
            <a:endParaRPr lang="en-US" sz="1500" dirty="0">
              <a:ea typeface="Microsoft JhengHe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210050" y="2249150"/>
            <a:ext cx="51277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424242"/>
                </a:solidFill>
                <a:ea typeface="Microsoft JhengHei"/>
              </a:rPr>
              <a:t>人員只處理被標出的少數異常，不必逐張檢視。</a:t>
            </a:r>
            <a:endParaRPr lang="en-US" sz="1300" dirty="0">
              <a:ea typeface="Microsoft JhengHei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382760" y="201668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ea typeface="Microsoft JhengHei"/>
              </a:rPr>
              <a:t>→</a:t>
            </a:r>
            <a:endParaRPr lang="en-US" sz="2200" dirty="0">
              <a:ea typeface="Microsoft JhengHei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728200" y="1529020"/>
            <a:ext cx="1651000" cy="1366540"/>
          </a:xfrm>
          <a:prstGeom prst="roundRect">
            <a:avLst>
              <a:gd name="adj" fmla="val 5576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9906000" y="1962110"/>
            <a:ext cx="134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sz="1200" b="1" dirty="0" lang="zh-TW" altLang="en-US">
                <a:solidFill>
                  <a:srgbClr val="F76A65"/>
                </a:solidFill>
                <a:ea typeface="Microsoft JhengHei"/>
              </a:rPr>
              <a:t>對應環節</a:t>
            </a:r>
            <a:endParaRPr lang="en-US" sz="1200" dirty="0">
              <a:ea typeface="Microsoft JhengHei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906000" y="2213531"/>
            <a:ext cx="14732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sz="1400" b="1" dirty="0" lang="zh-TW" altLang="en-US">
                <a:solidFill>
                  <a:srgbClr val="FFFFFF"/>
                </a:solidFill>
                <a:ea typeface="Microsoft JhengHei"/>
              </a:rPr>
              <a:t>環節二：AI 辨識</a:t>
            </a:r>
            <a:endParaRPr lang="en-US" sz="1400" dirty="0">
              <a:ea typeface="Microsoft JhengHei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815975" y="3051135"/>
            <a:ext cx="28511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96950" y="3463290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sz="1200" b="1" dirty="0" lang="zh-TW" altLang="en-US">
                <a:solidFill>
                  <a:srgbClr val="E60012"/>
                </a:solidFill>
                <a:ea typeface="Microsoft JhengHei"/>
              </a:rPr>
              <a:t>痛點 2</a:t>
            </a:r>
            <a:endParaRPr lang="en-US" sz="1200" dirty="0">
              <a:ea typeface="Microsoft JhengHei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96950" y="3714710"/>
            <a:ext cx="25638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sz="1600" b="1" dirty="0" lang="zh-TW" altLang="en-US">
                <a:solidFill>
                  <a:srgbClr val="212121"/>
                </a:solidFill>
                <a:ea typeface="Microsoft JhengHei"/>
              </a:rPr>
              <a:t>回報不夠即時</a:t>
            </a:r>
            <a:endParaRPr lang="en-US" sz="1600" dirty="0">
              <a:ea typeface="Microsoft JhengHei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3680460" y="353562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ea typeface="Microsoft JhengHei"/>
              </a:rPr>
              <a:t>→</a:t>
            </a:r>
            <a:endParaRPr lang="en-US" sz="2200" dirty="0">
              <a:ea typeface="Microsoft JhengHei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029075" y="3051135"/>
            <a:ext cx="53403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210050" y="3463290"/>
            <a:ext cx="51277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sz="1500" b="1" dirty="0" lang="zh-TW" altLang="en-US">
                <a:solidFill>
                  <a:srgbClr val="212121"/>
                </a:solidFill>
                <a:ea typeface="Microsoft JhengHei"/>
              </a:rPr>
              <a:t>異常即時預警，自動建立工單派工</a:t>
            </a:r>
            <a:endParaRPr lang="en-US" sz="1500" dirty="0">
              <a:ea typeface="Microsoft JhengHei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210050" y="3768090"/>
            <a:ext cx="51277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424242"/>
                </a:solidFill>
                <a:ea typeface="Microsoft JhengHei"/>
              </a:rPr>
              <a:t>客服與整備端同步看到車況與處理進度。</a:t>
            </a:r>
            <a:endParaRPr lang="en-US" sz="1300" dirty="0">
              <a:ea typeface="Microsoft JhengHei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382760" y="353562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ea typeface="Microsoft JhengHei"/>
              </a:rPr>
              <a:t>→</a:t>
            </a:r>
            <a:endParaRPr lang="en-US" sz="2200" dirty="0">
              <a:ea typeface="Microsoft JhengHei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9728200" y="3047960"/>
            <a:ext cx="1651000" cy="1366540"/>
          </a:xfrm>
          <a:prstGeom prst="roundRect">
            <a:avLst>
              <a:gd name="adj" fmla="val 5576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9906000" y="3356630"/>
            <a:ext cx="134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sz="1200" b="1" dirty="0" lang="zh-TW" altLang="en-US">
                <a:solidFill>
                  <a:srgbClr val="F76A65"/>
                </a:solidFill>
                <a:ea typeface="Microsoft JhengHei"/>
              </a:rPr>
              <a:t>對應環節</a:t>
            </a:r>
            <a:endParaRPr lang="en-US" sz="1200" dirty="0">
              <a:ea typeface="Microsoft JhengHei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9906000" y="3608050"/>
            <a:ext cx="134620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sz="1400" b="1" dirty="0" lang="zh-TW" altLang="en-US">
                <a:solidFill>
                  <a:srgbClr val="FFFFFF"/>
                </a:solidFill>
                <a:ea typeface="Microsoft JhengHei"/>
              </a:rPr>
              <a:t>環節三：預警與工單</a:t>
            </a:r>
            <a:endParaRPr lang="en-US" sz="1400" dirty="0">
              <a:ea typeface="Microsoft JhengHei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815975" y="4570075"/>
            <a:ext cx="28511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996950" y="4982230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sz="1200" b="1" dirty="0" lang="zh-TW" altLang="en-US">
                <a:solidFill>
                  <a:srgbClr val="E60012"/>
                </a:solidFill>
                <a:ea typeface="Microsoft JhengHei"/>
              </a:rPr>
              <a:t>痛點 3</a:t>
            </a:r>
            <a:endParaRPr lang="en-US" sz="1200" dirty="0">
              <a:ea typeface="Microsoft JhengHei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996950" y="5233650"/>
            <a:ext cx="256387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sz="1600" b="1" dirty="0" lang="zh-TW" altLang="en-US">
                <a:solidFill>
                  <a:srgbClr val="212121"/>
                </a:solidFill>
                <a:ea typeface="Microsoft JhengHei"/>
              </a:rPr>
              <a:t>責任難以釐清</a:t>
            </a:r>
            <a:endParaRPr lang="en-US" sz="1600" dirty="0">
              <a:ea typeface="Microsoft JhengHei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3680460" y="505456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ea typeface="Microsoft JhengHei"/>
              </a:rPr>
              <a:t>→</a:t>
            </a:r>
            <a:endParaRPr lang="en-US" sz="2200" dirty="0">
              <a:ea typeface="Microsoft JhengHei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4029075" y="4570075"/>
            <a:ext cx="5340350" cy="1360190"/>
          </a:xfrm>
          <a:prstGeom prst="roundRect">
            <a:avLst>
              <a:gd name="adj" fmla="val 536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4210050" y="4982230"/>
            <a:ext cx="51277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sz="1500" b="1" dirty="0" lang="zh-TW" altLang="en-US">
                <a:solidFill>
                  <a:srgbClr val="212121"/>
                </a:solidFill>
                <a:ea typeface="Microsoft JhengHei"/>
              </a:rPr>
              <a:t>標準化拍攝加取還車對照圖留存</a:t>
            </a:r>
            <a:endParaRPr lang="en-US" sz="1500" dirty="0">
              <a:ea typeface="Microsoft JhengHei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210050" y="5287030"/>
            <a:ext cx="512775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424242"/>
                </a:solidFill>
                <a:ea typeface="Microsoft JhengHei"/>
              </a:rPr>
              <a:t>只對本次新增的差異預警，並附對照證據，由人確認責任。</a:t>
            </a:r>
            <a:endParaRPr lang="en-US" sz="1300" dirty="0">
              <a:ea typeface="Microsoft JhengHei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9382760" y="5054560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60012"/>
                </a:solidFill>
                <a:ea typeface="Microsoft JhengHei"/>
              </a:rPr>
              <a:t>→</a:t>
            </a:r>
            <a:endParaRPr lang="en-US" sz="2200" dirty="0">
              <a:ea typeface="Microsoft JhengHei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9728200" y="4566900"/>
            <a:ext cx="1651000" cy="1366540"/>
          </a:xfrm>
          <a:prstGeom prst="roundRect">
            <a:avLst>
              <a:gd name="adj" fmla="val 5576"/>
            </a:avLst>
          </a:prstGeom>
          <a:solidFill>
            <a:srgbClr val="212121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9906000" y="4999990"/>
            <a:ext cx="1346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sz="1200" b="1" dirty="0" lang="zh-TW" altLang="en-US">
                <a:solidFill>
                  <a:srgbClr val="F76A65"/>
                </a:solidFill>
                <a:ea typeface="Microsoft JhengHei"/>
              </a:rPr>
              <a:t>對應環節</a:t>
            </a:r>
            <a:endParaRPr lang="en-US" sz="1200" dirty="0">
              <a:ea typeface="Microsoft JhengHei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9906000" y="5251410"/>
            <a:ext cx="13462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sz="1400" b="1" dirty="0" lang="zh-TW" altLang="en-US">
                <a:solidFill>
                  <a:srgbClr val="FFFFFF"/>
                </a:solidFill>
                <a:ea typeface="Microsoft JhengHei"/>
              </a:rPr>
              <a:t>環節一加環節二</a:t>
            </a:r>
            <a:endParaRPr lang="en-US" sz="1400" dirty="0">
              <a:ea typeface="Microsoft JhengHe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2. 目標對象與痛點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P3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2. 目標對象與痛點｜現況 vs. 導入後</a:t>
            </a:r>
          </a:p>
        </p:txBody>
      </p:sp>
      <p:sp>
        <p:nvSpPr>
          <p:cNvPr id="6" name="Text 3"/>
          <p:cNvSpPr/>
          <p:nvPr/>
        </p:nvSpPr>
        <p:spPr>
          <a:xfrm>
            <a:off x="812800" y="152902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sz="1400" b="1" dirty="0" lang="zh-TW" altLang="en-US">
                <a:solidFill>
                  <a:srgbClr val="E60012"/>
                </a:solidFill>
                <a:ea typeface="Microsoft JhengHei"/>
              </a:rPr>
              <a:t>現況：事後人工處理</a:t>
            </a:r>
            <a:endParaRPr lang="en-US" sz="1400" dirty="0">
              <a:ea typeface="Microsoft JhengHei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15975" y="1857236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58850" y="1987411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sz="1400" b="1" dirty="0" lang="zh-TW" altLang="en-US">
                <a:solidFill>
                  <a:srgbClr val="212121"/>
                </a:solidFill>
                <a:ea typeface="Microsoft JhengHei"/>
              </a:rPr>
              <a:t>還車</a:t>
            </a:r>
            <a:endParaRPr lang="en-US" sz="1400" dirty="0">
              <a:ea typeface="Microsoft JhengHei"/>
            </a:endParaRPr>
          </a:p>
        </p:txBody>
      </p:sp>
      <p:sp>
        <p:nvSpPr>
          <p:cNvPr id="9" name="Text 6"/>
          <p:cNvSpPr/>
          <p:nvPr/>
        </p:nvSpPr>
        <p:spPr>
          <a:xfrm>
            <a:off x="958850" y="2274352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sz="1200" dirty="0" lang="zh-TW" altLang="en-US">
                <a:solidFill>
                  <a:srgbClr val="424242"/>
                </a:solidFill>
                <a:ea typeface="Microsoft JhengHei"/>
              </a:rPr>
              <a:t>使用者自行上傳照片</a:t>
            </a:r>
            <a:endParaRPr lang="en-US" sz="1200" dirty="0">
              <a:ea typeface="Microsoft JhengHei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344366" y="2091492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ea typeface="Microsoft JhengHei"/>
              </a:rPr>
              <a:t>›</a:t>
            </a:r>
            <a:endParaRPr lang="en-US" sz="1600" dirty="0">
              <a:ea typeface="Microsoft JhengHei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508375" y="1857236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651250" y="1987411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sz="1400" b="1" dirty="0" lang="zh-TW" altLang="en-US">
                <a:solidFill>
                  <a:srgbClr val="212121"/>
                </a:solidFill>
                <a:ea typeface="Microsoft JhengHei"/>
              </a:rPr>
              <a:t>人工檢視</a:t>
            </a:r>
            <a:endParaRPr lang="en-US" sz="1400" dirty="0">
              <a:ea typeface="Microsoft JhengHei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651250" y="2274352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sz="1200" dirty="0" lang="zh-TW" altLang="en-US">
                <a:solidFill>
                  <a:srgbClr val="424242"/>
                </a:solidFill>
                <a:ea typeface="Microsoft JhengHei"/>
              </a:rPr>
              <a:t>逐張看圖比對，耗時</a:t>
            </a:r>
            <a:endParaRPr lang="en-US" sz="1200" dirty="0">
              <a:ea typeface="Microsoft JhengHei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036766" y="2091492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ea typeface="Microsoft JhengHei"/>
              </a:rPr>
              <a:t>›</a:t>
            </a:r>
            <a:endParaRPr lang="en-US" sz="1600" dirty="0">
              <a:ea typeface="Microsoft JhengHei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200775" y="1857236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343650" y="1987411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sz="1400" b="1" dirty="0" lang="zh-TW" altLang="en-US">
                <a:solidFill>
                  <a:srgbClr val="212121"/>
                </a:solidFill>
                <a:ea typeface="Microsoft JhengHei"/>
              </a:rPr>
              <a:t>事後發現</a:t>
            </a:r>
            <a:endParaRPr lang="en-US" sz="1400" dirty="0">
              <a:ea typeface="Microsoft JhengHei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343650" y="2274352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sz="1200" dirty="0" lang="zh-TW" altLang="en-US">
                <a:solidFill>
                  <a:srgbClr val="424242"/>
                </a:solidFill>
                <a:ea typeface="Microsoft JhengHei"/>
              </a:rPr>
              <a:t>使用者已離開</a:t>
            </a:r>
            <a:endParaRPr lang="en-US" sz="1200" dirty="0">
              <a:ea typeface="Microsoft JhengHei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729166" y="2091492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ea typeface="Microsoft JhengHei"/>
              </a:rPr>
              <a:t>›</a:t>
            </a:r>
            <a:endParaRPr lang="en-US" sz="1600" dirty="0">
              <a:ea typeface="Microsoft JhengHei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8893175" y="1857236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DECEC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9036050" y="1987411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sz="1400" b="1" dirty="0" lang="zh-TW" altLang="en-US">
                <a:solidFill>
                  <a:srgbClr val="E60012"/>
                </a:solidFill>
                <a:ea typeface="Microsoft JhengHei"/>
              </a:rPr>
              <a:t>責任難釐清</a:t>
            </a:r>
            <a:endParaRPr lang="en-US" sz="1400" dirty="0">
              <a:ea typeface="Microsoft JhengHei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036050" y="2274352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sz="1200" dirty="0" lang="zh-TW" altLang="en-US">
                <a:solidFill>
                  <a:srgbClr val="424242"/>
                </a:solidFill>
                <a:ea typeface="Microsoft JhengHei"/>
              </a:rPr>
              <a:t>缺少客觀對照</a:t>
            </a:r>
            <a:endParaRPr lang="en-US" sz="1200" dirty="0">
              <a:ea typeface="Microsoft JhengHei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812800" y="2791182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sz="1400" b="1" dirty="0" lang="zh-TW" altLang="en-US">
                <a:solidFill>
                  <a:srgbClr val="E60012"/>
                </a:solidFill>
                <a:ea typeface="Microsoft JhengHei"/>
              </a:rPr>
              <a:t>導入後：即時、自動、可追溯</a:t>
            </a:r>
            <a:endParaRPr lang="en-US" sz="1400" dirty="0">
              <a:ea typeface="Microsoft JhengHei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815975" y="3119398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958850" y="3249573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sz="1400" b="1" dirty="0" lang="zh-TW" altLang="en-US">
                <a:solidFill>
                  <a:srgbClr val="212121"/>
                </a:solidFill>
                <a:ea typeface="Microsoft JhengHei"/>
              </a:rPr>
              <a:t>拍照防呆</a:t>
            </a:r>
            <a:endParaRPr lang="en-US" sz="1400" dirty="0">
              <a:ea typeface="Microsoft JhengHei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958850" y="3536513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sz="1200" dirty="0" lang="zh-TW" altLang="en-US">
                <a:solidFill>
                  <a:srgbClr val="424242"/>
                </a:solidFill>
                <a:ea typeface="Microsoft JhengHei"/>
              </a:rPr>
              <a:t>不合格當下重拍</a:t>
            </a:r>
            <a:endParaRPr lang="en-US" sz="1200" dirty="0">
              <a:ea typeface="Microsoft JhengHei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3344366" y="3353653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ea typeface="Microsoft JhengHei"/>
              </a:rPr>
              <a:t>›</a:t>
            </a:r>
            <a:endParaRPr lang="en-US" sz="1600" dirty="0">
              <a:ea typeface="Microsoft JhengHei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508375" y="3119398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E60012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3651250" y="3249573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ea typeface="Microsoft JhengHei"/>
              </a:rPr>
              <a:t>AI</a:t>
            </a:r>
            <a:endParaRPr lang="en-US" sz="1400" dirty="0">
              <a:ea typeface="Microsoft JhengHei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3651250" y="3536513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sz="1200" dirty="0" lang="zh-TW" altLang="en-US">
                <a:solidFill>
                  <a:srgbClr val="FFFFFF"/>
                </a:solidFill>
                <a:ea typeface="Microsoft JhengHei"/>
              </a:rPr>
              <a:t>比對</a:t>
            </a:r>
            <a:endParaRPr lang="en-US" sz="1200" dirty="0">
              <a:ea typeface="Microsoft JhengHei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036766" y="3353653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ea typeface="Microsoft JhengHei"/>
              </a:rPr>
              <a:t>›</a:t>
            </a:r>
            <a:endParaRPr lang="en-US" sz="1600" dirty="0">
              <a:ea typeface="Microsoft JhengHei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6200775" y="3119398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6343650" y="3249573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sz="1400" b="1" dirty="0" lang="zh-TW" altLang="en-US">
                <a:solidFill>
                  <a:srgbClr val="212121"/>
                </a:solidFill>
                <a:ea typeface="Microsoft JhengHei"/>
              </a:rPr>
              <a:t>即時工單</a:t>
            </a:r>
            <a:endParaRPr lang="en-US" sz="1400" dirty="0">
              <a:ea typeface="Microsoft JhengHei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6343650" y="3536513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sz="1200" dirty="0" lang="zh-TW" altLang="en-US">
                <a:solidFill>
                  <a:srgbClr val="424242"/>
                </a:solidFill>
                <a:ea typeface="Microsoft JhengHei"/>
              </a:rPr>
              <a:t>派工並同步車況</a:t>
            </a:r>
            <a:endParaRPr lang="en-US" sz="1200" dirty="0">
              <a:ea typeface="Microsoft JhengHei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8729166" y="3353653"/>
            <a:ext cx="11846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9E9E9E"/>
                </a:solidFill>
                <a:ea typeface="Microsoft JhengHei"/>
              </a:rPr>
              <a:t>›</a:t>
            </a:r>
            <a:endParaRPr lang="en-US" sz="1600" dirty="0">
              <a:ea typeface="Microsoft JhengHei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8893175" y="3119398"/>
            <a:ext cx="2482850" cy="752971"/>
          </a:xfrm>
          <a:prstGeom prst="roundRect">
            <a:avLst>
              <a:gd name="adj" fmla="val 9698"/>
            </a:avLst>
          </a:prstGeom>
          <a:solidFill>
            <a:srgbClr val="212121"/>
          </a:solidFill>
          <a:ln w="6350">
            <a:solidFill>
              <a:srgbClr val="E0E0E0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9036050" y="3249573"/>
            <a:ext cx="226301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sz="1400" b="1" dirty="0" lang="zh-TW" altLang="en-US">
                <a:solidFill>
                  <a:srgbClr val="FFFFFF"/>
                </a:solidFill>
                <a:ea typeface="Microsoft JhengHei"/>
              </a:rPr>
              <a:t>證據留存</a:t>
            </a:r>
            <a:endParaRPr lang="en-US" sz="1400" dirty="0">
              <a:ea typeface="Microsoft JhengHei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9036050" y="3536513"/>
            <a:ext cx="226301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sz="1200" dirty="0" lang="zh-TW" altLang="en-US">
                <a:solidFill>
                  <a:srgbClr val="F5F5F5"/>
                </a:solidFill>
                <a:ea typeface="Microsoft JhengHei"/>
              </a:rPr>
              <a:t>對照圖支撐責任判定</a:t>
            </a:r>
            <a:endParaRPr lang="en-US" sz="1200" dirty="0">
              <a:ea typeface="Microsoft JhengHe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2. 目標對象與痛點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P4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3. 解決方案設計｜環節一：拍照當下就防呆</a:t>
            </a:r>
          </a:p>
        </p:txBody>
      </p:sp>
      <p:sp>
        <p:nvSpPr>
          <p:cNvPr id="4" name="Text 1"/>
          <p:cNvSpPr/>
          <p:nvPr/>
        </p:nvSpPr>
        <p:spPr>
          <a:xfrm>
            <a:off x="609534" y="1142938"/>
            <a:ext cx="11302121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sz="1500" dirty="0" lang="zh-TW" altLang="en-US">
                <a:solidFill>
                  <a:srgbClr val="616161"/>
                </a:solidFill>
                <a:ea typeface="Microsoft JhengHei"/>
              </a:rPr>
              <a:t>取還車拍照當下，AI 即時檢核照片能否用於車況比對；不合格當場提示重拍，從源頭減少事後爭議與人工補件</a:t>
            </a:r>
            <a:endParaRPr lang="en-US" sz="1500" dirty="0">
              <a:ea typeface="Microsoft JhengHei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09534" y="1561972"/>
            <a:ext cx="2540000" cy="4285148"/>
          </a:xfrm>
          <a:prstGeom prst="roundRect">
            <a:avLst>
              <a:gd name="adj" fmla="val 11000"/>
            </a:avLst>
          </a:prstGeom>
          <a:solidFill>
            <a:srgbClr val="212121"/>
          </a:solidFill>
          <a:ln/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6534" y="1714328"/>
            <a:ext cx="235458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dirty="0" lang="zh-TW" altLang="en-US">
                <a:solidFill>
                  <a:srgbClr val="F5F5F5"/>
                </a:solidFill>
                <a:ea typeface="Microsoft JhengHei"/>
              </a:rPr>
              <a:t>取車 2／10｜左前 45°</a:t>
            </a:r>
            <a:endParaRPr lang="en-US" sz="1200" dirty="0">
              <a:ea typeface="Microsoft JhengHei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36534" y="2029072"/>
            <a:ext cx="2286000" cy="2647377"/>
          </a:xfrm>
          <a:prstGeom prst="roundRect">
            <a:avLst>
              <a:gd name="adj" fmla="val 5556"/>
            </a:avLst>
          </a:prstGeom>
          <a:solidFill>
            <a:srgbClr val="212121"/>
          </a:solidFill>
          <a:ln/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034" y="2646102"/>
            <a:ext cx="1905000" cy="10984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39530" y="3846098"/>
            <a:ext cx="1079897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sz="1200" dirty="0" lang="zh-TW" altLang="en-US">
                <a:solidFill>
                  <a:srgbClr val="86EFAC"/>
                </a:solidFill>
                <a:ea typeface="Microsoft JhengHei"/>
              </a:rPr>
              <a:t>✓ 車牌已對準</a:t>
            </a:r>
            <a:endParaRPr lang="en-US" sz="1200" dirty="0">
              <a:ea typeface="Microsoft JhengHei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36534" y="4777983"/>
            <a:ext cx="2286000" cy="408892"/>
          </a:xfrm>
          <a:prstGeom prst="roundRect">
            <a:avLst>
              <a:gd name="adj" fmla="val 21742"/>
            </a:avLst>
          </a:prstGeom>
          <a:solidFill>
            <a:srgbClr val="FBBF24"/>
          </a:solidFill>
          <a:ln/>
        </p:spPr>
        <p:txBody>
          <a:bodyPr wrap="square" lIns="88174" tIns="62862" rIns="26447" bIns="37374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b="1" dirty="0" lang="zh-TW" altLang="en-US">
                <a:solidFill>
                  <a:srgbClr val="212121"/>
                </a:solidFill>
                <a:ea typeface="Microsoft JhengHei"/>
              </a:rPr>
              <a:t>⚠ 太暗，請開啟閃光燈</a:t>
            </a:r>
            <a:endParaRPr lang="en-US" sz="1300" dirty="0">
              <a:ea typeface="Microsoft JhengHei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1695406" y="5307458"/>
            <a:ext cx="368256" cy="368256"/>
          </a:xfrm>
          <a:prstGeom prst="roundRect">
            <a:avLst>
              <a:gd name="adj" fmla="val 50000"/>
            </a:avLst>
          </a:prstGeom>
          <a:solidFill>
            <a:srgbClr val="F5F5F5"/>
          </a:solidFill>
          <a:ln w="381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505068" y="1561972"/>
            <a:ext cx="8319720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sz="1500" b="1" dirty="0" lang="zh-TW" altLang="en-US">
                <a:solidFill>
                  <a:srgbClr val="212121"/>
                </a:solidFill>
                <a:ea typeface="Microsoft JhengHei"/>
              </a:rPr>
              <a:t>必拍清單（10 張：車外 8＋車內 2，依序引導）｜發現既有傷痕，補拍特寫</a:t>
            </a:r>
            <a:endParaRPr lang="en-US" sz="1500" dirty="0">
              <a:ea typeface="Microsoft JhengHei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511296" y="1865376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6" tIns="58692" rIns="31675" bIns="33248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① 車頭</a:t>
            </a:r>
            <a:endParaRPr lang="en-US" sz="1300" dirty="0">
              <a:ea typeface="Microsoft JhengHei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142585" y="1865376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6" tIns="58692" rIns="31675" bIns="33248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② 左前 45°</a:t>
            </a:r>
            <a:endParaRPr lang="en-US" sz="1300" dirty="0">
              <a:ea typeface="Microsoft JhengHei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773875" y="1865376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5" tIns="58692" rIns="31676" bIns="33248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③ 右前 45°</a:t>
            </a:r>
            <a:endParaRPr lang="en-US" sz="1300" dirty="0">
              <a:ea typeface="Microsoft JhengHei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8405164" y="1865376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5" tIns="58692" rIns="31676" bIns="33248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④ 車尾</a:t>
            </a:r>
            <a:endParaRPr lang="en-US" sz="1300" dirty="0">
              <a:ea typeface="Microsoft JhengHei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10036454" y="1865376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6" tIns="58692" rIns="31675" bIns="33248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⑤ 左後 45°</a:t>
            </a:r>
            <a:endParaRPr lang="en-US" sz="1300" dirty="0">
              <a:ea typeface="Microsoft JhengHei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3511296" y="2340864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6" tIns="58692" rIns="31675" bIns="33248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⑥ 右後 45°</a:t>
            </a:r>
            <a:endParaRPr lang="en-US" sz="1300" dirty="0">
              <a:ea typeface="Microsoft JhengHei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5142585" y="2340864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5" tIns="58692" rIns="31676" bIns="33248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⑦ 車牌特寫</a:t>
            </a:r>
            <a:endParaRPr lang="en-US" sz="1300" dirty="0">
              <a:ea typeface="Microsoft JhengHei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773875" y="2340864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5" tIns="58692" rIns="31676" bIns="33248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⑧ 儀表板里程</a:t>
            </a:r>
            <a:endParaRPr lang="en-US" sz="1300" dirty="0">
              <a:ea typeface="Microsoft JhengHei"/>
            </a:endParaRPr>
          </a:p>
        </p:txBody>
      </p:sp>
      <p:sp>
        <p:nvSpPr>
          <p:cNvPr id="25" name="Text 16"/>
          <p:cNvSpPr/>
          <p:nvPr/>
        </p:nvSpPr>
        <p:spPr>
          <a:xfrm>
            <a:off x="10036454" y="2340864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5" tIns="58692" rIns="31676" bIns="33248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⑩ 車內後座</a:t>
            </a:r>
            <a:endParaRPr lang="en-US" sz="1300" dirty="0">
              <a:ea typeface="Microsoft JhengHei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8405164" y="2340864"/>
            <a:ext cx="1548993" cy="391297"/>
          </a:xfrm>
          <a:prstGeom prst="roundRect">
            <a:avLst>
              <a:gd name="adj" fmla="val 18662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 wrap="square" lIns="84025" tIns="58692" rIns="31676" bIns="33248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⑨ 車內前座</a:t>
            </a:r>
            <a:endParaRPr lang="en-US" sz="1300" dirty="0">
              <a:ea typeface="Microsoft JhengHei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3505068" y="2890511"/>
            <a:ext cx="8319720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sz="1500" b="1" dirty="0" lang="zh-TW" altLang="en-US">
                <a:solidFill>
                  <a:srgbClr val="212121"/>
                </a:solidFill>
                <a:ea typeface="Microsoft JhengHei"/>
              </a:rPr>
              <a:t>即時提示規則（拍照當下觸發）</a:t>
            </a:r>
            <a:endParaRPr lang="en-US" sz="1500" dirty="0">
              <a:ea typeface="Microsoft JhengHei"/>
            </a:endParaRPr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12123" y="3202279"/>
          <a:ext cx="8070342" cy="2083596"/>
        </p:xfrm>
        <a:graphic>
          <a:graphicData uri="http://schemas.openxmlformats.org/drawingml/2006/table">
            <a:tbl>
              <a:tblPr/>
              <a:tblGrid>
                <a:gridCol w="2690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0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0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 dirty="0" lang="zh-TW" altLang="en-US">
                          <a:solidFill>
                            <a:srgbClr val="F5F5F5"/>
                          </a:solidFill>
                          <a:ea typeface="Microsoft JhengHei"/>
                        </a:rPr>
                        <a:t>情境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 dirty="0" lang="zh-TW" altLang="en-US">
                          <a:solidFill>
                            <a:srgbClr val="F5F5F5"/>
                          </a:solidFill>
                          <a:ea typeface="Microsoft JhengHei"/>
                        </a:rPr>
                        <a:t>AI 判斷依據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 dirty="0" lang="zh-TW" altLang="en-US">
                          <a:solidFill>
                            <a:srgbClr val="F5F5F5"/>
                          </a:solidFill>
                          <a:ea typeface="Microsoft JhengHei"/>
                        </a:rPr>
                        <a:t>畫面提示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太暗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曝光／亮度分佈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B8000E"/>
                          </a:solidFill>
                          <a:ea typeface="Microsoft JhengHei"/>
                        </a:rPr>
                        <a:t>「請開啟閃光燈」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未拍到車牌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車牌偵測＋OCR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B8000E"/>
                          </a:solidFill>
                          <a:ea typeface="Microsoft JhengHei"/>
                        </a:rPr>
                        <a:t>「請將車牌置入框內」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角度不對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車體部位分類（對照指定角度）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B8000E"/>
                          </a:solidFill>
                          <a:ea typeface="Microsoft JhengHei"/>
                        </a:rPr>
                        <a:t>「請移至左前 45° 位置」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畫面模糊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清晰度分數（拉普拉斯變異數）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B8000E"/>
                          </a:solidFill>
                          <a:ea typeface="Microsoft JhengHei"/>
                        </a:rPr>
                        <a:t>「請持穩後重拍」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距離不當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車體佔畫面比例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B8000E"/>
                          </a:solidFill>
                          <a:ea typeface="Microsoft JhengHei"/>
                        </a:rPr>
                        <a:t>「請靠近一點／後退一步」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 18"/>
          <p:cNvSpPr/>
          <p:nvPr/>
        </p:nvSpPr>
        <p:spPr>
          <a:xfrm>
            <a:off x="3505068" y="5438228"/>
            <a:ext cx="8077398" cy="408892"/>
          </a:xfrm>
          <a:prstGeom prst="roundRect">
            <a:avLst>
              <a:gd name="adj" fmla="val 18636"/>
            </a:avLst>
          </a:prstGeom>
          <a:solidFill>
            <a:srgbClr val="FDECEC"/>
          </a:solidFill>
          <a:ln/>
        </p:spPr>
        <p:txBody>
          <a:bodyPr wrap="square" lIns="104682" tIns="66582" rIns="0" bIns="41094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b="1" dirty="0" lang="zh-TW" altLang="en-US">
                <a:solidFill>
                  <a:srgbClr val="212121"/>
                </a:solidFill>
                <a:ea typeface="Microsoft JhengHei"/>
              </a:rPr>
              <a:t>成效指標</a:t>
            </a: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　首拍合格率 ↑｜單次重拍次數 ↓｜事後爭議／人工補件 ↓</a:t>
            </a:r>
            <a:endParaRPr lang="en-US" sz="1300" dirty="0">
              <a:ea typeface="Microsoft JhengHe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3. 解決方案設計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P5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3. 解決方案設計｜環節二：AI 只對「這次」的問題預警</a:t>
            </a:r>
          </a:p>
        </p:txBody>
      </p:sp>
      <p:sp>
        <p:nvSpPr>
          <p:cNvPr id="4" name="Text 1"/>
          <p:cNvSpPr/>
          <p:nvPr/>
        </p:nvSpPr>
        <p:spPr>
          <a:xfrm>
            <a:off x="609534" y="1142939"/>
            <a:ext cx="11302121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sz="1500" dirty="0" lang="zh-TW" altLang="en-US">
                <a:solidFill>
                  <a:srgbClr val="616161"/>
                </a:solidFill>
                <a:ea typeface="Microsoft JhengHei"/>
              </a:rPr>
              <a:t>只比對同一趟的取車基準與還車：既有傷痕不算在這位用戶身上，只對新增車損預警；車內髒汙一律預警清潔</a:t>
            </a:r>
            <a:endParaRPr lang="en-US" sz="1500" dirty="0">
              <a:ea typeface="Microsoft JhengHei"/>
            </a:endParaRPr>
          </a:p>
        </p:txBody>
      </p:sp>
      <p:sp>
        <p:nvSpPr>
          <p:cNvPr id="5" name="Text 2"/>
          <p:cNvSpPr/>
          <p:nvPr/>
        </p:nvSpPr>
        <p:spPr>
          <a:xfrm>
            <a:off x="609534" y="1561973"/>
            <a:ext cx="5494020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sz="1500" b="1" dirty="0" lang="zh-TW" altLang="en-US">
                <a:solidFill>
                  <a:srgbClr val="212121"/>
                </a:solidFill>
                <a:ea typeface="Microsoft JhengHei"/>
              </a:rPr>
              <a:t>車損：取車基準（上一位還車照＋簽名前異常照）vs. 還車</a:t>
            </a:r>
            <a:endParaRPr lang="en-US" sz="1500" dirty="0">
              <a:ea typeface="Microsoft JhengHei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12709" y="1869859"/>
            <a:ext cx="2609828" cy="1780029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7" name="Text 4"/>
          <p:cNvSpPr/>
          <p:nvPr/>
        </p:nvSpPr>
        <p:spPr>
          <a:xfrm>
            <a:off x="718123" y="1975274"/>
            <a:ext cx="247096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 dirty="0" lang="zh-TW" altLang="en-US">
                <a:solidFill>
                  <a:srgbClr val="212121"/>
                </a:solidFill>
                <a:ea typeface="Microsoft JhengHei"/>
              </a:rPr>
              <a:t>取車基準</a:t>
            </a:r>
            <a:endParaRPr lang="en-US" sz="1200" dirty="0">
              <a:ea typeface="Microsoft JhengHei"/>
            </a:endParaRPr>
          </a:p>
        </p:txBody>
      </p:sp>
      <p:pic>
        <p:nvPicPr>
          <p:cNvPr id="8" name="Image 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123" y="2239196"/>
            <a:ext cx="2400212" cy="10413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8123" y="3331263"/>
            <a:ext cx="247096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dirty="0" lang="zh-TW" altLang="en-US">
                <a:solidFill>
                  <a:srgbClr val="616161"/>
                </a:solidFill>
                <a:ea typeface="Microsoft JhengHei"/>
              </a:rPr>
              <a:t>既有傷痕 → 已記錄</a:t>
            </a:r>
            <a:endParaRPr lang="en-US" sz="1200" dirty="0">
              <a:ea typeface="Microsoft JhengHei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330421" y="1869859"/>
            <a:ext cx="2609938" cy="1780029"/>
          </a:xfrm>
          <a:prstGeom prst="roundRect">
            <a:avLst>
              <a:gd name="adj" fmla="val 5529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435835" y="1975274"/>
            <a:ext cx="247108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 dirty="0" lang="zh-TW" altLang="en-US">
                <a:solidFill>
                  <a:srgbClr val="212121"/>
                </a:solidFill>
                <a:ea typeface="Microsoft JhengHei"/>
              </a:rPr>
              <a:t>還車（同視角）</a:t>
            </a:r>
            <a:endParaRPr lang="en-US" sz="1200" dirty="0">
              <a:ea typeface="Microsoft JhengHei"/>
            </a:endParaRPr>
          </a:p>
        </p:txBody>
      </p:sp>
      <p:pic>
        <p:nvPicPr>
          <p:cNvPr id="12" name="Image 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5835" y="2239196"/>
            <a:ext cx="2400212" cy="10413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35835" y="3331263"/>
            <a:ext cx="2471083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 dirty="0" lang="zh-TW" altLang="en-US">
                <a:solidFill>
                  <a:srgbClr val="B8000E"/>
                </a:solidFill>
                <a:ea typeface="Microsoft JhengHei"/>
              </a:rPr>
              <a:t>新增刮痕 → 預警</a:t>
            </a:r>
            <a:endParaRPr lang="en-US" sz="1200" dirty="0">
              <a:ea typeface="Microsoft JhengHei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09534" y="3729241"/>
            <a:ext cx="5334000" cy="408892"/>
          </a:xfrm>
          <a:prstGeom prst="roundRect">
            <a:avLst>
              <a:gd name="adj" fmla="val 18636"/>
            </a:avLst>
          </a:prstGeom>
          <a:solidFill>
            <a:srgbClr val="FDECEC"/>
          </a:solidFill>
          <a:ln/>
        </p:spPr>
        <p:txBody>
          <a:bodyPr wrap="square" lIns="104682" tIns="66582" rIns="0" bIns="41094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同視角對位 → 差異偵測 → 扣除既有傷痕，只有新增項目進入預警</a:t>
            </a:r>
            <a:endParaRPr lang="en-US" sz="1300" dirty="0">
              <a:ea typeface="Microsoft JhengHei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6248246" y="1561973"/>
            <a:ext cx="5494248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sz="1500" b="1" dirty="0" lang="zh-TW" altLang="en-US">
                <a:solidFill>
                  <a:srgbClr val="212121"/>
                </a:solidFill>
                <a:ea typeface="Microsoft JhengHei"/>
              </a:rPr>
              <a:t>車內整潔三級</a:t>
            </a:r>
            <a:endParaRPr lang="en-US" sz="1500" dirty="0">
              <a:ea typeface="Microsoft JhengHei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6251421" y="1869859"/>
            <a:ext cx="5327871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331479" y="1949918"/>
            <a:ext cx="762000" cy="469746"/>
          </a:xfrm>
          <a:prstGeom prst="roundRect">
            <a:avLst>
              <a:gd name="adj" fmla="val 13518"/>
            </a:avLst>
          </a:prstGeom>
          <a:solidFill>
            <a:srgbClr val="424242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sz="1300" b="1" dirty="0" lang="zh-TW" altLang="en-US">
                <a:solidFill>
                  <a:srgbClr val="FFFFFF"/>
                </a:solidFill>
                <a:ea typeface="Microsoft JhengHei"/>
              </a:rPr>
              <a:t>乾淨</a:t>
            </a:r>
            <a:endParaRPr lang="en-US" sz="1300" dirty="0">
              <a:ea typeface="Microsoft JhengHei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7195014" y="1949918"/>
            <a:ext cx="4433346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無垃圾、無可見污漬</a:t>
            </a:r>
            <a:endParaRPr lang="en-US" sz="1300" dirty="0">
              <a:ea typeface="Microsoft JhengHei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7195014" y="2206454"/>
            <a:ext cx="443334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dirty="0" lang="zh-TW" altLang="en-US">
                <a:solidFill>
                  <a:srgbClr val="616161"/>
                </a:solidFill>
                <a:ea typeface="Microsoft JhengHei"/>
              </a:rPr>
              <a:t>範例：座椅、地墊、置物格整齊 → 不預警</a:t>
            </a:r>
            <a:endParaRPr lang="en-US" sz="1200" dirty="0">
              <a:ea typeface="Microsoft JhengHei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6251421" y="2582250"/>
            <a:ext cx="5327871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6331479" y="2662309"/>
            <a:ext cx="762000" cy="469746"/>
          </a:xfrm>
          <a:prstGeom prst="roundRect">
            <a:avLst>
              <a:gd name="adj" fmla="val 13518"/>
            </a:avLst>
          </a:prstGeom>
          <a:solidFill>
            <a:srgbClr val="FBBF24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sz="1300" b="1" dirty="0" lang="zh-TW" altLang="en-US">
                <a:solidFill>
                  <a:srgbClr val="212121"/>
                </a:solidFill>
                <a:ea typeface="Microsoft JhengHei"/>
              </a:rPr>
              <a:t>普通</a:t>
            </a:r>
            <a:endParaRPr lang="en-US" sz="1300" dirty="0">
              <a:ea typeface="Microsoft JhengHei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7195014" y="2662309"/>
            <a:ext cx="4433346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少量碎屑或輕微灰塵</a:t>
            </a:r>
            <a:endParaRPr lang="en-US" sz="1300" dirty="0">
              <a:ea typeface="Microsoft JhengHei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7195014" y="2918844"/>
            <a:ext cx="443334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dirty="0" lang="zh-TW" altLang="en-US">
                <a:solidFill>
                  <a:srgbClr val="616161"/>
                </a:solidFill>
                <a:ea typeface="Microsoft JhengHei"/>
              </a:rPr>
              <a:t>範例：地墊零星砂土 → 記錄，不派工</a:t>
            </a:r>
            <a:endParaRPr lang="en-US" sz="1200" dirty="0">
              <a:ea typeface="Microsoft JhengHei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6251421" y="3294641"/>
            <a:ext cx="5327871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6331479" y="3374699"/>
            <a:ext cx="762000" cy="469746"/>
          </a:xfrm>
          <a:prstGeom prst="roundRect">
            <a:avLst>
              <a:gd name="adj" fmla="val 13518"/>
            </a:avLst>
          </a:prstGeom>
          <a:solidFill>
            <a:srgbClr val="E60012"/>
          </a:solidFill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sz="1300" b="1" dirty="0" lang="zh-TW" altLang="en-US">
                <a:solidFill>
                  <a:srgbClr val="FFFFFF"/>
                </a:solidFill>
                <a:ea typeface="Microsoft JhengHei"/>
              </a:rPr>
              <a:t>髒汙</a:t>
            </a:r>
            <a:endParaRPr lang="en-US" sz="1300" dirty="0">
              <a:ea typeface="Microsoft JhengHei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7195014" y="3374699"/>
            <a:ext cx="4433346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dirty="0" lang="zh-TW" altLang="en-US">
                <a:solidFill>
                  <a:srgbClr val="212121"/>
                </a:solidFill>
                <a:ea typeface="Microsoft JhengHei"/>
              </a:rPr>
              <a:t>明顯污漬、食物殘渣或垃圾堆積</a:t>
            </a:r>
            <a:endParaRPr lang="en-US" sz="1300" dirty="0">
              <a:ea typeface="Microsoft JhengHei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7195014" y="3631235"/>
            <a:ext cx="4433346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dirty="0" lang="zh-TW" altLang="en-US">
                <a:solidFill>
                  <a:srgbClr val="616161"/>
                </a:solidFill>
                <a:ea typeface="Microsoft JhengHei"/>
              </a:rPr>
              <a:t>範例：座椅潑灑飲料、垃圾遺留 → 預警</a:t>
            </a:r>
            <a:endParaRPr lang="en-US" sz="1200" dirty="0">
              <a:ea typeface="Microsoft JhengHei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6248246" y="4003856"/>
            <a:ext cx="5334221" cy="640071"/>
          </a:xfrm>
          <a:prstGeom prst="roundRect">
            <a:avLst>
              <a:gd name="adj" fmla="val 11905"/>
            </a:avLst>
          </a:prstGeom>
          <a:solidFill>
            <a:srgbClr val="FDECEC"/>
          </a:solidFill>
          <a:ln/>
        </p:spPr>
        <p:txBody>
          <a:bodyPr wrap="square" lIns="104682" tIns="66582" rIns="0" bIns="41094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b="1" dirty="0" lang="zh-TW" altLang="en-US">
                <a:solidFill>
                  <a:srgbClr val="212121"/>
                </a:solidFill>
                <a:ea typeface="Microsoft JhengHei"/>
              </a:rPr>
              <a:t>判定「髒汙」一律預警並派工清潔；等級比取車基準下降，才追究本次用戶責任</a:t>
            </a:r>
            <a:endParaRPr lang="en-US" sz="1300" dirty="0">
              <a:ea typeface="Microsoft JhengHei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609534" y="4796283"/>
            <a:ext cx="10972933" cy="469746"/>
          </a:xfrm>
          <a:prstGeom prst="roundRect">
            <a:avLst>
              <a:gd name="adj" fmla="val 16222"/>
            </a:avLst>
          </a:prstGeom>
          <a:solidFill>
            <a:srgbClr val="212121"/>
          </a:solidFill>
          <a:ln/>
        </p:spPr>
        <p:txBody>
          <a:bodyPr wrap="square" lIns="130038" tIns="79282" rIns="0" bIns="53750" rtlCol="0" anchor="t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sz="1500" b="1" dirty="0" lang="zh-TW" altLang="en-US">
                <a:solidFill>
                  <a:srgbClr val="F5F5F5"/>
                </a:solidFill>
                <a:ea typeface="Microsoft JhengHei"/>
              </a:rPr>
              <a:t>預警條件：新增車損 或 判定髒汙 → 產生預警工單，送環節三派工（等級下降才歸責本次用戶）</a:t>
            </a:r>
            <a:endParaRPr lang="en-US" sz="1500" dirty="0">
              <a:ea typeface="Microsoft JhengHe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3. 解決方案設計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P6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3. 解決方案設計｜環節三：預警即派工，下一位不會接到髒車</a:t>
            </a:r>
          </a:p>
        </p:txBody>
      </p:sp>
      <p:sp>
        <p:nvSpPr>
          <p:cNvPr id="4" name="Text 1"/>
          <p:cNvSpPr/>
          <p:nvPr/>
        </p:nvSpPr>
        <p:spPr>
          <a:xfrm>
            <a:off x="609534" y="1142939"/>
            <a:ext cx="11302121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sz="1500" dirty="0" lang="zh-TW" altLang="en-US">
                <a:solidFill>
                  <a:srgbClr val="616161"/>
                </a:solidFill>
                <a:ea typeface="Microsoft JhengHei"/>
              </a:rPr>
              <a:t>預警成立即鎖車、依嚴重度派工，整備完成才恢復出租，讓下一位用戶只會拿到可用的車</a:t>
            </a:r>
            <a:endParaRPr lang="en-US" sz="1500" dirty="0">
              <a:ea typeface="Microsoft JhengHei"/>
            </a:endParaRPr>
          </a:p>
        </p:txBody>
      </p:sp>
      <p:sp>
        <p:nvSpPr>
          <p:cNvPr id="5" name="Shape 2"/>
          <p:cNvSpPr/>
          <p:nvPr/>
        </p:nvSpPr>
        <p:spPr>
          <a:xfrm>
            <a:off x="612709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6" name="Text 3"/>
          <p:cNvSpPr/>
          <p:nvPr/>
        </p:nvSpPr>
        <p:spPr>
          <a:xfrm>
            <a:off x="743589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sz="1500" b="1" dirty="0" lang="zh-TW" altLang="en-US">
                <a:solidFill>
                  <a:srgbClr val="212121"/>
                </a:solidFill>
                <a:ea typeface="Microsoft JhengHei"/>
              </a:rPr>
              <a:t>① 預警</a:t>
            </a:r>
            <a:endParaRPr lang="en-US" sz="1500" dirty="0">
              <a:ea typeface="Microsoft JhengHei"/>
            </a:endParaRPr>
          </a:p>
        </p:txBody>
      </p:sp>
      <p:sp>
        <p:nvSpPr>
          <p:cNvPr id="7" name="Text 4"/>
          <p:cNvSpPr/>
          <p:nvPr/>
        </p:nvSpPr>
        <p:spPr>
          <a:xfrm>
            <a:off x="743589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dirty="0" lang="zh-TW" altLang="en-US">
                <a:solidFill>
                  <a:srgbClr val="616161"/>
                </a:solidFill>
                <a:ea typeface="Microsoft JhengHei"/>
              </a:rPr>
              <a:t>AI 比對後產生預警工單</a:t>
            </a:r>
            <a:endParaRPr lang="en-US" sz="1200" dirty="0">
              <a:ea typeface="Microsoft JhengHei"/>
            </a:endParaRPr>
          </a:p>
        </p:txBody>
      </p:sp>
      <p:sp>
        <p:nvSpPr>
          <p:cNvPr id="8" name="Text 5"/>
          <p:cNvSpPr/>
          <p:nvPr/>
        </p:nvSpPr>
        <p:spPr>
          <a:xfrm>
            <a:off x="3171803" y="1777167"/>
            <a:ext cx="24130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60012"/>
                </a:solidFill>
                <a:ea typeface="Microsoft JhengHei"/>
              </a:rPr>
              <a:t>→</a:t>
            </a:r>
            <a:endParaRPr lang="en-US" sz="1500" dirty="0">
              <a:ea typeface="Microsoft JhengHe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441656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572537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sz="1500" b="1" dirty="0" lang="zh-TW" altLang="en-US">
                <a:solidFill>
                  <a:srgbClr val="212121"/>
                </a:solidFill>
                <a:ea typeface="Microsoft JhengHei"/>
              </a:rPr>
              <a:t>② 暫停出租</a:t>
            </a:r>
            <a:endParaRPr lang="en-US" sz="1500" dirty="0">
              <a:ea typeface="Microsoft JhengHei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572537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dirty="0" lang="zh-TW" altLang="en-US">
                <a:solidFill>
                  <a:srgbClr val="616161"/>
                </a:solidFill>
                <a:ea typeface="Microsoft JhengHei"/>
              </a:rPr>
              <a:t>車輛即時下架</a:t>
            </a:r>
            <a:endParaRPr lang="en-US" sz="1200" dirty="0">
              <a:ea typeface="Microsoft JhengHe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000750" y="1777167"/>
            <a:ext cx="24130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60012"/>
                </a:solidFill>
                <a:ea typeface="Microsoft JhengHei"/>
              </a:rPr>
              <a:t>→</a:t>
            </a:r>
            <a:endParaRPr lang="en-US" sz="1500" dirty="0">
              <a:ea typeface="Microsoft JhengHei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270603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401484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sz="1500" b="1" dirty="0" lang="zh-TW" altLang="en-US">
                <a:solidFill>
                  <a:srgbClr val="212121"/>
                </a:solidFill>
                <a:ea typeface="Microsoft JhengHei"/>
              </a:rPr>
              <a:t>③ 清潔／整備</a:t>
            </a:r>
            <a:endParaRPr lang="en-US" sz="1500" dirty="0">
              <a:ea typeface="Microsoft JhengHei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01484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dirty="0" lang="zh-TW" altLang="en-US">
                <a:solidFill>
                  <a:srgbClr val="616161"/>
                </a:solidFill>
                <a:ea typeface="Microsoft JhengHei"/>
              </a:rPr>
              <a:t>依嚴重度排序派工</a:t>
            </a:r>
            <a:endParaRPr lang="en-US" sz="1200" dirty="0">
              <a:ea typeface="Microsoft JhengHei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829697" y="1777167"/>
            <a:ext cx="24130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60012"/>
                </a:solidFill>
                <a:ea typeface="Microsoft JhengHei"/>
              </a:rPr>
              <a:t>→</a:t>
            </a:r>
            <a:endParaRPr lang="en-US" sz="1500" dirty="0">
              <a:ea typeface="Microsoft JhengHei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9099551" y="1565148"/>
            <a:ext cx="2479741" cy="690717"/>
          </a:xfrm>
          <a:prstGeom prst="roundRect">
            <a:avLst>
              <a:gd name="adj" fmla="val 12411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9230431" y="1657884"/>
            <a:ext cx="2284520" cy="292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sz="1500" b="1" dirty="0" lang="zh-TW" altLang="en-US">
                <a:solidFill>
                  <a:srgbClr val="212121"/>
                </a:solidFill>
                <a:ea typeface="Microsoft JhengHei"/>
              </a:rPr>
              <a:t>④ 恢復出租</a:t>
            </a:r>
            <a:endParaRPr lang="en-US" sz="1500" dirty="0">
              <a:ea typeface="Microsoft JhengHei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230431" y="1949919"/>
            <a:ext cx="2284520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dirty="0" lang="zh-TW" altLang="en-US">
                <a:solidFill>
                  <a:srgbClr val="616161"/>
                </a:solidFill>
                <a:ea typeface="Microsoft JhengHei"/>
              </a:rPr>
              <a:t>複拍通過後重新上架</a:t>
            </a:r>
            <a:endParaRPr lang="en-US" sz="1200" dirty="0">
              <a:ea typeface="Microsoft JhengHei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09534" y="2411396"/>
            <a:ext cx="6655754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sz="1500" b="1" dirty="0" lang="zh-TW" altLang="en-US">
                <a:solidFill>
                  <a:srgbClr val="212121"/>
                </a:solidFill>
                <a:ea typeface="Microsoft JhengHei"/>
              </a:rPr>
              <a:t>後台儀表板（依嚴重度排序，示意資料）</a:t>
            </a:r>
            <a:endParaRPr lang="en-US" sz="1500" dirty="0">
              <a:ea typeface="Microsoft JhengHei"/>
            </a:endParaRPr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589" y="2723163"/>
          <a:ext cx="6454840" cy="2589170"/>
        </p:xfrm>
        <a:graphic>
          <a:graphicData uri="http://schemas.openxmlformats.org/drawingml/2006/table">
            <a:tbl>
              <a:tblPr/>
              <a:tblGrid>
                <a:gridCol w="1290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09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26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 dirty="0" lang="zh-TW" altLang="en-US">
                          <a:solidFill>
                            <a:srgbClr val="F5F5F5"/>
                          </a:solidFill>
                          <a:ea typeface="Microsoft JhengHei"/>
                        </a:rPr>
                        <a:t>嚴重度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 dirty="0" lang="zh-TW" altLang="en-US">
                          <a:solidFill>
                            <a:srgbClr val="F5F5F5"/>
                          </a:solidFill>
                          <a:ea typeface="Microsoft JhengHei"/>
                        </a:rPr>
                        <a:t>車輛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 dirty="0" lang="zh-TW" altLang="en-US">
                          <a:solidFill>
                            <a:srgbClr val="F5F5F5"/>
                          </a:solidFill>
                          <a:ea typeface="Microsoft JhengHei"/>
                        </a:rPr>
                        <a:t>預警原因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 dirty="0" lang="zh-TW" altLang="en-US">
                          <a:solidFill>
                            <a:srgbClr val="F5F5F5"/>
                          </a:solidFill>
                          <a:ea typeface="Microsoft JhengHei"/>
                        </a:rPr>
                        <a:t>狀態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b="1" dirty="0" lang="zh-TW" altLang="en-US">
                          <a:solidFill>
                            <a:srgbClr val="F5F5F5"/>
                          </a:solidFill>
                          <a:ea typeface="Microsoft JhengHei"/>
                        </a:rPr>
                        <a:t>派工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1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高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ea typeface="Microsoft JhengHei"/>
                        </a:rPr>
                        <a:t>ABC-0001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新增車損：左前車門刮痕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已暫停出租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板金評估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高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ea typeface="Microsoft JhengHei"/>
                        </a:rPr>
                        <a:t>ABC-0002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髒汙：座椅潑灑飲料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已暫停出租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專業清潔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中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ea typeface="Microsoft JhengHei"/>
                        </a:rPr>
                        <a:t>ABC-0003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新增車損：輕微擦痕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排程整備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整備站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476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低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ea typeface="Microsoft JhengHei"/>
                        </a:rPr>
                        <a:t>ABC-0004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AI 信心不足：照片疑義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待複核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sz="1200" dirty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人工複核</a:t>
                      </a:r>
                      <a:endParaRPr lang="en-US" sz="1200" dirty="0">
                        <a:ea typeface="Microsoft JhengHei"/>
                      </a:endParaRPr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7274609" y="2411396"/>
            <a:ext cx="4437094" cy="25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sz="1500" b="1" dirty="0" lang="zh-TW" altLang="en-US">
                <a:solidFill>
                  <a:srgbClr val="212121"/>
                </a:solidFill>
                <a:ea typeface="Microsoft JhengHei"/>
              </a:rPr>
              <a:t>下一位用戶保護</a:t>
            </a:r>
            <a:endParaRPr lang="en-US" sz="1500" dirty="0">
              <a:ea typeface="Microsoft JhengHei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7277784" y="2719283"/>
            <a:ext cx="4301508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7408664" y="2799341"/>
            <a:ext cx="4160939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b="1" dirty="0" lang="zh-TW" altLang="en-US">
                <a:solidFill>
                  <a:srgbClr val="212121"/>
                </a:solidFill>
                <a:ea typeface="Microsoft JhengHei"/>
              </a:rPr>
              <a:t>預警成立即鎖車</a:t>
            </a:r>
            <a:endParaRPr lang="en-US" sz="1300" dirty="0">
              <a:ea typeface="Microsoft JhengHei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7408664" y="3055876"/>
            <a:ext cx="416093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dirty="0" lang="zh-TW" altLang="en-US">
                <a:solidFill>
                  <a:srgbClr val="616161"/>
                </a:solidFill>
                <a:ea typeface="Microsoft JhengHei"/>
              </a:rPr>
              <a:t>車輛自動下架，不再被新預約選到</a:t>
            </a:r>
            <a:endParaRPr lang="en-US" sz="1200" dirty="0">
              <a:ea typeface="Microsoft JhengHei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7277784" y="3431673"/>
            <a:ext cx="4301508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7408664" y="3511732"/>
            <a:ext cx="4160939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b="1" dirty="0" lang="zh-TW" altLang="en-US">
                <a:solidFill>
                  <a:srgbClr val="212121"/>
                </a:solidFill>
                <a:ea typeface="Microsoft JhengHei"/>
              </a:rPr>
              <a:t>已預約者自動改派</a:t>
            </a:r>
            <a:endParaRPr lang="en-US" sz="1300" dirty="0">
              <a:ea typeface="Microsoft JhengHei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7408664" y="3768267"/>
            <a:ext cx="416093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dirty="0" lang="zh-TW" altLang="en-US">
                <a:solidFill>
                  <a:srgbClr val="616161"/>
                </a:solidFill>
                <a:ea typeface="Microsoft JhengHei"/>
              </a:rPr>
              <a:t>改派同區同級車並通知用戶</a:t>
            </a:r>
            <a:endParaRPr lang="en-US" sz="1200" dirty="0">
              <a:ea typeface="Microsoft JhengHei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7277784" y="4144064"/>
            <a:ext cx="4301508" cy="629863"/>
          </a:xfrm>
          <a:prstGeom prst="roundRect">
            <a:avLst>
              <a:gd name="adj" fmla="val 13610"/>
            </a:avLst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TW" altLang="en-US">
              <a:ea typeface="Microsoft JhengHei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7408664" y="4224123"/>
            <a:ext cx="4160939" cy="25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sz="1300" b="1" dirty="0" lang="zh-TW" altLang="en-US">
                <a:solidFill>
                  <a:srgbClr val="212121"/>
                </a:solidFill>
                <a:ea typeface="Microsoft JhengHei"/>
              </a:rPr>
              <a:t>整備完成才解鎖</a:t>
            </a:r>
            <a:endParaRPr lang="en-US" sz="1300" dirty="0">
              <a:ea typeface="Microsoft JhengHei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7408664" y="4480657"/>
            <a:ext cx="4160939" cy="23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dirty="0" lang="zh-TW" altLang="en-US">
                <a:solidFill>
                  <a:srgbClr val="616161"/>
                </a:solidFill>
                <a:ea typeface="Microsoft JhengHei"/>
              </a:rPr>
              <a:t>現場複拍通過檢核（沿用環節一）</a:t>
            </a:r>
            <a:endParaRPr lang="en-US" sz="1200" dirty="0">
              <a:ea typeface="Microsoft JhengHei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609534" y="5464687"/>
            <a:ext cx="10972933" cy="469746"/>
          </a:xfrm>
          <a:prstGeom prst="roundRect">
            <a:avLst>
              <a:gd name="adj" fmla="val 16222"/>
            </a:avLst>
          </a:prstGeom>
          <a:solidFill>
            <a:srgbClr val="212121"/>
          </a:solidFill>
          <a:ln/>
        </p:spPr>
        <p:txBody>
          <a:bodyPr wrap="square" lIns="130038" tIns="79282" rIns="0" bIns="53750" rtlCol="0" anchor="t">
            <a:no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sz="1500" b="1" dirty="0" lang="zh-TW" altLang="en-US">
                <a:solidFill>
                  <a:srgbClr val="F5F5F5"/>
                </a:solidFill>
                <a:ea typeface="Microsoft JhengHei"/>
              </a:rPr>
              <a:t>成效指標：流入下一位用戶的髒車／損車 ↓｜預警到恢復出租時間 ↓｜車輛可出租率 ↑</a:t>
            </a:r>
            <a:endParaRPr lang="en-US" sz="1500" dirty="0">
              <a:ea typeface="Microsoft JhengHe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3. 解決方案設計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P7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4. AI 應用方法｜四層架構，每一層都有研究依據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20240" y="1234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40" y="123444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lang="zh-TW" altLang="en-US">
                <a:solidFill>
                  <a:srgbClr val="FFFFFF"/>
                </a:solidFill>
                <a:ea typeface="Microsoft JhengHei"/>
              </a:rPr>
              <a:t>環節一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234440"/>
            <a:ext cx="3566160" cy="27432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06240" y="1234440"/>
            <a:ext cx="3566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lang="zh-TW" altLang="en-US">
                <a:solidFill>
                  <a:srgbClr val="FFFFFF"/>
                </a:solidFill>
                <a:ea typeface="Microsoft JhengHei"/>
              </a:rPr>
              <a:t>環節二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234440"/>
            <a:ext cx="2103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lang="zh-TW" altLang="en-US">
                <a:solidFill>
                  <a:srgbClr val="FFFFFF"/>
                </a:solidFill>
                <a:ea typeface="Microsoft JhengHei"/>
              </a:rPr>
              <a:t>AI 報告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0" y="123444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B80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0" y="1234440"/>
            <a:ext cx="1645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lang="zh-TW" altLang="en-US">
                <a:solidFill>
                  <a:srgbClr val="FFFFFF"/>
                </a:solidFill>
                <a:ea typeface="Microsoft JhengHei"/>
              </a:rPr>
              <a:t>環節二・三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60020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93192" y="165506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lang="zh-TW" altLang="en-US">
                <a:solidFill>
                  <a:srgbClr val="212121"/>
                </a:solidFill>
                <a:ea typeface="Microsoft JhengHei"/>
              </a:rPr>
              <a:t>App｜取車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取車基準＝上一位還車照＋簽名前異常照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AI 挑出差異最大的 2–3 張請用戶確認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缺漏視角請用戶補拍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474720"/>
            <a:ext cx="1417320" cy="173736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93192" y="3529584"/>
            <a:ext cx="1271016" cy="162763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lang="zh-TW" altLang="en-US">
                <a:solidFill>
                  <a:srgbClr val="212121"/>
                </a:solidFill>
                <a:ea typeface="Microsoft JhengHei"/>
              </a:rPr>
              <a:t>App｜還車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拍攝四周外觀＋車內照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（現有流程，不新增步驟）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20240" y="1600200"/>
            <a:ext cx="2103120" cy="3611880"/>
          </a:xfrm>
          <a:prstGeom prst="roundRect">
            <a:avLst>
              <a:gd name="adj" fmla="val 6000"/>
            </a:avLst>
          </a:prstGeom>
          <a:solidFill>
            <a:srgbClr val="EEEEEE"/>
          </a:solidFill>
          <a:ln w="19050">
            <a:solidFill>
              <a:srgbClr val="42424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93392" y="1655064"/>
            <a:ext cx="1956815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lang="zh-TW" altLang="en-US">
                <a:solidFill>
                  <a:srgbClr val="424242"/>
                </a:solidFill>
                <a:ea typeface="Microsoft JhengHei"/>
              </a:rPr>
              <a:t>① 手機端即時防呆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拍對位置：視角分類（前、後、側、斜角）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模糊／過暗評分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車牌是否入鏡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角度不對、距離過遠／過近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畫面過髒：鏡頭髒汙或泥污遮蔽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→ 1 秒內提示原因並引導重拍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依據 [6][7]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60020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9050">
            <a:solidFill>
              <a:srgbClr val="E6001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279392" y="1655064"/>
            <a:ext cx="3419856" cy="1261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lang="zh-TW" altLang="en-US">
                <a:solidFill>
                  <a:srgbClr val="E60012"/>
                </a:solidFill>
                <a:ea typeface="Microsoft JhengHei"/>
              </a:rPr>
              <a:t>② 新車損：取還車變化比對（核心）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取車基準與還車照同視角配對 → 特徵匹配對齊 [9]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物件級變化偵測，容忍視角與光線差異 [2]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資料不足時：取車照當正常樣本做一張參考異常偵測 [3]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063240"/>
            <a:ext cx="3566160" cy="8686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9050">
            <a:solidFill>
              <a:srgbClr val="E6001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279392" y="3118104"/>
            <a:ext cx="3419856" cy="7589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lang="zh-TW" altLang="en-US">
                <a:solidFill>
                  <a:srgbClr val="E60012"/>
                </a:solidFill>
                <a:ea typeface="Microsoft JhengHei"/>
              </a:rPr>
              <a:t>② 車損類型與位置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分割模型以 CarDD（4,000 張、6 類）預訓練 [1]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再以 iRent 照片微調；小凹痕另行強化 [8]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4023360"/>
            <a:ext cx="3566160" cy="11887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279392" y="4078224"/>
            <a:ext cx="3419856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lang="zh-TW" altLang="en-US">
                <a:solidFill>
                  <a:srgbClr val="E60012"/>
                </a:solidFill>
                <a:ea typeface="Microsoft JhengHei"/>
              </a:rPr>
              <a:t>② 車內整潔＋遺留物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偵測與定位物品、污漬 [5][11][12]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Gemini 先列證據、標註類型 [13]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→ 交由 ③ 整理成 scene graph 並分級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1600200"/>
            <a:ext cx="1645920" cy="36118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9050">
            <a:solidFill>
              <a:srgbClr val="B8000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314432" y="1655064"/>
            <a:ext cx="1499616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lang="zh-TW" altLang="en-US">
                <a:solidFill>
                  <a:srgbClr val="B8000E"/>
                </a:solidFill>
                <a:ea typeface="Microsoft JhengHei"/>
              </a:rPr>
              <a:t>④ 預警通知與整備調度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異常預警即時通知：後台儀表板、客服、外勤 App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工單依嚴重度排序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髒汙：暫停出租、排清潔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車損：排整備；人工確認對照證據後才收費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無基準視角、停放期間損傷：人工判斷，不歸責用戶</a:t>
            </a:r>
          </a:p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客服即時查車況回覆用戶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1600200"/>
            <a:ext cx="2103120" cy="36118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028431" y="1655064"/>
            <a:ext cx="1956815" cy="3502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lang="zh-TW" altLang="en-US">
                <a:solidFill>
                  <a:srgbClr val="757575"/>
                </a:solidFill>
                <a:ea typeface="Microsoft JhengHei"/>
              </a:rPr>
              <a:t>③ Gemini 車況報告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2011680"/>
            <a:ext cx="1920239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5" y="2039112"/>
            <a:ext cx="1847087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lang="zh-TW" altLang="en-US">
                <a:solidFill>
                  <a:srgbClr val="757575"/>
                </a:solidFill>
                <a:ea typeface="Microsoft JhengHei"/>
              </a:rPr>
              <a:t>結構化 scene graph</a:t>
            </a:r>
          </a:p>
          <a:p>
            <a:pPr algn="l">
              <a:spcAft>
                <a:spcPts val="200"/>
              </a:spcAft>
            </a:pPr>
            <a:r>
              <a:rPr sz="950" b="1" lang="zh-TW" altLang="en-US">
                <a:solidFill>
                  <a:srgbClr val="616161"/>
                </a:solidFill>
                <a:ea typeface="Microsoft JhengHei"/>
              </a:rPr>
              <a:t>位置｜物品｜類型</a:t>
            </a:r>
          </a:p>
          <a:p>
            <a:pPr algn="l">
              <a:spcAft>
                <a:spcPts val="200"/>
              </a:spcAft>
            </a:pPr>
            <a:r>
              <a:rPr sz="950" b="0" lang="zh-TW" altLang="en-US">
                <a:solidFill>
                  <a:srgbClr val="212121"/>
                </a:solidFill>
                <a:ea typeface="Microsoft JhengHei"/>
              </a:rPr>
              <a:t>後座｜飲料杯｜垃圾</a:t>
            </a:r>
          </a:p>
          <a:p>
            <a:pPr algn="l">
              <a:spcAft>
                <a:spcPts val="200"/>
              </a:spcAft>
            </a:pPr>
            <a:r>
              <a:rPr sz="950" b="0" lang="zh-TW" altLang="en-US">
                <a:solidFill>
                  <a:srgbClr val="212121"/>
                </a:solidFill>
                <a:ea typeface="Microsoft JhengHei"/>
              </a:rPr>
              <a:t>地墊｜飲料漬｜液體污染</a:t>
            </a:r>
          </a:p>
          <a:p>
            <a:pPr algn="l">
              <a:spcAft>
                <a:spcPts val="200"/>
              </a:spcAft>
            </a:pPr>
            <a:r>
              <a:rPr sz="950" b="0" lang="zh-TW" altLang="en-US">
                <a:solidFill>
                  <a:srgbClr val="212121"/>
                </a:solidFill>
                <a:ea typeface="Microsoft JhengHei"/>
              </a:rPr>
              <a:t>置杯架｜手機｜遺留物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8897111" y="3182112"/>
            <a:ext cx="219456" cy="155448"/>
          </a:xfrm>
          <a:prstGeom prst="down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46719" y="3364991"/>
            <a:ext cx="1920239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3295" y="3392424"/>
            <a:ext cx="1847087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lang="zh-TW" altLang="en-US">
                <a:solidFill>
                  <a:srgbClr val="757575"/>
                </a:solidFill>
                <a:ea typeface="Microsoft JhengHei"/>
              </a:rPr>
              <a:t>規則聚合三級</a:t>
            </a:r>
          </a:p>
          <a:p>
            <a:pPr algn="l">
              <a:spcAft>
                <a:spcPts val="200"/>
              </a:spcAft>
            </a:pPr>
            <a:r>
              <a:rPr sz="950" b="0" lang="zh-TW" altLang="en-US">
                <a:solidFill>
                  <a:srgbClr val="212121"/>
                </a:solidFill>
                <a:ea typeface="Microsoft JhengHei"/>
              </a:rPr>
              <a:t>污染或垃圾 ≥ 2 → 髒汙</a:t>
            </a:r>
          </a:p>
          <a:p>
            <a:pPr algn="l">
              <a:spcAft>
                <a:spcPts val="200"/>
              </a:spcAft>
            </a:pPr>
            <a:r>
              <a:rPr sz="950" b="0" lang="zh-TW" altLang="en-US">
                <a:solidFill>
                  <a:srgbClr val="212121"/>
                </a:solidFill>
                <a:ea typeface="Microsoft JhengHei"/>
              </a:rPr>
              <a:t>垃圾 1 或雜物 → 普通</a:t>
            </a:r>
          </a:p>
          <a:p>
            <a:pPr algn="l">
              <a:spcAft>
                <a:spcPts val="200"/>
              </a:spcAft>
            </a:pPr>
            <a:r>
              <a:rPr sz="950" b="0" lang="zh-TW" altLang="en-US">
                <a:solidFill>
                  <a:srgbClr val="212121"/>
                </a:solidFill>
                <a:ea typeface="Microsoft JhengHei"/>
              </a:rPr>
              <a:t>遺留物 → 另通知客服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9" y="4297680"/>
            <a:ext cx="1920239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zh-TW" altLang="en-US">
                <a:solidFill>
                  <a:srgbClr val="212121"/>
                </a:solidFill>
                <a:ea typeface="Microsoft JhengHei"/>
              </a:rPr>
              <a:t>白話說明＋工單摘要（Demo）</a:t>
            </a:r>
          </a:p>
          <a:p>
            <a:pPr algn="l">
              <a:spcAft>
                <a:spcPts val="200"/>
              </a:spcAft>
            </a:pPr>
            <a:r>
              <a:rPr sz="1000" b="0" lang="zh-TW" altLang="en-US">
                <a:solidFill>
                  <a:srgbClr val="212121"/>
                </a:solidFill>
                <a:ea typeface="Microsoft JhengHei"/>
              </a:rPr>
              <a:t>新車損第二意見；不作收費依據 [4]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764792" y="3246120"/>
            <a:ext cx="146304" cy="320040"/>
          </a:xfrm>
          <a:prstGeom prst="rightArrow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4050791" y="3246120"/>
            <a:ext cx="146304" cy="320040"/>
          </a:xfrm>
          <a:prstGeom prst="right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7799831" y="3246120"/>
            <a:ext cx="146304" cy="320040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10085832" y="3246120"/>
            <a:ext cx="146304" cy="320040"/>
          </a:xfrm>
          <a:prstGeom prst="rightArrow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eft Arrow 36"/>
          <p:cNvSpPr/>
          <p:nvPr/>
        </p:nvSpPr>
        <p:spPr>
          <a:xfrm>
            <a:off x="4206240" y="5321808"/>
            <a:ext cx="7680960" cy="384048"/>
          </a:xfrm>
          <a:prstGeom prst="leftArrow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5321808"/>
            <a:ext cx="71323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lang="zh-TW" altLang="en-US">
                <a:solidFill>
                  <a:srgbClr val="B8000E"/>
                </a:solidFill>
                <a:ea typeface="Microsoft JhengHei"/>
              </a:rPr>
              <a:t>回饋學習：人工確認結果回流為標註資料，持續微調車損、比對與整潔模型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989320"/>
            <a:ext cx="320040" cy="201168"/>
          </a:xfrm>
          <a:prstGeom prst="rect">
            <a:avLst/>
          </a:prstGeom>
          <a:noFill/>
          <a:ln w="254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925312"/>
            <a:ext cx="237744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實線：Demo 已驗證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5989320"/>
            <a:ext cx="320040" cy="201168"/>
          </a:xfrm>
          <a:prstGeom prst="rect">
            <a:avLst/>
          </a:prstGeom>
          <a:noFill/>
          <a:ln>
            <a:solidFill>
              <a:srgbClr val="21212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80" y="5925312"/>
            <a:ext cx="274320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212121"/>
                </a:solidFill>
                <a:ea typeface="Microsoft JhengHei"/>
              </a:rPr>
              <a:t>虛線：目標架構（規劃中）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925312"/>
            <a:ext cx="5669280" cy="320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616161"/>
                </a:solidFill>
                <a:ea typeface="Microsoft JhengHei"/>
              </a:rPr>
              <a:t>[n]＝P15 參考文獻編號；取車基準＝上一位還車照＋簽名前異常照（ADR 0002）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4. AI 應用方法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P8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4. AI 應用方法｜為什麼選這些模型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430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1234440"/>
                <a:gridCol w="2148840"/>
                <a:gridCol w="2514600"/>
                <a:gridCol w="466344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層級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任務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採用方法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選用理由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依據論文（原始名稱）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① 手機端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照片品質與視角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輕量 CNN 品質評分＋視角分類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離線執行、1 秒內回饋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  <a:ea typeface="Microsoft JhengHei"/>
                        </a:rPr>
                        <a:t>[6] Predictive Quality Assessment for Mobile Secure Graphics (arXiv 2025)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  <a:ea typeface="Microsoft JhengHei"/>
                        </a:rPr>
                        <a:t>[7] An Open-Source Framework for Quality-Assured Smartphone-Based Visible Light Iris Recognition (arXiv 2025)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新車損歸責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特徵匹配對齊＋物件級變化偵測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容忍視角與光線差異，只對新增損傷預警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  <a:ea typeface="Microsoft JhengHei"/>
                        </a:rPr>
                        <a:t>[9] LightGlue: Local Feature Matching at Light Speed (ICCV 2023)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  <a:ea typeface="Microsoft JhengHei"/>
                        </a:rPr>
                        <a:t>[2] The Change You Want to See (WACV 2023)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② 比對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標註資料不足時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一張參考異常偵測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取車基準當正常樣本，不需大量標註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  <a:ea typeface="Microsoft JhengHei"/>
                        </a:rPr>
                        <a:t>[3] AnomalyGPT: Detecting Industrial Anomalies Using Large Vision-Language Models (AAAI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② 車損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車損類型與位置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分割模型預訓練後以 iRent 照片微調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公開資料集快速起步；小凹痕另行強化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  <a:ea typeface="Microsoft JhengHei"/>
                        </a:rPr>
                        <a:t>[1] CarDD: A New Dataset for Vision-based Car Damage Detection (IEEE T-ITS 2023)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  <a:ea typeface="Microsoft JhengHei"/>
                        </a:rPr>
                        <a:t>[8] Small Dents, Big Impact: A Dataset and Deep Learning Approach for Vehicle Dent Detection (arXiv 2025)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② 整潔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物品與污漬定位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車內物件偵測與定位＋開放詞彙偵測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垃圾、杯子、污漬類別多變，免重新標註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[5] Architecture for Determining the Cleanliness in Shared Vehicles Using an Integrated Machine Vision and Indoor Air Quality-Monitoring System (J. Big Data 2023)：遺留物準確率 89%／91%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  <a:ea typeface="Microsoft JhengHei"/>
                        </a:rPr>
                        <a:t>[11] Scalable Object Detection in the Car Interior With Vision Foundation Models (arXiv 2025)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  <a:ea typeface="Microsoft JhengHei"/>
                        </a:rPr>
                        <a:t>[12] Grounding DINO: Marrying DINO with Grounded Pre-Training for Open-Set Object Detection (ECCV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③ 報告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整潔分級與說明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Gemini 整理成結構化 scene graph（位置–物品–類型），規則聚合三級；遺留物另通知客服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[5] 將「離散整潔等級」列為未來工作；提示詞工程免標註；上線前壓力測試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[13] Enhancing Waste Recognition with Vision-Language Models: A Prompt Engineering Approach (Waste Management 2025)：零樣本 82.71% → 90.48%</a:t>
                      </a:r>
                    </a:p>
                    <a:p>
                      <a:r>
                        <a:rPr sz="900" b="0">
                          <a:solidFill>
                            <a:srgbClr val="212121"/>
                          </a:solidFill>
                          <a:ea typeface="Microsoft JhengHei"/>
                        </a:rPr>
                        <a:t>[14] Search-based Testing of Vision Language Models for In-Car Scene Understanding (arXiv 2026)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④ 把關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收費決策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人工確認對照證據；VLM 只作第二意見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VLM 定損能力弱、可能幻覺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212121"/>
                          </a:solidFill>
                          <a:ea typeface="Microsoft JhengHei"/>
                        </a:rPr>
                        <a:t>[4] Harnessing GPT-4V(ision) for Insurance: A Preliminary Exploration (arXiv 2024)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598932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lang="zh-TW" altLang="en-US">
                <a:solidFill>
                  <a:srgbClr val="616161"/>
                </a:solidFill>
                <a:ea typeface="Microsoft JhengHei"/>
              </a:rPr>
              <a:t>選型原則：能用公開資料集與預訓練模型起步、能在試點中用 iRent 照片持續改進、任何收費決策都保留人工確認。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4. AI 應用方法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P9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4. AI 應用方法｜MVP：三環節原型畫面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lang="zh-TW" altLang="en-US">
                <a:solidFill>
                  <a:srgbClr val="FFFFFF"/>
                </a:solidFill>
                <a:ea typeface="Microsoft JhengHei"/>
              </a:rPr>
              <a:t>環節一｜即時防呆（Demo）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" y="1563624"/>
            <a:ext cx="2201255" cy="4636008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5176" y="1517904"/>
            <a:ext cx="2201255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572768"/>
            <a:ext cx="2091527" cy="4526280"/>
          </a:xfrm>
          <a:prstGeom prst="rect">
            <a:avLst/>
          </a:prstGeom>
          <a:ln w="9525">
            <a:solidFill>
              <a:srgbClr val="E0E0E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5212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lang="zh-TW" altLang="en-US">
                <a:solidFill>
                  <a:srgbClr val="424242"/>
                </a:solidFill>
                <a:ea typeface="Microsoft JhengHei"/>
              </a:rPr>
              <a:t>拍照當下 AI 檢查</a:t>
            </a:r>
          </a:p>
          <a:p>
            <a:pPr algn="l">
              <a:spcAft>
                <a:spcPts val="200"/>
              </a:spcAft>
            </a:pPr>
            <a:r>
              <a:rPr sz="1100" b="0" lang="zh-TW" altLang="en-US">
                <a:solidFill>
                  <a:srgbClr val="212121"/>
                </a:solidFill>
                <a:ea typeface="Microsoft JhengHei"/>
              </a:rPr>
              <a:t>位置、模糊、過暗、車牌、角度、距離、畫面過髒</a:t>
            </a:r>
          </a:p>
          <a:p>
            <a:pPr algn="l">
              <a:spcAft>
                <a:spcPts val="200"/>
              </a:spcAft>
            </a:pPr>
            <a:r>
              <a:rPr sz="1100" b="0" lang="zh-TW" altLang="en-US">
                <a:solidFill>
                  <a:srgbClr val="212121"/>
                </a:solidFill>
                <a:ea typeface="Microsoft JhengHei"/>
              </a:rPr>
              <a:t>不合格即提示原因並引導重拍</a:t>
            </a:r>
          </a:p>
          <a:p>
            <a:pPr algn="l">
              <a:spcAft>
                <a:spcPts val="200"/>
              </a:spcAft>
            </a:pPr>
            <a:r>
              <a:rPr sz="1100" b="0" lang="zh-TW" altLang="en-US">
                <a:solidFill>
                  <a:srgbClr val="212121"/>
                </a:solidFill>
                <a:ea typeface="Microsoft JhengHei"/>
              </a:rPr>
              <a:t>依據 [6][7]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lang="zh-TW" altLang="en-US">
                <a:solidFill>
                  <a:srgbClr val="FFFFFF"/>
                </a:solidFill>
                <a:ea typeface="Microsoft JhengHei"/>
              </a:rPr>
              <a:t>環節二｜AI 車況辨識（Demo）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97096" y="1563624"/>
            <a:ext cx="2201255" cy="4636008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51376" y="1517904"/>
            <a:ext cx="2201255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t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572768"/>
            <a:ext cx="2091527" cy="4526280"/>
          </a:xfrm>
          <a:prstGeom prst="rect">
            <a:avLst/>
          </a:prstGeom>
          <a:ln w="9525">
            <a:solidFill>
              <a:srgbClr val="E0E0E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4074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lang="zh-TW" altLang="en-US">
                <a:solidFill>
                  <a:srgbClr val="E60012"/>
                </a:solidFill>
                <a:ea typeface="Microsoft JhengHei"/>
              </a:rPr>
              <a:t>車內整潔三級＋偵測框</a:t>
            </a:r>
          </a:p>
          <a:p>
            <a:pPr algn="l">
              <a:spcAft>
                <a:spcPts val="200"/>
              </a:spcAft>
            </a:pPr>
            <a:r>
              <a:rPr sz="1100" b="0" lang="zh-TW" altLang="en-US">
                <a:solidFill>
                  <a:srgbClr val="212121"/>
                </a:solidFill>
                <a:ea typeface="Microsoft JhengHei"/>
              </a:rPr>
              <a:t>髒汙即預警並暫停出租</a:t>
            </a:r>
          </a:p>
          <a:p>
            <a:pPr algn="l">
              <a:spcAft>
                <a:spcPts val="200"/>
              </a:spcAft>
            </a:pPr>
            <a:r>
              <a:rPr sz="1100" b="0" lang="zh-TW" altLang="en-US">
                <a:solidFill>
                  <a:srgbClr val="212121"/>
                </a:solidFill>
                <a:ea typeface="Microsoft JhengHei"/>
              </a:rPr>
              <a:t>遺留物另通知客服</a:t>
            </a:r>
          </a:p>
          <a:p>
            <a:pPr algn="l">
              <a:spcAft>
                <a:spcPts val="200"/>
              </a:spcAft>
            </a:pPr>
            <a:r>
              <a:rPr sz="1100" b="0" lang="zh-TW" altLang="en-US">
                <a:solidFill>
                  <a:srgbClr val="212121"/>
                </a:solidFill>
                <a:ea typeface="Microsoft JhengHei"/>
              </a:rPr>
              <a:t>取車基準 vs 還車照比對疑似新車損</a:t>
            </a:r>
          </a:p>
          <a:p>
            <a:pPr algn="l">
              <a:spcAft>
                <a:spcPts val="200"/>
              </a:spcAft>
            </a:pPr>
            <a:r>
              <a:rPr sz="1100" b="0" lang="zh-TW" altLang="en-US">
                <a:solidFill>
                  <a:srgbClr val="212121"/>
                </a:solidFill>
                <a:ea typeface="Microsoft JhengHei"/>
              </a:rPr>
              <a:t>待人工確認，不直接收費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B80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lang="zh-TW" altLang="en-US">
                <a:solidFill>
                  <a:srgbClr val="FFFFFF"/>
                </a:solidFill>
                <a:ea typeface="Microsoft JhengHei"/>
              </a:rPr>
              <a:t>環節三｜預警與調度（Mockup）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3296" y="1563624"/>
            <a:ext cx="2201255" cy="4636008"/>
          </a:xfrm>
          <a:prstGeom prst="rect">
            <a:avLst/>
          </a:prstGeom>
          <a:solidFill>
            <a:srgbClr val="D6D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37576" y="1517904"/>
            <a:ext cx="2201255" cy="4636008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tag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1572768"/>
            <a:ext cx="2091527" cy="4526280"/>
          </a:xfrm>
          <a:prstGeom prst="rect">
            <a:avLst/>
          </a:prstGeom>
          <a:ln w="9525">
            <a:solidFill>
              <a:srgbClr val="E0E0E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10293695" y="1691640"/>
            <a:ext cx="1502064" cy="2926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lang="zh-TW" altLang="en-US">
                <a:solidFill>
                  <a:srgbClr val="B8000E"/>
                </a:solidFill>
                <a:ea typeface="Microsoft JhengHei"/>
              </a:rPr>
              <a:t>異常預警推播客服與外勤</a:t>
            </a:r>
          </a:p>
          <a:p>
            <a:pPr algn="l">
              <a:spcAft>
                <a:spcPts val="200"/>
              </a:spcAft>
            </a:pPr>
            <a:r>
              <a:rPr sz="1100" b="0" lang="zh-TW" altLang="en-US">
                <a:solidFill>
                  <a:srgbClr val="212121"/>
                </a:solidFill>
                <a:ea typeface="Microsoft JhengHei"/>
              </a:rPr>
              <a:t>工單依嚴重度排序</a:t>
            </a:r>
          </a:p>
          <a:p>
            <a:pPr algn="l">
              <a:spcAft>
                <a:spcPts val="200"/>
              </a:spcAft>
            </a:pPr>
            <a:r>
              <a:rPr sz="1100" b="0" lang="zh-TW" altLang="en-US">
                <a:solidFill>
                  <a:srgbClr val="212121"/>
                </a:solidFill>
                <a:ea typeface="Microsoft JhengHei"/>
              </a:rPr>
              <a:t>暫停出租、派清潔、排整備、確認車損</a:t>
            </a:r>
          </a:p>
          <a:p>
            <a:pPr algn="l">
              <a:spcAft>
                <a:spcPts val="200"/>
              </a:spcAft>
            </a:pPr>
            <a:r>
              <a:rPr sz="1100" b="0" lang="zh-TW" altLang="en-US">
                <a:solidFill>
                  <a:srgbClr val="212121"/>
                </a:solidFill>
                <a:ea typeface="Microsoft JhengHei"/>
              </a:rPr>
              <a:t>無基準視角交人工判斷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172200"/>
            <a:ext cx="11521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lang="zh-TW" altLang="en-US">
                <a:solidFill>
                  <a:srgbClr val="616161"/>
                </a:solidFill>
                <a:ea typeface="Microsoft JhengHei"/>
              </a:rPr>
              <a:t>畫面為原型示意，介面風格參考 iRent App；Demo＝可實際操作，Mockup＝示意畫面；車牌與資料皆為虛構。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4. AI 應用方法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P10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5. 獨特優勢與差異化｜取還車比對＋AI 不單獨收費＝公平的車況歸責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567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240280"/>
                <a:gridCol w="2240280"/>
                <a:gridCol w="251460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比較項目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人工逐張看照片（現況）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單張 AI 車損偵測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AI 比對後自動收費（國外案例）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本案：車況接力 AI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能否分辨新舊車損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靠人工翻找上一位照片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不能，舊傷反覆預警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能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能：以取車基準比對（ADR 0002）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異常發現時間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人工看到才知道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即時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即時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還車後即時預警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審核人力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每張照片都要看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仍需人工判斷新舊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少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只複核 AI 標記的異常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用戶爭議風險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證據不一致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舊傷誤報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高：直接寄帳單引發客訴與調查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低：人工確認才收費，可申訴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證據透明度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低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中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低：申訴管道不清楚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高：用戶可查看對照證據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320040" y="411480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B80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93192" y="4169663"/>
            <a:ext cx="35570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lang="zh-TW" altLang="en-US">
                <a:solidFill>
                  <a:srgbClr val="B8000E"/>
                </a:solidFill>
                <a:ea typeface="Microsoft JhengHei"/>
              </a:rPr>
              <a:t>自動化現行實務</a:t>
            </a:r>
          </a:p>
          <a:p>
            <a:pPr algn="l">
              <a:spcAft>
                <a:spcPts val="200"/>
              </a:spcAft>
            </a:pPr>
            <a:r>
              <a:rPr sz="1200" b="0" lang="zh-TW" altLang="en-US">
                <a:solidFill>
                  <a:srgbClr val="212121"/>
                </a:solidFill>
                <a:ea typeface="Microsoft JhengHei"/>
              </a:rPr>
              <a:t>iRent 已以上一位用戶的照片歸責；本案把人工比對變成即時、可追溯的流程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411480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B80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279392" y="4169663"/>
            <a:ext cx="35570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lang="zh-TW" altLang="en-US">
                <a:solidFill>
                  <a:srgbClr val="B8000E"/>
                </a:solidFill>
                <a:ea typeface="Microsoft JhengHei"/>
              </a:rPr>
              <a:t>先證據、後結論</a:t>
            </a:r>
          </a:p>
          <a:p>
            <a:pPr algn="l">
              <a:spcAft>
                <a:spcPts val="200"/>
              </a:spcAft>
            </a:pPr>
            <a:r>
              <a:rPr sz="1200" b="0" lang="zh-TW" altLang="en-US">
                <a:solidFill>
                  <a:srgbClr val="212121"/>
                </a:solidFill>
                <a:ea typeface="Microsoft JhengHei"/>
              </a:rPr>
              <a:t>Gemini 只整理 scene graph，規則決定等級；每個判斷都對得回照片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4114800"/>
            <a:ext cx="3703320" cy="11887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B80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65592" y="4169663"/>
            <a:ext cx="3557015" cy="10789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lang="zh-TW" altLang="en-US">
                <a:solidFill>
                  <a:srgbClr val="B8000E"/>
                </a:solidFill>
                <a:ea typeface="Microsoft JhengHei"/>
              </a:rPr>
              <a:t>人在迴路</a:t>
            </a:r>
          </a:p>
          <a:p>
            <a:pPr algn="l">
              <a:spcAft>
                <a:spcPts val="200"/>
              </a:spcAft>
            </a:pPr>
            <a:r>
              <a:rPr sz="1200" b="0" lang="zh-TW" altLang="en-US">
                <a:solidFill>
                  <a:srgbClr val="212121"/>
                </a:solidFill>
                <a:ea typeface="Microsoft JhengHei"/>
              </a:rPr>
              <a:t>AI 只建立工單；收費前一律人工確認對照證據，用戶可在 App 申訴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5486400"/>
            <a:ext cx="115214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616161"/>
                </a:solidFill>
                <a:ea typeface="Microsoft JhengHei"/>
              </a:rPr>
              <a:t>國外案例：租車業者以 AI 掃描比對後直接寄送車損帳單，引發大量客訴、律所調查與國會質詢（媒體報導，見 P15）。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5. 獨特優勢與差異化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P11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5. 獨特優勢與差異化｜車況接力：讓用戶成為車況的守護者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9319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lang="zh-TW" altLang="en-US">
                <a:solidFill>
                  <a:srgbClr val="E60012"/>
                </a:solidFill>
                <a:ea typeface="Microsoft JhengHei"/>
              </a:rPr>
              <a:t>1 還車即基準</a:t>
            </a:r>
          </a:p>
          <a:p>
            <a:pPr algn="l">
              <a:spcAft>
                <a:spcPts val="200"/>
              </a:spcAft>
            </a:pPr>
            <a:r>
              <a:rPr sz="1200" b="0" lang="zh-TW" altLang="en-US">
                <a:solidFill>
                  <a:srgbClr val="212121"/>
                </a:solidFill>
                <a:ea typeface="Microsoft JhengHei"/>
              </a:rPr>
              <a:t>上一位用戶還車時經 AI 即時防呆，照片品質合格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99232" y="1783080"/>
            <a:ext cx="219456" cy="29260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4612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31927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lang="zh-TW" altLang="en-US">
                <a:solidFill>
                  <a:srgbClr val="E60012"/>
                </a:solidFill>
                <a:ea typeface="Microsoft JhengHei"/>
              </a:rPr>
              <a:t>2 取車確認</a:t>
            </a:r>
          </a:p>
          <a:p>
            <a:pPr algn="l">
              <a:spcAft>
                <a:spcPts val="200"/>
              </a:spcAft>
            </a:pPr>
            <a:r>
              <a:rPr sz="1200" b="0" lang="zh-TW" altLang="en-US">
                <a:solidFill>
                  <a:srgbClr val="212121"/>
                </a:solidFill>
                <a:ea typeface="Microsoft JhengHei"/>
              </a:rPr>
              <a:t>AI 挑出差異最大的 2–3 張，請本次用戶點「一致」或拍下不同處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25312" y="1783080"/>
            <a:ext cx="219456" cy="29260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4535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lang="zh-TW" altLang="en-US">
                <a:solidFill>
                  <a:srgbClr val="E60012"/>
                </a:solidFill>
                <a:ea typeface="Microsoft JhengHei"/>
              </a:rPr>
              <a:t>3 簽名前回報</a:t>
            </a:r>
          </a:p>
          <a:p>
            <a:pPr algn="l">
              <a:spcAft>
                <a:spcPts val="200"/>
              </a:spcAft>
            </a:pPr>
            <a:r>
              <a:rPr sz="1200" b="0" lang="zh-TW" altLang="en-US">
                <a:solidFill>
                  <a:srgbClr val="212121"/>
                </a:solidFill>
                <a:ea typeface="Microsoft JhengHei"/>
              </a:rPr>
              <a:t>簽名前回報的差異歸為停放期間損傷，不歸責任何用戶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51392" y="1783080"/>
            <a:ext cx="219456" cy="29260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98280" y="1280160"/>
            <a:ext cx="2651760" cy="132588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71432" y="1335024"/>
            <a:ext cx="2505456" cy="121615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lang="zh-TW" altLang="en-US">
                <a:solidFill>
                  <a:srgbClr val="E60012"/>
                </a:solidFill>
                <a:ea typeface="Microsoft JhengHei"/>
              </a:rPr>
              <a:t>4 確認後獎勵</a:t>
            </a:r>
          </a:p>
          <a:p>
            <a:pPr algn="l">
              <a:spcAft>
                <a:spcPts val="200"/>
              </a:spcAft>
            </a:pPr>
            <a:r>
              <a:rPr sz="1200" b="0" lang="zh-TW" altLang="en-US">
                <a:solidFill>
                  <a:srgbClr val="212121"/>
                </a:solidFill>
                <a:ea typeface="Microsoft JhengHei"/>
              </a:rPr>
              <a:t>AI＋人工確認屬實，回報者獲和泰 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2834640"/>
            <a:ext cx="5669280" cy="25146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B80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93192" y="2889504"/>
            <a:ext cx="5522976" cy="2404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lang="zh-TW" altLang="en-US">
                <a:solidFill>
                  <a:srgbClr val="B8000E"/>
                </a:solidFill>
                <a:ea typeface="Microsoft JhengHei"/>
              </a:rPr>
              <a:t>防弊機制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只獎勵經 AI 與人工確認屬實的回報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同一車次只獎勵第一位回報者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異常頻繁回報的帳號列入觀察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上一手責任依既有清潔費規則處理，同樣不由 AI 單獨收費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點數額度與 iRent 共同訂定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834640"/>
            <a:ext cx="5669280" cy="2514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45352" y="2889504"/>
            <a:ext cx="5522976" cy="2404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lang="zh-TW" altLang="en-US">
                <a:solidFill>
                  <a:srgbClr val="757575"/>
                </a:solidFill>
                <a:ea typeface="Microsoft JhengHei"/>
              </a:rPr>
              <a:t>難以複製的優勢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資料鏈：每一次還車照都成為下一次的取車基準，200 萬會員的車況紀錄越用越完整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研究空白：文獻 [5] 將「離散整潔等級」列為未來工作，本案以 scene graph＋規則補上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延伸服務：遺留物自動通知客服聯繫上一位用戶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沿用現有入口：車況檢視、車況回報、點我回報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577840"/>
            <a:ext cx="1152144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lang="zh-TW" altLang="en-US">
                <a:solidFill>
                  <a:srgbClr val="212121"/>
                </a:solidFill>
                <a:ea typeface="Microsoft JhengHei"/>
              </a:rPr>
              <a:t>用戶從「被檢查的人」變成「車況的守護者」：誠實回報有獎勵，也不必擔心替上一手背責任。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5. 獨特優勢與差異化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P12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6. 預期效益與落地評估｜五項指標，可在試點中驗證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88720"/>
            <a:ext cx="3703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lang="zh-TW" altLang="en-US">
                <a:solidFill>
                  <a:srgbClr val="B8000E"/>
                </a:solidFill>
                <a:ea typeface="Microsoft JhengHei"/>
              </a:rPr>
              <a:t>200 萬+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783080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lang="zh-TW" altLang="en-US">
                <a:solidFill>
                  <a:srgbClr val="616161"/>
                </a:solidFill>
                <a:ea typeface="Microsoft JhengHei"/>
              </a:rPr>
              <a:t>iRent 會員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188720"/>
            <a:ext cx="3703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lang="zh-TW" altLang="en-US">
                <a:solidFill>
                  <a:srgbClr val="B8000E"/>
                </a:solidFill>
                <a:ea typeface="Microsoft JhengHei"/>
              </a:rPr>
              <a:t>2,000 萬+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783080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lang="zh-TW" altLang="en-US">
                <a:solidFill>
                  <a:srgbClr val="616161"/>
                </a:solidFill>
                <a:ea typeface="Microsoft JhengHei"/>
              </a:rPr>
              <a:t>累積租借次數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188720"/>
            <a:ext cx="370332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 lang="zh-TW" altLang="en-US">
                <a:solidFill>
                  <a:srgbClr val="B8000E"/>
                </a:solidFill>
                <a:ea typeface="Microsoft JhengHei"/>
              </a:rPr>
              <a:t>約 2,000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783080"/>
            <a:ext cx="37033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 lang="zh-TW" altLang="en-US">
                <a:solidFill>
                  <a:srgbClr val="616161"/>
                </a:solidFill>
                <a:ea typeface="Microsoft JhengHei"/>
              </a:rPr>
              <a:t>租還據點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2331720"/>
          <a:ext cx="115671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91840"/>
                <a:gridCol w="2011680"/>
                <a:gridCol w="2651760"/>
                <a:gridCol w="1783080"/>
              </a:tblGrid>
              <a:tr h="502920"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指標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定義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現況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試點目標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量測方式</a:t>
                      </a:r>
                    </a:p>
                  </a:txBody>
                  <a:tcPr marL="54864" marR="54864" anchor="ctr">
                    <a:solidFill>
                      <a:srgbClr val="21212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人工審照片工時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營運人員每日檢視照片的工時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減少 60–80%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後台工時紀錄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異常攔截時間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還車到發出異常預警的時間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人工看到才知道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還車後 5 分鐘內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系統時間戳記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照片一次合格率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上傳照片不需補拍的比例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明顯提升，後台補件趨近於零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防呆紀錄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髒車客訴數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每月「接到髒車」客訴件數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減少 50%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客服案件分類</a:t>
                      </a:r>
                    </a:p>
                  </a:txBody>
                  <a:tcPr marL="54864" marR="54864"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車損爭議案件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每月車損責任爭議與申訴件數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待 iRent 提供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減少 50%</a:t>
                      </a:r>
                    </a:p>
                  </a:txBody>
                  <a:tcPr marL="54864" marR="54864" anchor="ctr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申訴紀錄</a:t>
                      </a:r>
                    </a:p>
                  </a:txBody>
                  <a:tcPr marL="54864" marR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5486400"/>
            <a:ext cx="115214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lang="zh-TW" altLang="en-US">
                <a:solidFill>
                  <a:srgbClr val="616161"/>
                </a:solidFill>
                <a:ea typeface="Microsoft JhengHei"/>
              </a:rPr>
              <a:t>規模數字來自媒體報導；試點目標為團隊推估，將在試點期以實際數據校準。</a:t>
            </a:r>
          </a:p>
          <a:p>
            <a:pPr algn="l">
              <a:spcAft>
                <a:spcPts val="200"/>
              </a:spcAft>
            </a:pPr>
            <a:r>
              <a:rPr sz="1200" b="1" lang="zh-TW" altLang="en-US">
                <a:solidFill>
                  <a:srgbClr val="212121"/>
                </a:solidFill>
                <a:ea typeface="Microsoft JhengHei"/>
              </a:rPr>
              <a:t>每次還車照片在上傳當下即被看懂，營運人員只需處理 AI 標記的少數異常。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6. 預期效益與落地評估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P13 /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6. 預期效益與落地評估｜三階段導入，先從一個城市試點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lang="zh-TW" altLang="en-US">
                <a:solidFill>
                  <a:srgbClr val="FFFFFF"/>
                </a:solidFill>
                <a:ea typeface="Microsoft JhengHei"/>
              </a:rPr>
              <a:t>階段一｜試點（3 個月）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554480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EEEEEE"/>
          </a:solidFill>
          <a:ln w="25400">
            <a:solidFill>
              <a:srgbClr val="4242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93192" y="1609344"/>
            <a:ext cx="3557015" cy="17647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lang="zh-TW" altLang="en-US">
                <a:solidFill>
                  <a:srgbClr val="424242"/>
                </a:solidFill>
                <a:ea typeface="Microsoft JhengHei"/>
              </a:rPr>
              <a:t>範圍：單一城市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還車照即時防呆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車內整潔判讀＋遺留物通知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營運工單與預警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人工並行複核，累積標註資料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41648" y="2377440"/>
            <a:ext cx="146304" cy="292608"/>
          </a:xfrm>
          <a:prstGeom prst="right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062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lang="zh-TW" altLang="en-US">
                <a:solidFill>
                  <a:srgbClr val="FFFFFF"/>
                </a:solidFill>
                <a:ea typeface="Microsoft JhengHei"/>
              </a:rPr>
              <a:t>階段二｜擴大（6 個月）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554480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279392" y="1609344"/>
            <a:ext cx="3557015" cy="17647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lang="zh-TW" altLang="en-US">
                <a:solidFill>
                  <a:srgbClr val="E60012"/>
                </a:solidFill>
                <a:ea typeface="Microsoft JhengHei"/>
              </a:rPr>
              <a:t>範圍：多城市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取車基準確認流程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取還車比對疑似新車損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以 iRent 照片微調車損與比對模型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27848" y="2377440"/>
            <a:ext cx="146304" cy="292608"/>
          </a:xfrm>
          <a:prstGeom prst="rightArrow">
            <a:avLst/>
          </a:prstGeom>
          <a:solidFill>
            <a:srgbClr val="E60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2440" y="1188720"/>
            <a:ext cx="3703320" cy="274320"/>
          </a:xfrm>
          <a:prstGeom prst="roundRect">
            <a:avLst>
              <a:gd name="adj" fmla="val 50000"/>
            </a:avLst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188720"/>
            <a:ext cx="3703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lang="zh-TW" altLang="en-US">
                <a:solidFill>
                  <a:srgbClr val="FFFFFF"/>
                </a:solidFill>
                <a:ea typeface="Microsoft JhengHei"/>
              </a:rPr>
              <a:t>階段三｜全面（12 個月）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54480"/>
            <a:ext cx="3703320" cy="1874519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65592" y="1609344"/>
            <a:ext cx="3557015" cy="17647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lang="zh-TW" altLang="en-US">
                <a:solidFill>
                  <a:srgbClr val="757575"/>
                </a:solidFill>
                <a:ea typeface="Microsoft JhengHei"/>
              </a:rPr>
              <a:t>範圍：全台車隊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車況接力點數與防弊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持續學習與模型監控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評估加裝空氣品質感測器偵測異味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3611880"/>
            <a:ext cx="5669280" cy="22860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93192" y="3666744"/>
            <a:ext cx="5522976" cy="21762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lang="zh-TW" altLang="en-US">
                <a:solidFill>
                  <a:srgbClr val="212121"/>
                </a:solidFill>
                <a:ea typeface="Microsoft JhengHei"/>
              </a:rPr>
              <a:t>資源需求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App：功能掛在既有「車況檢視／車況回報／點我回報」入口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雲端：Gemini API 與模型推論服務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人力：試點期營運複核與資料標註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成本估算：每次還車照片數 × 每張判讀成本；手機端先擋下不合格照片，減少雲端呼叫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611880"/>
            <a:ext cx="5669280" cy="22860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B80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45352" y="3666744"/>
            <a:ext cx="5522976" cy="21762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lang="zh-TW" altLang="en-US">
                <a:solidFill>
                  <a:srgbClr val="B8000E"/>
                </a:solidFill>
                <a:ea typeface="Microsoft JhengHei"/>
              </a:rPr>
              <a:t>風險與對策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誤判：收費前一律人工確認，用戶可申訴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隱私：上傳前遮蔽人臉與證件，照片只用於車況判斷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VLM 幻覺：先列證據再分級，上線前做壓力測試 [14]</a:t>
            </a:r>
          </a:p>
          <a:p>
            <a:pPr algn="l">
              <a:spcAft>
                <a:spcPts val="200"/>
              </a:spcAft>
            </a:pPr>
            <a:r>
              <a:rPr sz="1250" b="0" lang="zh-TW" altLang="en-US">
                <a:solidFill>
                  <a:srgbClr val="212121"/>
                </a:solidFill>
                <a:ea typeface="Microsoft JhengHei"/>
              </a:rPr>
              <a:t>資料規範：解題資料不外流，demo 僅用公開或自拍照片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6. 預期效益與落地評估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P14 /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7. 補充資料｜參考文獻與原型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1188720"/>
            <a:ext cx="76809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lang="zh-TW" altLang="en-US">
                <a:solidFill>
                  <a:srgbClr val="212121"/>
                </a:solidFill>
                <a:ea typeface="Microsoft JhengHei"/>
              </a:rPr>
              <a:t>參考文獻（編號對應 P8、P9）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554480"/>
            <a:ext cx="7680960" cy="4663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  <a:ea typeface="Microsoft JhengHei"/>
              </a:rPr>
              <a:t>[1] Wang et al. CarDD: A New Dataset for Vision-based Car Damage Detection. IEEE T-ITS,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  <a:ea typeface="Microsoft JhengHei"/>
              </a:rPr>
              <a:t>[2] Sachdeva &amp; Zisserman. The Change You Want to See. WACV,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  <a:ea typeface="Microsoft JhengHei"/>
              </a:rPr>
              <a:t>[3] Gu et al. AnomalyGPT: Detecting Industrial Anomalies Using Large Vision-Language Models. AAAI, 2024.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  <a:ea typeface="Microsoft JhengHei"/>
              </a:rPr>
              <a:t>[4] Lin et al. Harnessing GPT-4V(ision) for Insurance: A Preliminary Exploration. arXiv, 2024.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  <a:ea typeface="Microsoft JhengHei"/>
              </a:rPr>
              <a:t>[5] Architecture for Determining the Cleanliness in Shared Vehicles Using an Integrated Machine Vision and Indoor Air Quality-Monitoring System. J. Big Data,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  <a:ea typeface="Microsoft JhengHei"/>
              </a:rPr>
              <a:t>[6] Steigstra et al. Predictive Quality Assessment for Mobile Secure Graphics.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  <a:ea typeface="Microsoft JhengHei"/>
              </a:rPr>
              <a:t>[7] Venkataswamy et al. An Open-Source Framework for Quality-Assured Smartphone-Based Visible Light Iris Recognition.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  <a:ea typeface="Microsoft JhengHei"/>
              </a:rPr>
              <a:t>[8] Baig et al. Small Dents, Big Impact: A Dataset and Deep Learning Approach for Vehicle Dent Detection.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  <a:ea typeface="Microsoft JhengHei"/>
              </a:rPr>
              <a:t>[9] Lindenberger et al. LightGlue: Local Feature Matching at Light Speed. ICCV, 2023.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  <a:ea typeface="Microsoft JhengHei"/>
              </a:rPr>
              <a:t>[10] Classification of Trash and Valuables with Machine Vision in Shared Cars. Applied Sciences, 2022.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  <a:ea typeface="Microsoft JhengHei"/>
              </a:rPr>
              <a:t>[11] Schmidt et al. Scalable Object Detection in the Car Interior With Vision Foundation Models. arXiv,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  <a:ea typeface="Microsoft JhengHei"/>
              </a:rPr>
              <a:t>[12] Liu et al. Grounding DINO: Marrying DINO with Grounded Pre-Training for Open-Set Object Detection. ECCV, 2024.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  <a:ea typeface="Microsoft JhengHei"/>
              </a:rPr>
              <a:t>[13] Malla, Bazli &amp; Arashpour. Enhancing Waste Recognition with Vision-Language Models: A Prompt Engineering Approach. Waste Management, 2025.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12121"/>
                </a:solidFill>
                <a:ea typeface="Microsoft JhengHei"/>
              </a:rPr>
              <a:t>[14] Sorokin et al. Search-based Testing of Vision Language Models for In-Car Scene Understanding. arXiv, 2026.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188720"/>
            <a:ext cx="3611880" cy="251460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 w="25400">
            <a:solidFill>
              <a:srgbClr val="2121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302752" y="1243584"/>
            <a:ext cx="3465576" cy="24048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lang="zh-TW" altLang="en-US">
                <a:solidFill>
                  <a:srgbClr val="212121"/>
                </a:solidFill>
                <a:ea typeface="Microsoft JhengHei"/>
              </a:rPr>
              <a:t>其他資料來源</a:t>
            </a:r>
          </a:p>
          <a:p>
            <a:pPr algn="l">
              <a:spcAft>
                <a:spcPts val="200"/>
              </a:spcAft>
            </a:pPr>
            <a:r>
              <a:rPr sz="1150" b="0" lang="zh-TW" altLang="en-US">
                <a:solidFill>
                  <a:srgbClr val="212121"/>
                </a:solidFill>
                <a:ea typeface="Microsoft JhengHei"/>
              </a:rPr>
              <a:t>iRent 小學堂「取車認證」「付款還車」與官網「租車說明」（2026/10 擷取）</a:t>
            </a:r>
          </a:p>
          <a:p>
            <a:pPr algn="l">
              <a:spcAft>
                <a:spcPts val="200"/>
              </a:spcAft>
            </a:pPr>
            <a:r>
              <a:rPr sz="1150" b="0" lang="zh-TW" altLang="en-US">
                <a:solidFill>
                  <a:srgbClr val="212121"/>
                </a:solidFill>
                <a:ea typeface="Microsoft JhengHei"/>
              </a:rPr>
              <a:t>iRent 規模：天下雜誌、TVBS 車勢、工商時報報導</a:t>
            </a:r>
          </a:p>
          <a:p>
            <a:pPr algn="l">
              <a:spcAft>
                <a:spcPts val="200"/>
              </a:spcAft>
            </a:pPr>
            <a:r>
              <a:rPr sz="1150" b="0" lang="zh-TW" altLang="en-US">
                <a:solidFill>
                  <a:srgbClr val="212121"/>
                </a:solidFill>
                <a:ea typeface="Microsoft JhengHei"/>
              </a:rPr>
              <a:t>取車未拍照遭認定車損案例：TVBS 車勢報導</a:t>
            </a:r>
          </a:p>
          <a:p>
            <a:pPr algn="l">
              <a:spcAft>
                <a:spcPts val="200"/>
              </a:spcAft>
            </a:pPr>
            <a:r>
              <a:rPr sz="1150" b="0" lang="zh-TW" altLang="en-US">
                <a:solidFill>
                  <a:srgbClr val="212121"/>
                </a:solidFill>
                <a:ea typeface="Microsoft JhengHei"/>
              </a:rPr>
              <a:t>iRent 還車前車內拍照功能：旺得富報導</a:t>
            </a:r>
          </a:p>
          <a:p>
            <a:pPr algn="l">
              <a:spcAft>
                <a:spcPts val="200"/>
              </a:spcAft>
            </a:pPr>
            <a:r>
              <a:rPr sz="1150" b="0" lang="zh-TW" altLang="en-US">
                <a:solidFill>
                  <a:srgbClr val="212121"/>
                </a:solidFill>
                <a:ea typeface="Microsoft JhengHei"/>
              </a:rPr>
              <a:t>國外 AI 車損帳單爭議：The Autopian、SAN 報導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3886200"/>
            <a:ext cx="3611880" cy="21031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E600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302752" y="3941063"/>
            <a:ext cx="3465576" cy="1993391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lang="zh-TW" altLang="en-US">
                <a:solidFill>
                  <a:srgbClr val="E60012"/>
                </a:solidFill>
                <a:ea typeface="Microsoft JhengHei"/>
              </a:rPr>
              <a:t>原型與程式碼</a:t>
            </a:r>
          </a:p>
          <a:p>
            <a:pPr algn="l">
              <a:spcAft>
                <a:spcPts val="200"/>
              </a:spcAft>
            </a:pPr>
            <a:r>
              <a:rPr sz="1150" b="0" lang="zh-TW" altLang="en-US">
                <a:solidFill>
                  <a:srgbClr val="212121"/>
                </a:solidFill>
                <a:ea typeface="Microsoft JhengHei"/>
              </a:rPr>
              <a:t>三環節原型畫面：見 P10</a:t>
            </a:r>
          </a:p>
          <a:p>
            <a:pPr algn="l">
              <a:spcAft>
                <a:spcPts val="200"/>
              </a:spcAft>
            </a:pPr>
            <a:r>
              <a:rPr sz="1150" b="0" lang="zh-TW" altLang="en-US">
                <a:solidFill>
                  <a:srgbClr val="212121"/>
                </a:solidFill>
                <a:ea typeface="Microsoft JhengHei"/>
              </a:rPr>
              <a:t>Demo：Gemini 照片品質檢查與車內整潔判讀</a:t>
            </a:r>
          </a:p>
          <a:p>
            <a:pPr algn="l">
              <a:spcAft>
                <a:spcPts val="200"/>
              </a:spcAft>
            </a:pPr>
            <a:r>
              <a:rPr sz="1150" b="0" lang="zh-TW" altLang="en-US">
                <a:solidFill>
                  <a:srgbClr val="212121"/>
                </a:solidFill>
                <a:ea typeface="Microsoft JhengHei"/>
              </a:rPr>
              <a:t>GitHub：公開 repo（建置中，僅含 demo 程式碼，不含解題資料）</a:t>
            </a:r>
          </a:p>
          <a:p>
            <a:pPr algn="l">
              <a:spcAft>
                <a:spcPts val="200"/>
              </a:spcAft>
            </a:pPr>
            <a:r>
              <a:rPr sz="1150" b="0" lang="zh-TW" altLang="en-US">
                <a:solidFill>
                  <a:srgbClr val="212121"/>
                </a:solidFill>
                <a:ea typeface="Microsoft JhengHei"/>
              </a:rPr>
              <a:t>需求對照：見附錄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7. 補充資料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>
                <a:solidFill>
                  <a:srgbClr val="757575"/>
                </a:solidFill>
                <a:ea typeface="Microsoft JhengHei"/>
              </a:rPr>
              <a:t>P15 / 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74320"/>
            <a:ext cx="11430000" cy="822960"/>
          </a:xfrm>
        </p:spPr>
        <p:txBody>
          <a:bodyPr/>
          <a:lstStyle/>
          <a:p>
            <a:r>
              <a:rPr sz="2600" lang="zh-TW" altLang="en-US">
                <a:solidFill>
                  <a:srgbClr val="FFFFFF"/>
                </a:solidFill>
                <a:ea typeface="Microsoft JhengHei"/>
              </a:rPr>
              <a:t>附錄｜題目需求對照表（不計入 15 頁）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52144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5760720"/>
                <a:gridCol w="1554480"/>
              </a:tblGrid>
              <a:tr h="566928">
                <a:tc>
                  <a:txBody>
                    <a:bodyPr/>
                    <a:lstStyle/>
                    <a:p>
                      <a:r>
                        <a:rPr sz="120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題目要求</a:t>
                      </a:r>
                    </a:p>
                  </a:txBody>
                  <a:tcPr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對應設計</a:t>
                      </a:r>
                    </a:p>
                  </a:txBody>
                  <a:tcPr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lang="zh-TW" altLang="en-US">
                          <a:solidFill>
                            <a:srgbClr val="FFFFFF"/>
                          </a:solidFill>
                          <a:ea typeface="Microsoft JhengHei"/>
                        </a:rPr>
                        <a:t>頁面</a:t>
                      </a:r>
                    </a:p>
                  </a:txBody>
                  <a:tcPr anchor="ctr">
                    <a:solidFill>
                      <a:srgbClr val="21212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環節一：上傳當下判斷照片品質（位置、模糊、車牌、角度、太遠太近、太髒）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手機端即時防呆：視角分類、模糊／過暗、車牌入鏡、距離、畫面過髒；1 秒內提示重拍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P5、P8、P10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環節二.1：辨識本次租車產生的新車損並預警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以取車基準與還車照做變化比對，只對新增損傷預警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P6、P8、P9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環節二.2：車內整潔分類為髒汙／普通／乾淨，髒汙即預警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整潔三級定義＋遺留物偵測＋Gemini 評分規則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P6、P8、P10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環節二.3：異常時具備後台預警與通知機制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異常預警即時通知後台儀表板、客服、外勤 App，工單依嚴重度排序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P7、P8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環節三：客服及營運即時得知車況，安排整備與清潔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髒汙暫停出租並排清潔；車損排整備；客服即時查車況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P7、P8、P10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題目敘述：提醒用戶完成正確拍攝與回報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即時防呆引導重拍；取車時確認或補拍異常（車況接力）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P5、P12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鼓勵：創新服務流程與用戶體驗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車況接力、AI 不單獨收費與申訴機制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lang="zh-TW" altLang="en-US">
                          <a:solidFill>
                            <a:srgbClr val="212121"/>
                          </a:solidFill>
                          <a:ea typeface="Microsoft JhengHei"/>
                        </a:rPr>
                        <a:t>P11、P12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優還｜iRent 車況接力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70248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附錄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65592" y="6528816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800" lang="zh-TW" altLang="en-US">
                <a:solidFill>
                  <a:srgbClr val="757575"/>
                </a:solidFill>
                <a:ea typeface="Microsoft JhengHei"/>
              </a:rPr>
              <a:t>附錄（不計入 15 頁）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60012"/>
      </a:accent1>
      <a:accent2>
        <a:srgbClr val="424242"/>
      </a:accent2>
      <a:accent3>
        <a:srgbClr val="A5A5A5"/>
      </a:accent3>
      <a:accent4>
        <a:srgbClr val="FFC000"/>
      </a:accent4>
      <a:accent5>
        <a:srgbClr val="F76A65"/>
      </a:accent5>
      <a:accent6>
        <a:srgbClr val="70AD47"/>
      </a:accent6>
      <a:hlink>
        <a:srgbClr val="B8000E"/>
      </a:hlink>
      <a:folHlink>
        <a:srgbClr val="954F72"/>
      </a:folHlink>
    </a:clrScheme>
    <a:fontScheme name="Office">
      <a:majorFont>
        <a:latin typeface="Arial"/>
        <a:ea typeface="Microsoft JhengHei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JhengHei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