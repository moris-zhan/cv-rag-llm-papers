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P1｜1. 提案概述</a:t>
            </a:r>
          </a:p>
          <a:p>
            <a:r>
              <a:t>主訊息：讓每一張取還車照片都被 AI 即時看懂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P2｜2. 目標對象與痛點</a:t>
            </a:r>
          </a:p>
          <a:p>
            <a:r>
              <a:t>主訊息：200 萬會員的照片，正由人工逐張檢查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P3｜2. 目標對象與痛點</a:t>
            </a:r>
          </a:p>
          <a:p>
            <a:r>
              <a:t>主訊息：兩位 Persona，同一個問題：照片沒被及時看懂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P4｜2. 目標對象與痛點</a:t>
            </a:r>
          </a:p>
          <a:p>
            <a:r>
              <a:t>主訊息：新車損的難題是「歸責」，不是「偵測」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P5｜3. 解決方案設計</a:t>
            </a:r>
          </a:p>
          <a:p>
            <a:r>
              <a:t>主訊息：環節一：拍照當下就防呆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P6｜3. 解決方案設計</a:t>
            </a:r>
          </a:p>
          <a:p>
            <a:r>
              <a:t>主訊息：環節二：AI 只對「這次」的問題預警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P7｜3. 解決方案設計</a:t>
            </a:r>
          </a:p>
          <a:p>
            <a:r>
              <a:t>主訊息：環節三：預警即派工，下一位不會接到髒車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P11｜5. 獨特優勢與差異化</a:t>
            </a:r>
          </a:p>
          <a:p>
            <a:r>
              <a:t>主訊息：取還車比對＋AI 不單獨收費＝公平的車況歸責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P12｜5. 獨特優勢與差異化</a:t>
            </a:r>
          </a:p>
          <a:p>
            <a:r>
              <a:t>主訊息：車況接力：讓用戶成為車況的守護者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P13｜6. 預期效益與落地評估</a:t>
            </a:r>
          </a:p>
          <a:p>
            <a:r>
              <a:t>主訊息：五項指標，可在試點中驗證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P14｜6. 預期效益與落地評估</a:t>
            </a:r>
          </a:p>
          <a:p>
            <a:r>
              <a:t>主訊息：三階段導入，先從一個城市試點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P15｜7. 補充資料</a:t>
            </a:r>
          </a:p>
          <a:p>
            <a:r>
              <a:t>主訊息：參考文獻與原型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團隊：（待會議決定）｜2026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（待會議決定）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【內容】產品名稱、標語、一句話主張</a:t>
            </a:r>
          </a:p>
          <a:p>
            <a:r>
              <a:rPr sz="1600"/>
              <a:t>【視覺】三環節＋車況接力的一張總覽圖</a:t>
            </a:r>
          </a:p>
          <a:p>
            <a:r>
              <a:rPr sz="1600"/>
              <a:t>【證據／引用】—</a:t>
            </a:r>
          </a:p>
          <a:p>
            <a:r>
              <a:rPr sz="1600"/>
              <a:t>【負責】D｜依賴議題：10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目標對象與痛點｜200 萬會員的照片，正由人工逐張檢查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【內容】iRent 規模（會員 200 萬+、累積 2,000 萬+ 次租借、約 2,000 據點）；現行取還車拍照流程</a:t>
            </a:r>
          </a:p>
          <a:p>
            <a:r>
              <a:rPr sz="1600"/>
              <a:t>【視覺】流程圖標出人工瓶頸</a:t>
            </a:r>
          </a:p>
          <a:p>
            <a:r>
              <a:rPr sz="1600"/>
              <a:t>【證據／引用】媒體報導；解題資源流程圖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目標對象與痛點｜兩位 Persona，同一個問題：照片沒被及時看懂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【內容】通勤族用戶（地下停車場、怕被誤判）vs. 審核／整備人員（看不完、發現太晚），各 3 個痛點</a:t>
            </a:r>
          </a:p>
          <a:p>
            <a:r>
              <a:rPr sz="1600"/>
              <a:t>【視覺】雙 Persona 卡片</a:t>
            </a:r>
          </a:p>
          <a:p>
            <a:r>
              <a:rPr sz="1600"/>
              <a:t>【證據／引用】App 評論截圖（會前 P3 蒐集）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目標對象與痛點｜新車損的難題是「歸責」，不是「偵測」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【內容】用戶取車未拍照被認定車損的案例；Hertz AI 自動收費引發爭議</a:t>
            </a:r>
          </a:p>
          <a:p>
            <a:r>
              <a:rPr sz="1600"/>
              <a:t>【視覺】案例對照圖</a:t>
            </a:r>
          </a:p>
          <a:p>
            <a:r>
              <a:rPr sz="1600"/>
              <a:t>【證據／引用】TVBS 報導；Hertz × UVeye 報導</a:t>
            </a:r>
          </a:p>
          <a:p>
            <a:r>
              <a:rPr sz="1600"/>
              <a:t>【負責】C、D｜依賴議題：4、7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【內容】必拍清單；即時提示（太暗請開閃光燈、未拍到車牌、角度不對、模糊、距離）</a:t>
            </a:r>
          </a:p>
          <a:p>
            <a:r>
              <a:rPr sz="1600"/>
              <a:t>【視覺】App 取景畫面 mockup</a:t>
            </a:r>
          </a:p>
          <a:p>
            <a:r>
              <a:rPr sz="1600"/>
              <a:t>【證據／引用】規則 R1、R2</a:t>
            </a:r>
          </a:p>
          <a:p>
            <a:r>
              <a:rPr sz="1600"/>
              <a:t>【負責】C｜依賴議題：5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【內容】取還車同視角比對新車損；車內整潔三級（乾淨／普通／髒汙）定義與範例</a:t>
            </a:r>
          </a:p>
          <a:p>
            <a:r>
              <a:rPr sz="1600"/>
              <a:t>【視覺】取還車並排比對示意＋整潔範例</a:t>
            </a:r>
          </a:p>
          <a:p>
            <a:r>
              <a:rPr sz="1600"/>
              <a:t>【證據／引用】規則 R3、R4</a:t>
            </a:r>
          </a:p>
          <a:p>
            <a:r>
              <a:rPr sz="1600"/>
              <a:t>【負責】C、A｜依賴議題：5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【內容】預警 → 暫停出租 → 清潔／整備 → 恢復出租；下一位用戶保護</a:t>
            </a:r>
          </a:p>
          <a:p>
            <a:r>
              <a:rPr sz="1600"/>
              <a:t>【視覺】後台儀表板 mockup（依嚴重度排序）</a:t>
            </a:r>
          </a:p>
          <a:p>
            <a:r>
              <a:rPr sz="1600"/>
              <a:t>【證據／引用】規則 R5、R6</a:t>
            </a:r>
          </a:p>
          <a:p>
            <a:r>
              <a:rPr sz="1600"/>
              <a:t>【負責】C、B｜依賴議題：5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9319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2344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17373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9050"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785615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785615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7856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遺留物偵測（EfficientDet 類，mAP 0.87）[5][10]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開放詞彙偵測：垃圾、杯子、污漬 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Gemini 依評分規則判定：乾淨／普通／髒汙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600200"/>
            <a:ext cx="1737360" cy="361188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94192" y="1655064"/>
            <a:ext cx="159105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93"/>
                </a:solidFill>
              </a:rPr>
              <a:t>③ Gemini 車況報告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整潔三級＋理由（Demo）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白話車況說明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工單摘要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對新車損提供第二意見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不作收費依據：VLM 定損弱、會幻覺 [4]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19050"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客服即時查車況回覆用戶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165592" y="3246120"/>
            <a:ext cx="146304" cy="320040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ft Arrow 30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1B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實線：Demo 已驗證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1B1F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虛線：目標架構（規劃中）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[n]＝P15 參考文獻編號；取車基準＝上一位還車照＋簽名前異常照（ADR 0002）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遺留物與髒汙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物件偵測＋開放詞彙偵測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[5] Architecture for Determining the Cleanliness in Shared Vehicles Using an Integrated Machine Vision and Indoor Air Quality-Monitoring System (J. Big Data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[10] Classification of Trash and Valuables with Machine Vision in Shared Cars (Applied Sciences 2022)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Gemini 依評分規則輸出三級與理由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研究尚無「從偵測到單一整潔等級」方法，由 VLM 補上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延伸 [5][11]：兩篇皆將整潔分級列為待解問題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環節一｜即時防呆（Demo）</a:t>
            </a:r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E9AA7"/>
                </a:solidFill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車況辨識（Demo）</a:t>
            </a:r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6BC4"/>
                </a:solidFill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環節三｜預警與調度（Mockup）</a:t>
            </a:r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畫面為原型示意，介面風格參考 iRent App；Demo＝可實際操作，Mockup＝示意畫面；車牌與資料皆為虛構。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【內容】與「人工逐張看」「單張 AI 偵測」「AI 自動收費」三種做法比較</a:t>
            </a:r>
          </a:p>
          <a:p>
            <a:r>
              <a:rPr sz="1600"/>
              <a:t>【視覺】比較表</a:t>
            </a:r>
          </a:p>
          <a:p>
            <a:r>
              <a:rPr sz="1600"/>
              <a:t>【證據／引用】ADR 0001；Hertz 案例</a:t>
            </a:r>
          </a:p>
          <a:p>
            <a:r>
              <a:rPr sz="1600"/>
              <a:t>【負責】D｜依賴議題：7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【內容】回報 → AI＋人工確認 → 和泰 Points；防弊機制；整潔等級為研究空白、iRent 照片資料難以複製</a:t>
            </a:r>
          </a:p>
          <a:p>
            <a:r>
              <a:rPr sz="1600"/>
              <a:t>【視覺】誘因與防弊流程圖</a:t>
            </a:r>
          </a:p>
          <a:p>
            <a:r>
              <a:rPr sz="1600"/>
              <a:t>【證據／引用】規則 I1–I4；Plan.md 缺口分析</a:t>
            </a:r>
          </a:p>
          <a:p>
            <a:r>
              <a:rPr sz="1600"/>
              <a:t>【負責】C、D｜依賴議題：8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【內容】審照片工時、異常攔截時間、照片一次合格率、髒車客訴、車損爭議</a:t>
            </a:r>
          </a:p>
          <a:p>
            <a:r>
              <a:rPr sz="1600"/>
              <a:t>【視覺】KPI 表（現況 → 目標）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【內容】試點（整潔判讀＋品質防呆）→ 擴大（車損比對）→ 全面（車況接力＋持續學習）；資源需求與 API 成本</a:t>
            </a:r>
          </a:p>
          <a:p>
            <a:r>
              <a:rPr sz="1600"/>
              <a:t>【視覺】導入時程圖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【負責】D、B｜依賴議題：9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【內容】引用清單、GitHub 連結、更多 mockup</a:t>
            </a:r>
          </a:p>
          <a:p>
            <a:r>
              <a:rPr sz="1600"/>
              <a:t>【視覺】文獻列表＋QR code</a:t>
            </a:r>
          </a:p>
          <a:p>
            <a:r>
              <a:rPr sz="1600"/>
              <a:t>【證據／引用】Plan.md Tier 1–3</a:t>
            </a:r>
          </a:p>
          <a:p>
            <a:r>
              <a:rPr sz="1600"/>
              <a:t>【負責】D｜依賴議題：3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