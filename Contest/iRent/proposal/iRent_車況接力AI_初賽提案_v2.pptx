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整潔判讀），虛線框為目標架構。核心是取還車變化比對：以上一位用戶的還車照作為取車基準，只對本次租用新增的損傷預警；任何收費都必須經人工確認對照證據。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模型選型：每一層的方法、選用理由與文獻依據，編號對應 P15。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MVP：範圍依 M3 定案只做車內整潔判讀；品質防呆與取還車比對以 P5、P6 的 mockup 呈現。demo 完成後以實際截圖取代右上方框，標題可改回「已做出可運作的 MVP」。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P11｜5. 獨特優勢與差異化</a:t>
            </a:r>
          </a:p>
          <a:p>
            <a:r>
              <a:t>主訊息：取還車比對＋AI 不單獨收費＝公平的車況歸責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P12｜5. 獨特優勢與差異化</a:t>
            </a:r>
          </a:p>
          <a:p>
            <a:r>
              <a:t>主訊息：車況接力：讓用戶成為車況的守護者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P13｜6. 預期效益與落地評估</a:t>
            </a:r>
          </a:p>
          <a:p>
            <a:r>
              <a:t>主訊息：五項指標，可在試點中驗證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P14｜6. 預期效益與落地評估</a:t>
            </a:r>
          </a:p>
          <a:p>
            <a:r>
              <a:t>主訊息：三階段導入，先從一個城市試點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P15｜7. 補充資料</a:t>
            </a:r>
          </a:p>
          <a:p>
            <a:r>
              <a:t>主訊息：參考文獻與原型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2344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17373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車況檢視／車況回報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取車基準：上一位用戶的還車照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用戶確認或補拍異常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模糊／曝光評分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車牌入鏡偵測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只把合格照片送上雲端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785615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785615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7856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遺留物偵測（EfficientDet 類，mAP 0.87）[5][10]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開放詞彙偵測：垃圾、杯子、污漬 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依評分規則判定：乾淨／普通／髒汙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600200"/>
            <a:ext cx="173736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94192" y="1655064"/>
            <a:ext cx="159105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整潔三級＋理由（Demo）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白話車況說明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工單摘要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對新車損提供第二意見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不作收費依據：VLM 定損弱、會幻覺 [4]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營運調度與人工把關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 → 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髒汙：暫停出租、派清潔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疑似新車損：人工看對照證據確認後才收費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用戶可查看證據並申訴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165592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ft Arrow 30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參考文獻編號；取車基準預設為上一位用戶的還車照（車況接力）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521439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600200"/>
                <a:gridCol w="3566160"/>
                <a:gridCol w="3977639"/>
                <a:gridCol w="13258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採用方法（代表作）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依據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輕量 CNN（MobileNet 類）品質評分＋視角分類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離線執行、1 秒內回饋；只把合格照片上傳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[6][7]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[2][9]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一張參考異常偵測（取車基準當正常樣本）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不需大量標註即可上線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[3]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分割模型以 CarDD 預訓練，再以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[1][8]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遺留物與髒汙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物件偵測（EfficientDet 類）＋開放詞彙偵測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垃圾、杯子、污漬類別多變，開放詞彙免重新標註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[5][10][11][12]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Gemini 依評分規則輸出三級與理由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研究尚無「從偵測到單一整潔等級」的方法，由 VLM 補上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[5][11]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VLM 定損能力弱、可能幻覺，不能單獨收費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[4]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43600"/>
            <a:ext cx="11521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應用方法｜MVP：車內整潔判讀概念驗證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38912" y="1380744"/>
            <a:ext cx="497433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1 上傳車內照片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用戶還車時拍攝前座、後座（公開圖片或團隊自拍，不使用解題資料）</a:t>
            </a:r>
          </a:p>
        </p:txBody>
      </p:sp>
      <p:sp>
        <p:nvSpPr>
          <p:cNvPr id="5" name="Down Arrow 4"/>
          <p:cNvSpPr/>
          <p:nvPr/>
        </p:nvSpPr>
        <p:spPr>
          <a:xfrm>
            <a:off x="2788920" y="2267712"/>
            <a:ext cx="274320" cy="164592"/>
          </a:xfrm>
          <a:prstGeom prst="down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4688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8912" y="2523744"/>
            <a:ext cx="497433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2 Gemini 依評分規則判讀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提示詞內含整潔三級定義與必須回報的物品類別</a:t>
            </a:r>
          </a:p>
        </p:txBody>
      </p:sp>
      <p:sp>
        <p:nvSpPr>
          <p:cNvPr id="8" name="Down Arrow 7"/>
          <p:cNvSpPr/>
          <p:nvPr/>
        </p:nvSpPr>
        <p:spPr>
          <a:xfrm>
            <a:off x="2788920" y="3410712"/>
            <a:ext cx="274320" cy="164592"/>
          </a:xfrm>
          <a:prstGeom prst="down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36118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8912" y="3666744"/>
            <a:ext cx="4974336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3 輸出結構化結果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整潔等級、理由、偵測物品、建議動作，直接寫入工單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800600"/>
            <a:ext cx="512064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8912" y="4855464"/>
            <a:ext cx="4974336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輸出範例（示意）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{"整潔等級": "髒汙", "理由": "後座有飲料杯與食物包裝",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 "偵測物品": ["飲料杯", "塑膠袋"], "建議": "暫停出租並派清潔"}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325880"/>
            <a:ext cx="6126480" cy="3108960"/>
          </a:xfrm>
          <a:prstGeom prst="rect">
            <a:avLst/>
          </a:prstGeom>
          <a:solidFill>
            <a:srgbClr val="F6F8FB"/>
          </a:solidFill>
          <a:ln>
            <a:solidFill>
              <a:srgbClr val="5F6B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325880"/>
            <a:ext cx="6126480" cy="3108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5F6B7A"/>
                </a:solidFill>
              </a:rPr>
              <a:t>Demo 截圖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素材 A6：10/13 18:00 前補上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18:00 無法運作時改放 Gemini 判讀範例輸出（議程 D10）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60720" y="4572000"/>
          <a:ext cx="61264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937760"/>
              </a:tblGrid>
              <a:tr h="3314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整潔等級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定義（規則 R3）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乾淨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無可見垃圾與污漬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普通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少量灰塵或輕微雜物，不影響下一位使用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髒汙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垃圾、食物殘渣、液體污漬或遺留物 → 立即預警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【內容】與「人工逐張看」「單張 AI 偵測」「AI 自動收費」三種做法比較</a:t>
            </a:r>
          </a:p>
          <a:p>
            <a:r>
              <a:rPr sz="1600"/>
              <a:t>【視覺】比較表</a:t>
            </a:r>
          </a:p>
          <a:p>
            <a:r>
              <a:rPr sz="1600"/>
              <a:t>【證據／引用】ADR 0001；Hertz 案例</a:t>
            </a:r>
          </a:p>
          <a:p>
            <a:r>
              <a:rPr sz="1600"/>
              <a:t>【負責】D｜依賴議題：7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【內容】回報 → AI＋人工確認 → 和泰 Points；防弊機制；整潔等級為研究空白、iRent 照片資料難以複製</a:t>
            </a:r>
          </a:p>
          <a:p>
            <a:r>
              <a:rPr sz="1600"/>
              <a:t>【視覺】誘因與防弊流程圖</a:t>
            </a:r>
          </a:p>
          <a:p>
            <a:r>
              <a:rPr sz="1600"/>
              <a:t>【證據／引用】規則 I1–I4；Plan.md 缺口分析</a:t>
            </a:r>
          </a:p>
          <a:p>
            <a:r>
              <a:rPr sz="1600"/>
              <a:t>【負責】C、D｜依賴議題：8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【內容】審照片工時、異常攔截時間、照片一次合格率、髒車客訴、車損爭議</a:t>
            </a:r>
          </a:p>
          <a:p>
            <a:r>
              <a:rPr sz="1600"/>
              <a:t>【視覺】KPI 表（現況 → 目標）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【內容】試點（整潔判讀＋品質防呆）→ 擴大（車損比對）→ 全面（車況接力＋持續學習）；資源需求與 API 成本</a:t>
            </a:r>
          </a:p>
          <a:p>
            <a:r>
              <a:rPr sz="1600"/>
              <a:t>【視覺】導入時程圖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【負責】D、B｜依賴議題：9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【內容】引用清單、GitHub 連結、更多 mockup</a:t>
            </a:r>
          </a:p>
          <a:p>
            <a:r>
              <a:rPr sz="1600"/>
              <a:t>【視覺】文獻列表＋QR code</a:t>
            </a:r>
          </a:p>
          <a:p>
            <a:r>
              <a:rPr sz="1600"/>
              <a:t>【證據／引用】Plan.md Tier 1–3</a:t>
            </a:r>
          </a:p>
          <a:p>
            <a:r>
              <a:rPr sz="1600"/>
              <a:t>【負責】D｜依賴議題：3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