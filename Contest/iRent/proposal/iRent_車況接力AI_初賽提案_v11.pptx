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一句話主張先講結果：照片上傳當下就被看懂。三張卡對應題目三個環節，下方深色帶是貫穿三環節的車況接力；最後一列是試點目標，細節在 P13。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【講稿】取還車照片若不可用（太暗、沒拍到車牌、角度錯、模糊），後續車況比對與責任判定都會受影響。我們把品質把關前移到「拍照當下」：App 依必拍清單逐張引導，端側輕量模型即時檢核，不合格立即提示重拍，合格才進入環節二的車況比對。 【技術路線】端側：曝光與清晰度規則＋輕量偵測（車牌、車體部位），低延遲、離線可用；疑義照片再送雲端 VLM 複核。 【待確認】R1、R2 規則內容；必拍清單張數與角度；與環節二的資料介面；成效指標的基線數字（需 iRent 提供）。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【講稿】「只對這次」是這一環的關鍵：以取車照片為基準，還車用同視角比對，取車時已存在的傷痕不計入這位用戶，避免誤報與無謂的責任爭議。車內整潔也一樣，以取車等級為基準，等級下降才預警。 【技術路線】影像對位（特徵匹配）＋差異偵測找出新增車損；整潔分級可用 VLM 對照三級範例判斷，低信心案件交人工複核。 【待確認】R3、R4 規則內容；三級的判定門檻；整潔範例需換成 iRent 實拍照片。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預警只有在變成行動時才有價值。環節二產生的預警工單，會依嚴重度排序顯示在後台，營運人員一眼看到先處理哪一台；同時車輛即時下架，已預約的下一位用戶自動改派，整備完成並通過複拍檢核才恢復出租。 【設計假設】嚴重度分級與暫停出租門檻依規則 R5、R6 決定；儀表板為示意資料，車牌為虛構。 【待確認】R5、R6 規則內容；改派與通知流程是否可與 iRent 現有系統串接；成效指標的基線數字需 iRent 提供。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 差異化：與三種現行或業界做法比較。關鍵在取車基準比對可歸責，且 AI 不單獨收費。國外案例依議程 D7 不點名，來源列於 P15。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 車況接力：四步流程、防弊與難以複製的優勢（D6a–D6c、D11、D23）。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 KPI：五項指標的定義、試點目標與量測方式（議程 D3、D13）。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 導入：三階段時程、資源需求與風險對策（議程 D12、D24）。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 補充資料：14 篇參考文獻、其他資料來源與原型連結（議程 D14）。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團隊：優還｜2026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優還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11338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5CFF"/>
                </a:solidFill>
              </a:rPr>
              <a:t>產品｜iRent 車況接力 AI　　團隊｜優還　　標語｜你拍的每一張，都是下一位的安心</a:t>
            </a:r>
          </a:p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B2D"/>
                </a:solidFill>
              </a:rPr>
              <a:t>讓每一張取還車照片在上傳當下就被 AI 看懂：不合格立即重拍，只對「這次」新增的車損與髒汙預警，並直接轉成整備工單。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331720"/>
            <a:ext cx="3529584" cy="64008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5CFF"/>
                </a:solidFill>
              </a:rPr>
              <a:t>環節一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B2D"/>
                </a:solidFill>
              </a:rPr>
              <a:t>拍照即時防呆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A5A6E"/>
                </a:solidFill>
              </a:rPr>
              <a:t>手機端當下檢查模糊、太暗、角度、車牌、距離與畫面過髒，不合格立即提示重拍。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</a:rPr>
              <a:t>受益｜用戶一次拍對；後台不再收到不能用的照片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3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B5CFF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331720"/>
            <a:ext cx="3529584" cy="64008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5CFF"/>
                </a:solidFill>
              </a:rPr>
              <a:t>環節二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B2D"/>
                </a:solidFill>
              </a:rPr>
              <a:t>還車 AI 辨識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A5A6E"/>
                </a:solidFill>
              </a:rPr>
              <a:t>以取車基準比對同視角照片，只標出本次新車損；車內由 Gemini 先列證據，再以規則分乾淨、普通、髒汙。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</a:rPr>
              <a:t>受益｜審核人員只看被標出的少數異常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B5CFF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5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5" y="2331720"/>
            <a:ext cx="3529584" cy="64008"/>
          </a:xfrm>
          <a:prstGeom prst="rect">
            <a:avLst/>
          </a:prstGeom>
          <a:solidFill>
            <a:srgbClr val="1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5CFF"/>
                </a:solidFill>
              </a:rPr>
              <a:t>環節三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1B2D"/>
                </a:solidFill>
              </a:rPr>
              <a:t>預警即派工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A5A6E"/>
                </a:solidFill>
              </a:rPr>
              <a:t>新車損或髒汙即時通知後台、客服與外勤並建立工單，依下一筆預約排優先序；AI 不單獨收費，由人確認。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F1B2D"/>
                </a:solidFill>
              </a:rPr>
              <a:t>受益｜下一位用戶不會接到髒車或別人的車損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89120"/>
            <a:ext cx="11365992" cy="8686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</a:rPr>
              <a:t>車況接力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B8D9"/>
                </a:solidFill>
              </a:rPr>
              <a:t>貫穿三環節的服務設計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用戶 A 的還車照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8888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成為用戶 B 的取車基準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23176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B 簽名前回報差異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屬實獲和泰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27464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車況紀錄連動整備與派車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4406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F1B2D"/>
                </a:solidFill>
              </a:rPr>
              <a:t>試點目標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8FA0B3"/>
                </a:solidFill>
              </a:rPr>
              <a:t>團隊推估，詳見 P13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5CFF"/>
                </a:solidFill>
              </a:rPr>
              <a:t>↓ 60–80%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B2D"/>
                </a:solidFill>
              </a:rPr>
              <a:t>人工審照片工時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22392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5272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5CFF"/>
                </a:solidFill>
              </a:rPr>
              <a:t>≤ 5 分鐘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B2D"/>
                </a:solidFill>
              </a:rPr>
              <a:t>還車到異常預警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0224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5CFF"/>
                </a:solidFill>
              </a:rPr>
              <a:t>↓ 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7544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B2D"/>
                </a:solidFill>
              </a:rPr>
              <a:t>髒車客訴與車損爭議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3276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0B3"/>
                </a:solidFill>
              </a:rPr>
              <a:t>iRent 智能車況管家｜1. 提案概述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目標對象與痛點｜為什麼需要智能車況管家：三個痛點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77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D628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7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取還車照片要靠人逐張檢視比對，人力耗時，車輛回到可出租狀態的等待也跟著拉長。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973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291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D628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291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291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車損與髒汙往往事後才被發現，客服與整備端無法第一時間掌握車況，後續排程只能被動應對。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787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105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D628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105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105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事後才發現車損時，使用者已離開，缺乏客觀的前後對照，難以判斷是否為本次租用造成。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目標對象與痛點｜痛點如何被解決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3219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96950" y="194435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950" y="219577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04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029075" y="153219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10050" y="194435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取還車比對，自動篩出異常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10050" y="224915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人員只處理被標出的少數異常，不必逐張檢視。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827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728200" y="152902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0F1B2D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906000" y="196211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06000" y="2213531"/>
            <a:ext cx="1473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環節二：AI 辨識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5975" y="305113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96950" y="346329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950" y="371471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804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029075" y="305113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210050" y="346329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異常即時預警，自動建立工單派工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210050" y="376809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客服與整備端同步看到車況與處理進度。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827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728200" y="304796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0F1B2D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906000" y="335663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06000" y="3608050"/>
            <a:ext cx="13462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環節三：預警與工單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5975" y="457007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96950" y="498223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6950" y="523365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6804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4029075" y="457007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10050" y="498223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標準化拍攝加取還車對照圖留存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210050" y="528703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只對本次新增的差異預警，並附對照證據，由人確認責任。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3827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9728200" y="456690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0F1B2D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906000" y="499999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906000" y="5251410"/>
            <a:ext cx="1346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環節一加環節二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目標對象與痛點｜現況 vs. 導入後</a:t>
            </a:r>
          </a:p>
        </p:txBody>
      </p:sp>
      <p:sp>
        <p:nvSpPr>
          <p:cNvPr id="6" name="Text 3"/>
          <p:cNvSpPr/>
          <p:nvPr/>
        </p:nvSpPr>
        <p:spPr>
          <a:xfrm>
            <a:off x="812800" y="1529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現況：事後人工處理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88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還車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88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使用者自行上傳照片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443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083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512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12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逐張看圖比對，耗時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67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007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436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事後發現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436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使用者已離開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291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931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DECEE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360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責任難釐清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360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缺少客觀對照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27911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導入後：即時、自動、可追溯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59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588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拍照防呆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588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不合格當下重拍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443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5083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1B5C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6512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12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367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007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436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即時工單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436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派工並同步車況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291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8931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0F1B2D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0360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證據留存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360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對照圖支撐責任判定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8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取還車拍照當下，AI 即時檢核照片能否用於車況比對；不合格當場提示重拍，從源頭減少事後爭議與人工補件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9534" y="1561972"/>
            <a:ext cx="2540000" cy="4285148"/>
          </a:xfrm>
          <a:prstGeom prst="roundRect">
            <a:avLst>
              <a:gd name="adj" fmla="val 11000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36534" y="1714328"/>
            <a:ext cx="235458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6ED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 3／8｜左前 45°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534" y="2029072"/>
            <a:ext cx="2286000" cy="2647377"/>
          </a:xfrm>
          <a:prstGeom prst="roundRect">
            <a:avLst>
              <a:gd name="adj" fmla="val 5556"/>
            </a:avLst>
          </a:prstGeom>
          <a:solidFill>
            <a:srgbClr val="2C3A4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34" y="2646102"/>
            <a:ext cx="1905000" cy="10984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530" y="3846098"/>
            <a:ext cx="1079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車牌已對準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6534" y="4777983"/>
            <a:ext cx="2286000" cy="408892"/>
          </a:xfrm>
          <a:prstGeom prst="roundRect">
            <a:avLst>
              <a:gd name="adj" fmla="val 21742"/>
            </a:avLst>
          </a:prstGeom>
          <a:solidFill>
            <a:srgbClr val="FBBF24"/>
          </a:solidFill>
          <a:ln/>
        </p:spPr>
        <p:txBody>
          <a:bodyPr wrap="square" lIns="88174" tIns="62862" rIns="26447" bIns="3737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3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太暗，請開啟閃光燈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695406" y="5307458"/>
            <a:ext cx="368256" cy="3682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0">
            <a:solidFill>
              <a:srgbClr val="9FB0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/>
          <p:nvPr/>
        </p:nvSpPr>
        <p:spPr>
          <a:xfrm>
            <a:off x="3505068" y="1561972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必拍清單（8 張，依序引導）</a:t>
            </a:r>
            <a:r>
              <a:rPr lang="en-US" sz="1500" b="1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｜發現既有傷痕，補拍特寫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08243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車頭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46637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左前 45°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85032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右前 45°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623426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車尾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08243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左後 45°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46637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右後 45°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85032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⑦ 車牌特寫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623426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⑧ 儀表板里程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05068" y="2890511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即時提示規則（拍照當下觸發）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2123" y="3202279"/>
          <a:ext cx="8070342" cy="2083596"/>
        </p:xfrm>
        <a:graphic>
          <a:graphicData uri="http://schemas.openxmlformats.org/drawingml/2006/table">
            <a:tbl>
              <a:tblPr/>
              <a:tblGrid>
                <a:gridCol w="269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情境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判斷依據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畫面提示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太暗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曝光／亮度分佈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「請開啟閃光燈」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未拍到車牌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車牌偵測＋OCR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「請將車牌置入框內」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角度不對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車體部位分類（對照指定角度）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「請移至左前 45° 位置」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畫面模糊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清晰度分數（拉普拉斯變異數）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「請持穩後重拍」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距離不當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車體佔畫面比例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「請靠近一點／後退一步」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3505068" y="5438228"/>
            <a:ext cx="8077398" cy="408892"/>
          </a:xfrm>
          <a:prstGeom prst="roundRect">
            <a:avLst>
              <a:gd name="adj" fmla="val 18636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</a:t>
            </a: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首拍合格率 ↑｜單次重拍次數 ↓｜事後爭議／人工補件 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只比對同一趟的取車與還車：既有傷痕與取車時的髒污不算在這位用戶身上，只有新增問題才預警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534" y="1561973"/>
            <a:ext cx="54940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車損：取還車同視角比對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709" y="1869859"/>
            <a:ext cx="260982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718123" y="1975274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取車（基準）</a:t>
            </a:r>
            <a:endParaRPr lang="en-US" sz="12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3" y="2239196"/>
            <a:ext cx="2400212" cy="104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23" y="3331263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既有傷痕 → 已記錄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30421" y="1869859"/>
            <a:ext cx="260993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3435835" y="1975274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還車（同視角）</a:t>
            </a:r>
            <a:endParaRPr lang="en-US" sz="1200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835" y="2239196"/>
            <a:ext cx="2400212" cy="10413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5835" y="3331263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新增刮痕 → 預警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9534" y="3729241"/>
            <a:ext cx="5334000" cy="408892"/>
          </a:xfrm>
          <a:prstGeom prst="roundRect">
            <a:avLst>
              <a:gd name="adj" fmla="val 18636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同視角對位 → 差異偵測 → 扣除既有傷痕，只有新增項目進入預警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48246" y="1561973"/>
            <a:ext cx="5494248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車內整潔三級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51421" y="1869859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2"/>
          <p:cNvSpPr/>
          <p:nvPr/>
        </p:nvSpPr>
        <p:spPr>
          <a:xfrm>
            <a:off x="6331479" y="1949918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1D4ED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95014" y="1949918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無垃圾、無可見污漬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95014" y="220645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範例：座椅、地墊、置物格整齊 → 不預警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1421" y="2582250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6"/>
          <p:cNvSpPr/>
          <p:nvPr/>
        </p:nvSpPr>
        <p:spPr>
          <a:xfrm>
            <a:off x="6331479" y="266230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3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普通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95014" y="266230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少量碎屑或輕微灰塵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95014" y="291884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範例：地墊零星砂土 → 記錄，不派工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51421" y="3294641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0"/>
          <p:cNvSpPr/>
          <p:nvPr/>
        </p:nvSpPr>
        <p:spPr>
          <a:xfrm>
            <a:off x="6331479" y="337469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9A34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髒汙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195014" y="337469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明顯污漬、食物殘渣或垃圾堆積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195014" y="3631235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範例：座椅潑灑飲料、垃圾遺留 → 預警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48246" y="4003856"/>
            <a:ext cx="5334221" cy="640071"/>
          </a:xfrm>
          <a:prstGeom prst="roundRect">
            <a:avLst>
              <a:gd name="adj" fmla="val 11905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以取車等級為基準</a:t>
            </a: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：取車「普通」、還車仍「普通」不預警；等級下降才預警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09534" y="4796283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14233A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預警條件：新增車損 或 整潔等級下降 → 產生預警工單，送環節三派工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預警成立即鎖車、依嚴重度派工，整備完成才恢復出租，讓下一位用戶只會拿到可用的車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2709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43589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預警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3589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比對後產生預警工單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71803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41656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572537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暫停出租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72537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車輛即時下架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0750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70603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6401484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清潔／整備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1484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依嚴重度排序派工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29697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99551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9230431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恢復出租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30431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複拍通過後重新上架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9534" y="2411396"/>
            <a:ext cx="665575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後台儀表板（依嚴重度排序，示意資料）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589" y="2723163"/>
          <a:ext cx="6454840" cy="2589170"/>
        </p:xfrm>
        <a:graphic>
          <a:graphicData uri="http://schemas.openxmlformats.org/drawingml/2006/table">
            <a:tbl>
              <a:tblPr/>
              <a:tblGrid>
                <a:gridCol w="129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嚴重度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車輛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預警原因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狀態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派工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00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新增車損：右前保桿刮痕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板金評估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00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髒汙：座椅潑灑飲料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專業清潔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中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新增車損：輕微擦痕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排程整備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整備站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低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信心不足：照片疑義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待複核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人工複核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274609" y="2411396"/>
            <a:ext cx="443709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下一位用戶保護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277784" y="271928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7408664" y="2799341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08664" y="3055876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車輛自動下架，不再被新預約選到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277784" y="343167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/>
          <p:nvPr/>
        </p:nvSpPr>
        <p:spPr>
          <a:xfrm>
            <a:off x="7408664" y="3511732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已預約者自動改派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408664" y="376826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改派同區同級車並通知用戶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277784" y="4144064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/>
          <p:nvPr/>
        </p:nvSpPr>
        <p:spPr>
          <a:xfrm>
            <a:off x="7408664" y="4224123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整備完成才解鎖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408664" y="448065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現場複拍通過檢核（沿用環節一）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09534" y="5464687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14233A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成效指標：流入下一位用戶的髒車／損車 ↓｜預警到恢復出租時間 ↓｜車輛可出租率 ↑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5F6B7A"/>
                </a:solidFill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E9AA7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6BC4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能：以取車基準比對（ADR 0002）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A4C93"/>
                </a:solidFill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213D"/>
                </a:solidFill>
              </a:rPr>
              <a:t>用戶從「被檢查的人」變成「車況的守護者」：誠實回報有獎勵，也不必擔心替上一手背責任。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213D"/>
                </a:solidFill>
              </a:rPr>
              <a:t>每次還車照片在上傳當下即被看懂，營運人員只需處理 AI 標記的少數異常。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2540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9AA7"/>
                </a:solidFill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A4C93"/>
                </a:solidFill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資料規範：解題資料不外流，demo 僅用公開或自拍照片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BC4"/>
                </a:solidFill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GitHub：公開 repo（建置中，僅含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需求對照：見附錄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