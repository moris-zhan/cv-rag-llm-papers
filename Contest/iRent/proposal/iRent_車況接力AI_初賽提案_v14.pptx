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一句話主張先講結果：照片上傳當下就被看懂。三張卡對應題目三個環節，下方深色帶是貫穿三環節的車況接力；最後一列是試點目標，細節在 P13。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31520" y="141732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b="1" sz="4400">
                <a:solidFill>
                  <a:srgbClr val="FFFFFF"/>
                </a:solidFill>
              </a:rPr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743200"/>
            <a:ext cx="5394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zh-TW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i="0" lang="zh-TW" sz="2000" u="none" cap="none" strike="noStrike">
                <a:solidFill>
                  <a:srgbClr val="F76A65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zh-TW" sz="12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團隊：優還｜2026 和泰 AI 黑客松 初賽提案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" y="1261872"/>
            <a:ext cx="822960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D0D0D0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D0D0D0"/>
                </a:solidFill>
              </a:rPr>
              <a:t>※ 本頁</a:t>
            </a:r>
            <a:r>
              <a:rPr b="1" lang="zh-TW">
                <a:solidFill>
                  <a:srgbClr val="D0D0D0"/>
                </a:solidFill>
              </a:rPr>
              <a:t>不計入提案簡報 15 頁限制</a:t>
            </a:r>
            <a:r>
              <a:rPr lang="zh-TW">
                <a:solidFill>
                  <a:srgbClr val="D0D0D0"/>
                </a:solidFill>
              </a:rPr>
              <a:t>，</a:t>
            </a:r>
            <a:r>
              <a:rPr b="1" lang="zh-TW">
                <a:solidFill>
                  <a:srgbClr val="D0D0D0"/>
                </a:solidFill>
              </a:rPr>
              <a:t>所有欄位皆為必填</a:t>
            </a:r>
            <a:r>
              <a:rPr lang="zh-TW">
                <a:solidFill>
                  <a:srgbClr val="D0D0D0"/>
                </a:solidFill>
              </a:rPr>
              <a:t>。表格樣式可自行美化，但</a:t>
            </a:r>
            <a:r>
              <a:rPr b="1" lang="zh-TW">
                <a:solidFill>
                  <a:srgbClr val="D0D0D0"/>
                </a:solidFill>
              </a:rPr>
              <a:t>欄位名稱與順序請保持一致</a:t>
            </a:r>
            <a:r>
              <a:rPr lang="zh-TW">
                <a:solidFill>
                  <a:srgbClr val="D0D0D0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>
                <a:solidFill>
                  <a:srgbClr val="FFFFFF"/>
                </a:solidFill>
              </a:rPr>
              <a:t>提案</a:t>
            </a:r>
            <a:r>
              <a:rPr b="1" lang="zh-TW" sz="3600">
                <a:solidFill>
                  <a:srgbClr val="FFFFFF"/>
                </a:solidFill>
              </a:rPr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優還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提案摘要（不計入 15 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0012"/>
                </a:solidFill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76A65"/>
                </a:solidFill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9E9E9E"/>
                </a:solidFill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1. 提案概述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取還車照片要靠人逐張檢視比對，人力耗時，車輛回到可出租狀態的等待也跟著拉長。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車損與髒汙往往事後才被發現，客服與整備端無法第一時間掌握車況，後續排程只能被動應對。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事後才發現車損時，使用者已離開，缺乏客觀的前後對照，難以判斷是否為本次租用造成。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2. 目標對象與痛點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P2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取還車比對，自動篩出異常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人員只處理被標出的少數異常，不必逐張檢視。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環節二：AI 辨識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異常即時預警，自動建立工單派工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客服與整備端同步看到車況與處理進度。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環節三：預警與工單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標準化拍攝加取還車對照圖留存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只對本次新增的差異預警，並附對照證據，由人確認責任。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環節一加環節二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2. 目標對象與痛點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現況：事後人工處理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使用者自行上傳照片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逐張看圖比對，耗時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事後發現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使用者已離開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C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責任難釐清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缺少客觀對照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導入後：即時、自動、可追溯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拍照防呆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不合格當下重拍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E60012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即時工單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派工並同步車況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212121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證據留存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對照圖支撐責任判定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2. 目標對象與痛點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2／10｜左前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必拍清單（10 張：車外 8＋車內 2，依序引導）｜發現既有傷痕，補拍特寫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11296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4258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7387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0516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3645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11296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4258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77387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003645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⑩ 車內後座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40516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⑨ 車內前座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  <p:sp>
        <p:nvSpPr>
          <p:cNvPr id="26" name="TextBox 2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3. 解決方案設計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P5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只比對同一趟的取車基準與還車：既有傷痕不算在這位用戶身上，只對新增車損預警；車內髒汙一律預警清潔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車損：取車基準（上一位還車照＋簽名前異常照）vs. 還車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取車基準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0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42424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判定「髒汙」一律預警並派工清潔；等級比取車基準下降，才追究本次用戶責任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判定髒汙 → 產生預警工單，送環節三派工（等級下降才歸責本次用戶）</a:t>
            </a:r>
            <a:endParaRPr lang="en-US" sz="1500" dirty="0"/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3. 解決方案設計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新增車損：左前車門刮痕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  <p:sp>
        <p:nvSpPr>
          <p:cNvPr id="33" name="TextBox 3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3. 解決方案設計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19050">
            <a:solidFill>
              <a:srgbClr val="4242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24242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8000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B8000E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57575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616161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2121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[n]＝P15 參考文獻編號；取車基準＝上一位還車照＋簽名前異常照（ADR 0002）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4. AI 應用方法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P8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16161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4. AI 應用方法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P9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4242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75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16161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4. AI 應用方法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P10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5. 獨特優勢與差異化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P11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5. 獨特優勢與差異化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每次還車照片在上傳當下即被看懂，營運人員只需處理 AI 標記的少數異常。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6. 預期效益與落地評估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P13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24242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121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資料規範：解題資料不外流，demo 僅用公開或自拍照片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6. 預期效益與落地評估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P14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60012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需求對照：見附錄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7. 補充資料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P15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757575"/>
                </a:solidFill>
              </a:rPr>
              <a:t>優還｜iRent 車況接力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>
                <a:solidFill>
                  <a:srgbClr val="757575"/>
                </a:solidFill>
              </a:rPr>
              <a:t>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</a:rPr>
              <a:t>附錄（不計入 15 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0012"/>
      </a:accent1>
      <a:accent2>
        <a:srgbClr val="424242"/>
      </a:accent2>
      <a:accent3>
        <a:srgbClr val="A5A5A5"/>
      </a:accent3>
      <a:accent4>
        <a:srgbClr val="FFC000"/>
      </a:accent4>
      <a:accent5>
        <a:srgbClr val="F76A65"/>
      </a:accent5>
      <a:accent6>
        <a:srgbClr val="70AD47"/>
      </a:accent6>
      <a:hlink>
        <a:srgbClr val="B8000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