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P1｜1. 提案概述</a:t>
            </a:r>
          </a:p>
          <a:p>
            <a:r>
              <a:t>主訊息：讓每一張取還車照片都被 AI 即時看懂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P2｜2. 目標對象與痛點</a:t>
            </a:r>
          </a:p>
          <a:p>
            <a:r>
              <a:t>主訊息：200 萬會員的照片，正由人工逐張檢查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P3｜2. 目標對象與痛點</a:t>
            </a:r>
          </a:p>
          <a:p>
            <a:r>
              <a:t>主訊息：兩位 Persona，同一個問題：照片沒被及時看懂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P4｜2. 目標對象與痛點</a:t>
            </a:r>
          </a:p>
          <a:p>
            <a:r>
              <a:t>主訊息：新車損的難題是「歸責」，不是「偵測」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P5｜3. 解決方案設計</a:t>
            </a:r>
          </a:p>
          <a:p>
            <a:r>
              <a:t>主訊息：環節一：拍照當下就防呆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P6｜3. 解決方案設計</a:t>
            </a:r>
          </a:p>
          <a:p>
            <a:r>
              <a:t>主訊息：環節二：AI 只對「這次」的問題預警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P7｜3. 解決方案設計</a:t>
            </a:r>
          </a:p>
          <a:p>
            <a:r>
              <a:t>主訊息：環節三：預警即派工，下一位不會接到髒車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P8 系統架構：四層由左至右對應題目三環節。實線框為 demo 已驗證（Gemini 整潔判讀），虛線框為目標架構。核心是取還車變化比對：取車基準為上一位用戶的還車照加本次用戶簽名前上傳的異常照，只對本次租用新增的損傷預警；任何收費都必須經人工確認對照證據。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P9 模型選型：每一層的方法、選用理由與論文原始名稱，編號對應 P15 與 Plan.md #1–#12。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P10 MVP：三個環節各一格截圖。環節一、二以 Gemini 判讀做可操作 demo，環節三以儀表板 mockup 呈現；截圖到位後替換虛線框。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P11｜5. 獨特優勢與差異化</a:t>
            </a:r>
          </a:p>
          <a:p>
            <a:r>
              <a:t>主訊息：取還車比對＋AI 不單獨收費＝公平的車況歸責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P12｜5. 獨特優勢與差異化</a:t>
            </a:r>
          </a:p>
          <a:p>
            <a:r>
              <a:t>主訊息：車況接力：讓用戶成為車況的守護者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P13｜6. 預期效益與落地評估</a:t>
            </a:r>
          </a:p>
          <a:p>
            <a:r>
              <a:t>主訊息：五項指標，可在試點中驗證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P14｜6. 預期效益與落地評估</a:t>
            </a:r>
          </a:p>
          <a:p>
            <a:r>
              <a:t>主訊息：三階段導入，先從一個城市試點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P15｜7. 補充資料</a:t>
            </a:r>
          </a:p>
          <a:p>
            <a:r>
              <a:t>主訊息：參考文獻與原型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附錄：逐項對照題目要求與提案設計，確保主題連結度。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/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團隊：（待會議決定）｜2026 和泰 AI 黑客松 初賽提案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（待會議決定）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車況接力 AI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運用 AI 打造 iRent 智能車況管家：優化租還車體驗與營運效率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後台車況審核與整備人員，以及每一位取還車的租車用戶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3. 預警自動派工，並以車況接力機制保護下一位用戶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1. 提案概述｜讓每一張取還車照片都被 AI 即時看懂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【內容】產品名稱、標語、一句話主張</a:t>
            </a:r>
          </a:p>
          <a:p>
            <a:r>
              <a:rPr sz="1600"/>
              <a:t>【視覺】三環節＋車況接力的一張總覽圖</a:t>
            </a:r>
          </a:p>
          <a:p>
            <a:r>
              <a:rPr sz="1600"/>
              <a:t>【證據／引用】—</a:t>
            </a:r>
          </a:p>
          <a:p>
            <a:r>
              <a:rPr sz="1600"/>
              <a:t>【負責】D｜依賴議題：10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目標對象與痛點｜200 萬會員的照片，正由人工逐張檢查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【內容】iRent 規模（會員 200 萬+、累積 2,000 萬+ 次租借、約 2,000 據點）；現行取還車拍照流程</a:t>
            </a:r>
          </a:p>
          <a:p>
            <a:r>
              <a:rPr sz="1600"/>
              <a:t>【視覺】流程圖標出人工瓶頸</a:t>
            </a:r>
          </a:p>
          <a:p>
            <a:r>
              <a:rPr sz="1600"/>
              <a:t>【證據／引用】媒體報導；解題資源流程圖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目標對象與痛點｜兩位 Persona，同一個問題：照片沒被及時看懂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【內容】通勤族用戶（地下停車場、怕被誤判）vs. 審核／整備人員（看不完、發現太晚），各 3 個痛點</a:t>
            </a:r>
          </a:p>
          <a:p>
            <a:r>
              <a:rPr sz="1600"/>
              <a:t>【視覺】雙 Persona 卡片</a:t>
            </a:r>
          </a:p>
          <a:p>
            <a:r>
              <a:rPr sz="1600"/>
              <a:t>【證據／引用】App 評論截圖（會前 P3 蒐集）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目標對象與痛點｜新車損的難題是「歸責」，不是「偵測」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【內容】用戶取車未拍照被認定車損的案例；Hertz AI 自動收費引發爭議</a:t>
            </a:r>
          </a:p>
          <a:p>
            <a:r>
              <a:rPr sz="1600"/>
              <a:t>【視覺】案例對照圖</a:t>
            </a:r>
          </a:p>
          <a:p>
            <a:r>
              <a:rPr sz="1600"/>
              <a:t>【證據／引用】TVBS 報導；Hertz × UVeye 報導</a:t>
            </a:r>
          </a:p>
          <a:p>
            <a:r>
              <a:rPr sz="1600"/>
              <a:t>【負責】C、D｜依賴議題：4、7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解決方案設計｜環節一：拍照當下就防呆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【內容】必拍清單；即時提示（太暗請開閃光燈、未拍到車牌、角度不對、模糊、距離）</a:t>
            </a:r>
          </a:p>
          <a:p>
            <a:r>
              <a:rPr sz="1600"/>
              <a:t>【視覺】App 取景畫面 mockup</a:t>
            </a:r>
          </a:p>
          <a:p>
            <a:r>
              <a:rPr sz="1600"/>
              <a:t>【證據／引用】規則 R1、R2</a:t>
            </a:r>
          </a:p>
          <a:p>
            <a:r>
              <a:rPr sz="1600"/>
              <a:t>【負責】C｜依賴議題：5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解決方案設計｜環節二：AI 只對「這次」的問題預警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【內容】取還車同視角比對新車損；車內整潔三級（乾淨／普通／髒汙）定義與範例</a:t>
            </a:r>
          </a:p>
          <a:p>
            <a:r>
              <a:rPr sz="1600"/>
              <a:t>【視覺】取還車並排比對示意＋整潔範例</a:t>
            </a:r>
          </a:p>
          <a:p>
            <a:r>
              <a:rPr sz="1600"/>
              <a:t>【證據／引用】規則 R3、R4</a:t>
            </a:r>
          </a:p>
          <a:p>
            <a:r>
              <a:rPr sz="1600"/>
              <a:t>【負責】C、A｜依賴議題：5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解決方案設計｜環節三：預警即派工，下一位不會接到髒車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【內容】預警 → 暫停出租 → 清潔／整備 → 恢復出租；下一位用戶保護</a:t>
            </a:r>
          </a:p>
          <a:p>
            <a:r>
              <a:rPr sz="1600"/>
              <a:t>【視覺】後台儀表板 mockup（依嚴重度排序）</a:t>
            </a:r>
          </a:p>
          <a:p>
            <a:r>
              <a:rPr sz="1600"/>
              <a:t>【證據／引用】規則 R5、R6</a:t>
            </a:r>
          </a:p>
          <a:p>
            <a:r>
              <a:rPr sz="1600"/>
              <a:t>【負責】C、B｜依賴議題：5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應用方法｜四層架構，每一層都有研究依據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9319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234440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234440"/>
            <a:ext cx="17373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AI 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環節二・三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" y="165506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App｜取車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取車基準＝上一位還車照＋簽名前異常照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AI 挑出差異最大的 2–3 張請用戶確認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缺漏視角請用戶補拍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7472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3192" y="352958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App｜還車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拍攝四周外觀＋車內照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（現有流程，不新增步驟）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19050">
            <a:solidFill>
              <a:srgbClr val="0E9A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93392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9AA7"/>
                </a:solidFill>
              </a:rPr>
              <a:t>① 手機端即時防呆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拍對位置：視角分類（前、後、側、斜角）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模糊／過暗評分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車牌是否入鏡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角度不對、距離過遠／過近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畫面過髒：鏡頭髒汙或泥污遮蔽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→ 1 秒內提示原因並引導重拍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931920" cy="13716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3785615" cy="1261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新車損：取還車變化比對（核心）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取車基準與還車照同視角配對 → 特徵匹配對齊 [9]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物件級變化偵測，容忍視角與光線差異 [2]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資料不足時：取車照當正常樣本做一張參考異常偵測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63240"/>
            <a:ext cx="3931920" cy="8686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79392" y="3118104"/>
            <a:ext cx="3785615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車損類型與位置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分割模型以 CarDD（4,000 張、6 類）預訓練 [1]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再以 iRent 照片微調；小凹痕另行強化 [8]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931920" cy="118872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79392" y="4078224"/>
            <a:ext cx="37856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車內整潔＋遺留物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遺留物偵測（EfficientDet 類，mAP 0.87）[5][10]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開放詞彙偵測：垃圾、杯子、污漬 [11][12]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Gemini 依評分規則判定：乾淨／普通／髒汙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600200"/>
            <a:ext cx="1737360" cy="3611880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394192" y="1655064"/>
            <a:ext cx="159105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6A4C93"/>
                </a:solidFill>
              </a:rPr>
              <a:t>③ Gemini 車況報告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整潔三級＋理由（Demo）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白話車況說明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工單摘要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對新車損提供第二意見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不作收費依據：VLM 定損弱、會幻覺 [4]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1600200"/>
            <a:ext cx="1645920" cy="361188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19050">
            <a:solidFill>
              <a:srgbClr val="E06A1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314432" y="1655064"/>
            <a:ext cx="149961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06A10"/>
                </a:solidFill>
              </a:rPr>
              <a:t>④ 預警通知與整備調度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異常預警即時通知：後台儀表板、客服、外勤 App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髒汙：暫停出租、排清潔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車損：排整備；人工確認對照證據後才收費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無基準視角、停放期間損傷：人工判斷，不歸責用戶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客服即時查車況回覆用戶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764792" y="3246120"/>
            <a:ext cx="146304" cy="320040"/>
          </a:xfrm>
          <a:prstGeom prst="rightArrow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4050791" y="3246120"/>
            <a:ext cx="146304" cy="320040"/>
          </a:xfrm>
          <a:prstGeom prst="rightArrow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8165592" y="3246120"/>
            <a:ext cx="146304" cy="320040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10085832" y="3246120"/>
            <a:ext cx="146304" cy="320040"/>
          </a:xfrm>
          <a:prstGeom prst="rightArrow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ft Arrow 30"/>
          <p:cNvSpPr/>
          <p:nvPr/>
        </p:nvSpPr>
        <p:spPr>
          <a:xfrm>
            <a:off x="4206240" y="5321808"/>
            <a:ext cx="7680960" cy="384048"/>
          </a:xfrm>
          <a:prstGeom prst="leftArrow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5321808"/>
            <a:ext cx="7132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回饋學習：人工確認結果回流為標註資料，持續微調車損、比對與整潔模型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989320"/>
            <a:ext cx="320040" cy="201168"/>
          </a:xfrm>
          <a:prstGeom prst="rect">
            <a:avLst/>
          </a:prstGeom>
          <a:noFill/>
          <a:ln w="25400">
            <a:solidFill>
              <a:srgbClr val="1B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25312"/>
            <a:ext cx="23774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實線：Demo 已驗證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5989320"/>
            <a:ext cx="320040" cy="201168"/>
          </a:xfrm>
          <a:prstGeom prst="rect">
            <a:avLst/>
          </a:prstGeom>
          <a:noFill/>
          <a:ln>
            <a:solidFill>
              <a:srgbClr val="1B1F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83280" y="5925312"/>
            <a:ext cx="27432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虛線：目標架構（規劃中）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925312"/>
            <a:ext cx="566928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[n]＝P15 參考文獻編號；取車基準＝上一位還車照＋簽名前異常照（ADR 0002）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應用方法｜為什麼選這些模型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234440"/>
                <a:gridCol w="2148840"/>
                <a:gridCol w="251460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層級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任務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採用方法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選用理由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依據論文（原始名稱）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① 手機端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照片品質與視角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輕量 CNN 品質評分＋視角分類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離線執行、1 秒內回饋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[6] Predictive Quality Assessment for Mobile Secure Graphics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[7] An Open-Source Framework for Quality-Assured Smartphone-Based Visible Light Iris Recognition (arXiv 2025)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新車損歸責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特徵匹配對齊＋物件級變化偵測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容忍視角與光線差異，只對新增損傷預警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[9] LightGlue: Local Feature Matching at Light Speed (ICCV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[2] The Change You Want to See (WACV 2023)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標註資料不足時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一張參考異常偵測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取車基準當正常樣本，不需大量標註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[3] AnomalyGPT: Detecting Industrial Anomalies Using Large Vision-Language Models (AAAI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車損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車損類型與位置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分割模型預訓練後以 iRent 照片微調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公開資料集快速起步；小凹痕另行強化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[1] CarDD: A New Dataset for Vision-based Car Damage Detection (IEEE T-ITS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[8] Small Dents, Big Impact: A Dataset and Deep Learning Approach for Vehicle Dent Detection (arXiv 2025)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整潔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遺留物與髒汙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物件偵測＋開放詞彙偵測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垃圾、杯子、污漬類別多變，免重新標註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[5] Architecture for Determining the Cleanliness in Shared Vehicles Using an Integrated Machine Vision and Indoor Air Quality-Monitoring System (J. Big Data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[10] Classification of Trash and Valuables with Machine Vision in Shared Cars (Applied Sciences 2022)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[11] Scalable Object Detection in the Car Interior With Vision Foundation Models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[12] Grounding DINO: Marrying DINO with Grounded Pre-Training for Open-Set Object Detection (ECCV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③ 報告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整潔分級與說明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Gemini 依評分規則輸出三級與理由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研究尚無「從偵測到單一整潔等級」方法，由 VLM 補上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延伸 [5][11]：兩篇皆將整潔分級列為待解問題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④ 把關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收費決策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人工確認對照證據；VLM 只作第二意見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VLM 定損能力弱、可能幻覺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[4] Harnessing GPT-4V(ision) for Insurance: A Preliminary Exploration (arXiv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98932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選型原則：能用公開資料集與預訓練模型起步、能在試點中用 iRent 照片持續改進、任何收費決策都保留人工確認。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應用方法｜MVP：三環節原型畫面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環節一｜即時防呆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00200"/>
            <a:ext cx="3703320" cy="2651760"/>
          </a:xfrm>
          <a:prstGeom prst="rect">
            <a:avLst/>
          </a:prstGeom>
          <a:solidFill>
            <a:srgbClr val="F6F8FB"/>
          </a:solidFill>
          <a:ln>
            <a:solidFill>
              <a:srgbClr val="0E9A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600200"/>
            <a:ext cx="3703320" cy="2651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0E9AA7"/>
                </a:solidFill>
              </a:rPr>
              <a:t>Demo：照片品質檢查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截圖：上傳不合格照片 → 顯示原因與重拍提示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</a:rPr>
              <a:t>素材 A6：18:00 前補上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4389120"/>
            <a:ext cx="3703320" cy="1783080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25400">
            <a:solidFill>
              <a:srgbClr val="0E9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93192" y="4443983"/>
            <a:ext cx="3557015" cy="1673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9AA7"/>
                </a:solidFill>
              </a:rPr>
              <a:t>運作說明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輸入：一張車外照片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AI：Gemini 依品質規則判斷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輸出：合格／不合格＋原因（模糊、過暗、未拍到車牌、角度、距離、過髒）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環節二｜AI 車況辨識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00200"/>
            <a:ext cx="3703320" cy="2651760"/>
          </a:xfrm>
          <a:prstGeom prst="rect">
            <a:avLst/>
          </a:prstGeom>
          <a:solidFill>
            <a:srgbClr val="F6F8FB"/>
          </a:solidFill>
          <a:ln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600200"/>
            <a:ext cx="3703320" cy="2651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Demo：車內整潔判讀＋新車損比對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截圖：整潔等級與理由；取還車並排比對框選新增損傷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</a:rPr>
              <a:t>素材 A6：18:00 前補上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4389120"/>
            <a:ext cx="3703320" cy="17830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79392" y="4443983"/>
            <a:ext cx="3557015" cy="1673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運作說明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輸入：車內照片；同視角取車基準與還車照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AI：Gemini 整潔三級；變化比對示意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輸出：{整潔等級, 理由, 偵測物品}；疑似新車損位置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環節三｜預警與調度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600200"/>
            <a:ext cx="3703320" cy="2651760"/>
          </a:xfrm>
          <a:prstGeom prst="rect">
            <a:avLst/>
          </a:prstGeom>
          <a:solidFill>
            <a:srgbClr val="F6F8FB"/>
          </a:solidFill>
          <a:ln>
            <a:solidFill>
              <a:srgbClr val="E06A1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600200"/>
            <a:ext cx="3703320" cy="2651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Mockup：後台儀表板</a:t>
            </a:r>
          </a:p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截圖：預警清單依嚴重度排序、派工狀態、客服查詢畫面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</a:rPr>
              <a:t>素材 A6：18:00 前補上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4389120"/>
            <a:ext cx="3703320" cy="178308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5592" y="4443983"/>
            <a:ext cx="3557015" cy="16733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06A10"/>
                </a:solidFill>
              </a:rPr>
              <a:t>運作說明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輸入：環節一、二的判讀結果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流程：異常預警 → 通知客服與外勤 → 暫停出租 → 清潔／整備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輸出：工單、車況狀態、對照證據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626364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</a:rPr>
              <a:t>Demo＝可實際操作的原型；Mockup＝示意畫面。比對與儀表板的完整功能列為目標架構（P8 虛線）。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獨特優勢與差異化｜取還車比對＋AI 不單獨收費＝公平的車況歸責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【內容】與「人工逐張看」「單張 AI 偵測」「AI 自動收費」三種做法比較</a:t>
            </a:r>
          </a:p>
          <a:p>
            <a:r>
              <a:rPr sz="1600"/>
              <a:t>【視覺】比較表</a:t>
            </a:r>
          </a:p>
          <a:p>
            <a:r>
              <a:rPr sz="1600"/>
              <a:t>【證據／引用】ADR 0001；Hertz 案例</a:t>
            </a:r>
          </a:p>
          <a:p>
            <a:r>
              <a:rPr sz="1600"/>
              <a:t>【負責】D｜依賴議題：7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獨特優勢與差異化｜車況接力：讓用戶成為車況的守護者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【內容】回報 → AI＋人工確認 → 和泰 Points；防弊機制；整潔等級為研究空白、iRent 照片資料難以複製</a:t>
            </a:r>
          </a:p>
          <a:p>
            <a:r>
              <a:rPr sz="1600"/>
              <a:t>【視覺】誘因與防弊流程圖</a:t>
            </a:r>
          </a:p>
          <a:p>
            <a:r>
              <a:rPr sz="1600"/>
              <a:t>【證據／引用】規則 I1–I4；Plan.md 缺口分析</a:t>
            </a:r>
          </a:p>
          <a:p>
            <a:r>
              <a:rPr sz="1600"/>
              <a:t>【負責】C、D｜依賴議題：8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預期效益與落地評估｜五項指標，可在試點中驗證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【內容】審照片工時、異常攔截時間、照片一次合格率、髒車客訴、車損爭議</a:t>
            </a:r>
          </a:p>
          <a:p>
            <a:r>
              <a:rPr sz="1600"/>
              <a:t>【視覺】KPI 表（現況 → 目標）</a:t>
            </a:r>
          </a:p>
          <a:p>
            <a:r>
              <a:rPr sz="1600"/>
              <a:t>【證據／引用】議題 9</a:t>
            </a:r>
          </a:p>
          <a:p>
            <a:r>
              <a:rPr sz="1600"/>
              <a:t>【負責】D｜依賴議題：9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預期效益與落地評估｜三階段導入，先從一個城市試點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【內容】試點（整潔判讀＋品質防呆）→ 擴大（車損比對）→ 全面（車況接力＋持續學習）；資源需求與 API 成本</a:t>
            </a:r>
          </a:p>
          <a:p>
            <a:r>
              <a:rPr sz="1600"/>
              <a:t>【視覺】導入時程圖</a:t>
            </a:r>
          </a:p>
          <a:p>
            <a:r>
              <a:rPr sz="1600"/>
              <a:t>【證據／引用】議題 9</a:t>
            </a:r>
          </a:p>
          <a:p>
            <a:r>
              <a:rPr sz="1600"/>
              <a:t>【負責】D、B｜依賴議題：9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7. 補充資料｜參考文獻與原型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【內容】引用清單、GitHub 連結、更多 mockup</a:t>
            </a:r>
          </a:p>
          <a:p>
            <a:r>
              <a:rPr sz="1600"/>
              <a:t>【視覺】文獻列表＋QR code</a:t>
            </a:r>
          </a:p>
          <a:p>
            <a:r>
              <a:rPr sz="1600"/>
              <a:t>【證據／引用】Plan.md Tier 1–3</a:t>
            </a:r>
          </a:p>
          <a:p>
            <a:r>
              <a:rPr sz="1600"/>
              <a:t>【負責】D｜依賴議題：3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附錄｜題目需求對照表（不計入 15 頁）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760720"/>
                <a:gridCol w="15544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題目要求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對應設計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頁面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環節一：上傳當下判斷照片品質（位置、模糊、車牌、角度、太遠太近、太髒）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手機端即時防呆：視角分類、模糊／過暗、車牌入鏡、距離、畫面過髒；1 秒內提示重拍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環節二.1：辨識本次租車產生的新車損並預警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以取車基準與還車照做變化比對，只對新增損傷預警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環節二.2：車內整潔分類為髒汙／普通／乾淨，髒汙即預警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整潔三級定義＋遺留物偵測＋Gemini 評分規則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環節二.3：異常時具備後台預警與通知機制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異常預警即時通知後台儀表板、客服、外勤 App，工單依嚴重度排序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環節三：客服及營運即時得知車況，安排整備與清潔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髒汙暫停出租並排清潔；車損排整備；客服即時查車況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題目敘述：提醒用戶完成正確拍攝與回報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即時防呆引導重拍；取車時確認或補拍異常（車況接力）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P5、P12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鼓勵：創新服務流程與用戶體驗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車況接力、AI 不單獨收費與申訴機制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P11、P12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