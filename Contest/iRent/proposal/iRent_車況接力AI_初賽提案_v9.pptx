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P1｜1. 提案概述</a:t>
            </a:r>
          </a:p>
          <a:p>
            <a:r>
              <a:t>主訊息：讓每一張取還車照片都被 AI 即時看懂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P2｜2. 目標對象與痛點</a:t>
            </a:r>
          </a:p>
          <a:p>
            <a:r>
              <a:t>主訊息：200 萬會員的照片，正由人工逐張檢查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P3｜2. 目標對象與痛點</a:t>
            </a:r>
          </a:p>
          <a:p>
            <a:r>
              <a:t>主訊息：兩位 Persona，同一個問題：照片沒被及時看懂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P4｜2. 目標對象與痛點</a:t>
            </a:r>
          </a:p>
          <a:p>
            <a:r>
              <a:t>主訊息：新車損的難題是「歸責」，不是「偵測」</a:t>
            </a:r>
          </a:p>
          <a:p>
            <a:r>
              <a:t>詳見 Contest/Discuss/Proposal_Blueprint.md 正文 15 頁表格。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/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團隊：（待會議決定）｜2026 和泰 AI 黑客松 初賽提案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（待會議決定）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車況接力 AI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運用 AI 打造 iRent 智能車況管家：優化租還車體驗與營運效率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iRent 後台車況審核與整備人員，以及每一位取還車的租車用戶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891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3. 預警自動派工，並以車況接力機制保護下一位用戶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rgbClr val="888888"/>
                          </a:solidFill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1. 提案概述｜讓每一張取還車照片都被 AI 即時看懂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【內容】產品名稱、標語、一句話主張</a:t>
            </a:r>
          </a:p>
          <a:p>
            <a:r>
              <a:rPr sz="1600"/>
              <a:t>【視覺】三環節＋車況接力的一張總覽圖</a:t>
            </a:r>
          </a:p>
          <a:p>
            <a:r>
              <a:rPr sz="1600"/>
              <a:t>【證據／引用】—</a:t>
            </a:r>
          </a:p>
          <a:p>
            <a:r>
              <a:rPr sz="1600"/>
              <a:t>【負責】D｜依賴議題：10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目標對象與痛點｜200 萬會員的照片，正由人工逐張檢查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【內容】iRent 規模（會員 200 萬+、累積 2,000 萬+ 次租借、約 2,000 據點）；現行取還車拍照流程</a:t>
            </a:r>
          </a:p>
          <a:p>
            <a:r>
              <a:rPr sz="1600"/>
              <a:t>【視覺】流程圖標出人工瓶頸</a:t>
            </a:r>
          </a:p>
          <a:p>
            <a:r>
              <a:rPr sz="1600"/>
              <a:t>【證據／引用】媒體報導；解題資源流程圖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目標對象與痛點｜兩位 Persona，同一個問題：照片沒被及時看懂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【內容】通勤族用戶（地下停車場、怕被誤判）vs. 審核／整備人員（看不完、發現太晚），各 3 個痛點</a:t>
            </a:r>
          </a:p>
          <a:p>
            <a:r>
              <a:rPr sz="1600"/>
              <a:t>【視覺】雙 Persona 卡片</a:t>
            </a:r>
          </a:p>
          <a:p>
            <a:r>
              <a:rPr sz="1600"/>
              <a:t>【證據／引用】App 評論截圖（會前 P3 蒐集）</a:t>
            </a:r>
          </a:p>
          <a:p>
            <a:r>
              <a:rPr sz="1600"/>
              <a:t>【負責】C｜依賴議題：4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2. 目標對象與痛點｜新車損的難題是「歸責」，不是「偵測」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600"/>
              <a:t>【內容】用戶取車未拍照被認定車損的案例；Hertz AI 自動收費引發爭議</a:t>
            </a:r>
          </a:p>
          <a:p>
            <a:r>
              <a:rPr sz="1600"/>
              <a:t>【視覺】案例對照圖</a:t>
            </a:r>
          </a:p>
          <a:p>
            <a:r>
              <a:rPr sz="1600"/>
              <a:t>【證據／引用】TVBS 報導；Hertz × UVeye 報導</a:t>
            </a:r>
          </a:p>
          <a:p>
            <a:r>
              <a:rPr sz="1600"/>
              <a:t>【負責】C、D｜依賴議題：4、7</a:t>
            </a:r>
          </a:p>
          <a:p>
            <a:r>
              <a:rPr sz="1600"/>
              <a:t>【狀態】骨架，待 10/13 會議決策後填寫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取還車拍照當下，AI 即時檢核照片能否用於車況比對；不合格當場提示重拍，從源頭減少事後爭議與人工補件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1423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5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 3／8｜左前 45°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C3A4A"/>
          </a:solidFill>
          <a:ln/>
        </p:spPr>
        <p:txBody>
          <a:bodyPr/>
          <a:lstStyle/>
          <a:p>
            <a:endParaRPr lang="zh-TW" altLang="en-US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86EFA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✓ 車牌已對準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⚠ 太暗，請開啟閃光燈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38100">
            <a:solidFill>
              <a:srgbClr val="9FB0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必拍清單（8 張，依序引導）</a:t>
            </a:r>
            <a:r>
              <a:rPr lang="en-US" sz="1500" b="1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｜發現既有傷痕，補拍特寫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08243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車頭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546637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左前 45°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585032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右前 45°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9623426" y="1869859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車尾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508243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左後 45°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546637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6" tIns="58692" rIns="31675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右後 45°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85032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⑦ 車牌特寫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623426" y="2343684"/>
            <a:ext cx="1955866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 wrap="square" lIns="84025" tIns="58692" rIns="31676" bIns="33248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⑧ 儀表板里程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即時提示規則（拍照當下觸發）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情境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判斷依據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畫面提示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太暗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曝光／亮度分佈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「請開啟閃光燈」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未拍到車牌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車牌偵測＋OCR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「請將車牌置入框內」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角度不對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車體部位分類（對照指定角度）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「請移至左前 45° 位置」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畫面模糊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清晰度分數（拉普拉斯變異數）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「請持穩後重拍」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距離不當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車體佔畫面比例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「請靠近一點／後退一步」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首拍合格率 ↑｜單次重拍次數 ↓｜事後爭議／人工補件 ↓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只比對同一趟的取車與還車：既有傷痕與取車時的髒污不算在這位用戶身上，只有新增問題才預警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車損：取還車同視角比對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取車（基準）</a:t>
            </a:r>
            <a:endParaRPr lang="en-US" sz="1200" dirty="0"/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既有傷痕 → 已記錄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還車（同視角）</a:t>
            </a:r>
            <a:endParaRPr lang="en-US" sz="1200" dirty="0"/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2410C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新增刮痕 → 預警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同視角對位 → 差異偵測 → 扣除既有傷痕，只有新增項目進入預警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車內整潔三級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1D4ED8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乾淨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無垃圾、無可見污漬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範例：座椅、地墊、置物格整齊 → 不預警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13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普通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少量碎屑或輕微灰塵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範例：地墊零星砂土 → 記錄，不派工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9A341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髒汙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明顯污漬、食物殘渣或垃圾堆積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範例：座椅潑灑飲料、垃圾遺留 → 預警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E8EFFF"/>
          </a:solidFill>
          <a:ln/>
        </p:spPr>
        <p:txBody>
          <a:bodyPr wrap="square" lIns="104682" tIns="66582" rIns="0" bIns="41094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以取車等級為基準</a:t>
            </a:r>
            <a:r>
              <a:rPr lang="en-US" sz="1300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：取車「普通」、還車仍「普通」不預警；等級下降才預警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預警條件：新增車損 或 整潔等級下降 → 產生預警工單，送環節三派工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預警成立即鎖車、依嚴重度派工，整備完成才恢復出租，讓下一位用戶只會拿到可用的車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預警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比對後產生預警工單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暫停出租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車輛即時下架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清潔／整備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依嚴重度排序派工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恢復出租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複拍通過後重新上架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後台儀表板（依嚴重度排序，示意資料）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嚴重度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車輛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預警原因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狀態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5F1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派工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新增車損：右前保桿刮痕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板金評估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高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00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髒汙：座椅潑灑飲料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已暫停出租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專業清潔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新增車損：輕微擦痕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排程整備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整備站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低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ABC-0004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AI 信心不足：照片疑義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待複核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33A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人工複核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下一位用戶保護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預警成立即鎖車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車輛自動下架，不再被新預約選到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已預約者自動改派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改派同區同級車並通知用戶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D9DE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整備完成才解鎖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現場複拍通過檢核（沿用環節一）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14233A"/>
          </a:solidFill>
          <a:ln/>
        </p:spPr>
        <p:txBody>
          <a:bodyPr wrap="square" lIns="130038" tIns="79282" rIns="0" bIns="5375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5F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成效指標：流入下一位用戶的髒車／損車 ↓｜預警到恢復出租時間 ↓｜車輛可出租率 ↑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4213D"/>
                </a:solidFill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19050">
            <a:solidFill>
              <a:srgbClr val="0E9AA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9AA7"/>
                </a:solidFill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19050">
            <a:solidFill>
              <a:srgbClr val="2F6B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F6BC4"/>
                </a:solidFill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19050">
            <a:solidFill>
              <a:srgbClr val="E06A1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E06A10"/>
                </a:solidFill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93"/>
                </a:solidFill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5F6B7A"/>
                </a:solidFill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A4C93"/>
                </a:solidFill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B1F2A"/>
                </a:solidFill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1B1F2A"/>
                </a:solidFill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1B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1B1F2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[n]＝P15 參考文獻編號；取車基準＝上一位還車照＋簽名前異常照（ADR 0002）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B1F2A"/>
                          </a:solidFill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B1F2A"/>
                          </a:solidFill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B1F2A"/>
                          </a:solidFill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F6B7A"/>
                </a:solidFill>
              </a:rPr>
              <a:t>選型原則：能用公開資料集與預訓練模型起步、能在試點中用 iRent 照片持續改進、任何收費決策都保留人工確認。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環節一｜即時防呆（Demo）</a:t>
            </a:r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E9AA7"/>
                </a:solidFill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環節二｜AI 車況辨識（Demo）</a:t>
            </a:r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F6BC4"/>
                </a:solidFill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06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環節三｜預警與調度（Mockup）</a:t>
            </a:r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C8CCD2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E06A10"/>
                </a:solidFill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B1F2A"/>
                </a:solidFill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F6B7A"/>
                </a:solidFill>
              </a:rPr>
              <a:t>畫面為原型示意，介面風格參考 iRent App；Demo＝可實際操作，Mockup＝示意畫面；車牌與資料皆為虛構。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B1F2A"/>
                          </a:solidFill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B1F2A"/>
                </a:solidFill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用戶從「被檢查的人」變成「車況的守護者」：誠實回報有獎勵，也不必擔心替上一手背責任。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E06A10"/>
                </a:solidFill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5F6B7A"/>
                </a:solidFill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EE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B1F2A"/>
                          </a:solidFill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FF0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B1F2A"/>
                          </a:solidFill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F6B7A"/>
                </a:solidFill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14213D"/>
                </a:solidFill>
              </a:rPr>
              <a:t>每次還車照片在上傳當下即被看懂，營運人員只需處理 AI 標記的少數異常。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3F4F5"/>
          </a:solidFill>
          <a:ln w="25400">
            <a:solidFill>
              <a:srgbClr val="0E9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0E9AA7"/>
                </a:solidFill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0E9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2F6BC4"/>
                </a:solidFill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2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1EBF8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6A4C93"/>
                </a:solidFill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4213D"/>
                </a:solidFill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0E3"/>
          </a:solidFill>
          <a:ln w="25400">
            <a:solidFill>
              <a:srgbClr val="E06A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E06A10"/>
                </a:solidFill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B1F2A"/>
                </a:solidFill>
              </a:rPr>
              <a:t>資料規範：解題資料不外流，demo 僅用公開或自拍照片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B1F2A"/>
                </a:solidFill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2540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213D"/>
                </a:solidFill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E8F0FB"/>
          </a:solidFill>
          <a:ln w="25400">
            <a:solidFill>
              <a:srgbClr val="2F6B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F6BC4"/>
                </a:solidFill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B1F2A"/>
                </a:solidFill>
              </a:rPr>
              <a:t>需求對照：見附錄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/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頁面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P5、P12</a:t>
                      </a:r>
                    </a:p>
                  </a:txBody>
                  <a:tcPr anchor="ctr"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B1F2A"/>
                          </a:solidFill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