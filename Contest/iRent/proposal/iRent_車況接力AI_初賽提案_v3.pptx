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P5｜3. 解決方案設計</a:t>
            </a:r>
          </a:p>
          <a:p>
            <a:r>
              <a:t>主訊息：環節一：拍照當下就防呆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P6｜3. 解決方案設計</a:t>
            </a:r>
          </a:p>
          <a:p>
            <a:r>
              <a:t>主訊息：環節二：AI 只對「這次」的問題預警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P7｜3. 解決方案設計</a:t>
            </a:r>
          </a:p>
          <a:p>
            <a:r>
              <a:t>主訊息：環節三：預警即派工，下一位不會接到髒車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整潔判讀），虛線框為目標架構。核心是取還車變化比對：以上一位用戶的還車照作為取車基準，只對本次租用新增的損傷預警；任何收費都必須經人工確認對照證據。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MVP：三個環節各一格截圖。環節一、二以 Gemini 判讀做可操作 demo，環節三以儀表板 mockup 呈現；截圖到位後替換虛線框。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P11｜5. 獨特優勢與差異化</a:t>
            </a:r>
          </a:p>
          <a:p>
            <a:r>
              <a:t>主訊息：取還車比對＋AI 不單獨收費＝公平的車況歸責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P12｜5. 獨特優勢與差異化</a:t>
            </a:r>
          </a:p>
          <a:p>
            <a:r>
              <a:t>主訊息：車況接力：讓用戶成為車況的守護者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P13｜6. 預期效益與落地評估</a:t>
            </a:r>
          </a:p>
          <a:p>
            <a:r>
              <a:t>主訊息：五項指標，可在試點中驗證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P14｜6. 預期效益與落地評估</a:t>
            </a:r>
          </a:p>
          <a:p>
            <a:r>
              <a:t>主訊息：三階段導入，先從一個城市試點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P15｜7. 補充資料</a:t>
            </a:r>
          </a:p>
          <a:p>
            <a:r>
              <a:t>主訊息：參考文獻與原型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【內容】必拍清單；即時提示（太暗請開閃光燈、未拍到車牌、角度不對、模糊、距離）</a:t>
            </a:r>
          </a:p>
          <a:p>
            <a:r>
              <a:rPr sz="1600"/>
              <a:t>【視覺】App 取景畫面 mockup</a:t>
            </a:r>
          </a:p>
          <a:p>
            <a:r>
              <a:rPr sz="1600"/>
              <a:t>【證據／引用】規則 R1、R2</a:t>
            </a:r>
          </a:p>
          <a:p>
            <a:r>
              <a:rPr sz="1600"/>
              <a:t>【負責】C｜依賴議題：5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【內容】取還車同視角比對新車損；車內整潔三級（乾淨／普通／髒汙）定義與範例</a:t>
            </a:r>
          </a:p>
          <a:p>
            <a:r>
              <a:rPr sz="1600"/>
              <a:t>【視覺】取還車並排比對示意＋整潔範例</a:t>
            </a:r>
          </a:p>
          <a:p>
            <a:r>
              <a:rPr sz="1600"/>
              <a:t>【證據／引用】規則 R3、R4</a:t>
            </a:r>
          </a:p>
          <a:p>
            <a:r>
              <a:rPr sz="1600"/>
              <a:t>【負責】C、A｜依賴議題：5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【內容】預警 → 暫停出租 → 清潔／整備 → 恢復出租；下一位用戶保護</a:t>
            </a:r>
          </a:p>
          <a:p>
            <a:r>
              <a:rPr sz="1600"/>
              <a:t>【視覺】後台儀表板 mockup（依嚴重度排序）</a:t>
            </a:r>
          </a:p>
          <a:p>
            <a:r>
              <a:rPr sz="1600"/>
              <a:t>【證據／引用】規則 R5、R6</a:t>
            </a:r>
          </a:p>
          <a:p>
            <a:r>
              <a:rPr sz="1600"/>
              <a:t>【負責】C、B｜依賴議題：5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2344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17373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車況檢視／車況回報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取車基準：上一位用戶的還車照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用戶確認或補拍異常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785615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785615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7856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遺留物偵測（EfficientDet 類，mAP 0.87）[5][10]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開放詞彙偵測：垃圾、杯子、污漬 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依評分規則判定：乾淨／普通／髒汙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600200"/>
            <a:ext cx="173736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94192" y="1655064"/>
            <a:ext cx="159105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整潔三級＋理由（Demo）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白話車況說明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工單摘要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對新車損提供第二意見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不作收費依據：VLM 定損弱、會幻覺 [4]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165592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ft Arrow 30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參考文獻編號；取車基準預設為上一位用戶的還車照（車況接力）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遺留物與髒汙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物件偵測＋開放詞彙偵測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[10] Classification of Trash and Valuables with Machine Vision in Shared Cars (Applied Sciences 2022)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依評分規則輸出三級與理由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研究尚無「從偵測到單一整潔等級」方法，由 VLM 補上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延伸 [5][11]：兩篇皆將整潔分級列為待解問題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3703320" cy="2651760"/>
          </a:xfrm>
          <a:prstGeom prst="rect">
            <a:avLst/>
          </a:prstGeom>
          <a:solidFill>
            <a:srgbClr val="F6F8FB"/>
          </a:solidFill>
          <a:ln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00200"/>
            <a:ext cx="3703320" cy="2651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E9AA7"/>
                </a:solidFill>
              </a:rPr>
              <a:t>Demo：照片品質檢查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截圖：上傳不合格照片 → 顯示原因與重拍提示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素材 A6：18:00 前補上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4389120"/>
            <a:ext cx="3703320" cy="17830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2540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93192" y="4443983"/>
            <a:ext cx="3557015" cy="1673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運作說明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輸入：一張車外照片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AI：Gemini 依品質規則判斷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輸出：合格／不合格＋原因（模糊、過暗、未拍到車牌、角度、距離、過髒）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00200"/>
            <a:ext cx="3703320" cy="2651760"/>
          </a:xfrm>
          <a:prstGeom prst="rect">
            <a:avLst/>
          </a:prstGeom>
          <a:solidFill>
            <a:srgbClr val="F6F8FB"/>
          </a:solidFill>
          <a:ln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600200"/>
            <a:ext cx="3703320" cy="2651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Demo：車內整潔判讀＋新車損比對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截圖：整潔等級與理由；取還車並排比對框選新增損傷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素材 A6：18:00 前補上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389120"/>
            <a:ext cx="3703320" cy="17830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79392" y="4443983"/>
            <a:ext cx="3557015" cy="1673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運作說明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輸入：車內照片；同視角取車基準與還車照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AI：Gemini 整潔三級；變化比對示意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輸出：{整潔等級, 理由, 偵測物品}；疑似新車損位置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600200"/>
            <a:ext cx="3703320" cy="2651760"/>
          </a:xfrm>
          <a:prstGeom prst="rect">
            <a:avLst/>
          </a:prstGeom>
          <a:solidFill>
            <a:srgbClr val="F6F8FB"/>
          </a:solidFill>
          <a:ln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600200"/>
            <a:ext cx="3703320" cy="2651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Mockup：後台儀表板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截圖：預警清單依嚴重度排序、派工狀態、客服查詢畫面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素材 A6：18:00 前補上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389120"/>
            <a:ext cx="3703320" cy="17830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5592" y="4443983"/>
            <a:ext cx="3557015" cy="1673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運作說明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輸入：環節一、二的判讀結果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流程：異常預警 → 通知客服與外勤 → 暫停出租 → 清潔／整備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輸出：工單、車況狀態、對照證據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Demo＝可實際操作的原型；Mockup＝示意畫面。比對與儀表板的完整功能列為目標架構（P8 虛線）。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【內容】與「人工逐張看」「單張 AI 偵測」「AI 自動收費」三種做法比較</a:t>
            </a:r>
          </a:p>
          <a:p>
            <a:r>
              <a:rPr sz="1600"/>
              <a:t>【視覺】比較表</a:t>
            </a:r>
          </a:p>
          <a:p>
            <a:r>
              <a:rPr sz="1600"/>
              <a:t>【證據／引用】ADR 0001；Hertz 案例</a:t>
            </a:r>
          </a:p>
          <a:p>
            <a:r>
              <a:rPr sz="1600"/>
              <a:t>【負責】D｜依賴議題：7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【內容】回報 → AI＋人工確認 → 和泰 Points；防弊機制；整潔等級為研究空白、iRent 照片資料難以複製</a:t>
            </a:r>
          </a:p>
          <a:p>
            <a:r>
              <a:rPr sz="1600"/>
              <a:t>【視覺】誘因與防弊流程圖</a:t>
            </a:r>
          </a:p>
          <a:p>
            <a:r>
              <a:rPr sz="1600"/>
              <a:t>【證據／引用】規則 I1–I4；Plan.md 缺口分析</a:t>
            </a:r>
          </a:p>
          <a:p>
            <a:r>
              <a:rPr sz="1600"/>
              <a:t>【負責】C、D｜依賴議題：8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【內容】審照片工時、異常攔截時間、照片一次合格率、髒車客訴、車損爭議</a:t>
            </a:r>
          </a:p>
          <a:p>
            <a:r>
              <a:rPr sz="1600"/>
              <a:t>【視覺】KPI 表（現況 → 目標）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【內容】試點（整潔判讀＋品質防呆）→ 擴大（車損比對）→ 全面（車況接力＋持續學習）；資源需求與 API 成本</a:t>
            </a:r>
          </a:p>
          <a:p>
            <a:r>
              <a:rPr sz="1600"/>
              <a:t>【視覺】導入時程圖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【負責】D、B｜依賴議題：9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【內容】引用清單、GitHub 連結、更多 mockup</a:t>
            </a:r>
          </a:p>
          <a:p>
            <a:r>
              <a:rPr sz="1600"/>
              <a:t>【視覺】文獻列表＋QR code</a:t>
            </a:r>
          </a:p>
          <a:p>
            <a:r>
              <a:rPr sz="1600"/>
              <a:t>【證據／引用】Plan.md Tier 1–3</a:t>
            </a:r>
          </a:p>
          <a:p>
            <a:r>
              <a:rPr sz="1600"/>
              <a:t>【負責】D｜依賴議題：3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