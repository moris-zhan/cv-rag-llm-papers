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與總覽" id="{5e317186-1653-4e88-2ff6-7074ceb5bb77}">
          <p14:sldIdLst>
            <p14:sldId id="256"/>
            <p14:sldId id="257"/>
            <p14:sldId id="258"/>
          </p14:sldIdLst>
        </p14:section>
        <p14:section name="賽事內容" id="{64c5f001-67ba-5a4a-e6f8-e5d7a504c55a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結語" id="{3c4dcd68-3858-1e11-8622-ed8eac09119b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14213D"/>
                </a:solidFill>
                <a:latin typeface="+mn-lt"/>
              </a:rPr>
              <a:t>初賽｜線上書面評審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初賽</c:v>
                </c:pt>
              </c:strCache>
            </c:strRef>
          </c:tx>
          <c:spPr>
            <a:solidFill>
              <a:srgbClr val="D7263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主題連結度</c:v>
                  </c:pt>
                  <c:pt idx="1">
                    <c:v>創意表現</c:v>
                  </c:pt>
                  <c:pt idx="2">
                    <c:v>提案可行性</c:v>
                  </c:pt>
                  <c:pt idx="3">
                    <c:v>AI 應用整合性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25</c:v>
                </c:pt>
                <c:pt idx="2">
                  <c:v>25</c:v>
                </c:pt>
                <c:pt idx="3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14213D"/>
                </a:solidFill>
                <a:latin typeface="+mn-lt"/>
              </a:rPr>
              <a:t>決賽｜現場 Demo＋Prototype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決賽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提案可行性</c:v>
                  </c:pt>
                  <c:pt idx="1">
                    <c:v>AI 應用整合性</c:v>
                  </c:pt>
                  <c:pt idx="2">
                    <c:v>商業應用價值</c:v>
                  </c:pt>
                  <c:pt idx="3">
                    <c:v>作品完成度</c:v>
                  </c:pt>
                  <c:pt idx="4">
                    <c:v>簡報表達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15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14213D"/>
                </a:solidFill>
                <a:latin typeface="+mn-lt"/>
              </a:rPr>
              <a:t>各獎項單隊獎金（新台幣萬元）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單隊獎金（萬元）</c:v>
                </c:pt>
              </c:strCache>
            </c:strRef>
          </c:tx>
          <c:spPr>
            <a:solidFill>
              <a:srgbClr val="D7263D"/>
            </a:solidFill>
            <a:effectLst/>
          </c:spPr>
          <c:invertIfNegative val="0"/>
          <c:dLbls>
            <c:numFmt formatCode="0&quot;萬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冠軍 ×1</c:v>
                  </c:pt>
                  <c:pt idx="1">
                    <c:v>亞軍 ×1</c:v>
                  </c:pt>
                  <c:pt idx="2">
                    <c:v>季軍 ×1</c:v>
                  </c:pt>
                  <c:pt idx="3">
                    <c:v>潛力新星獎 ×4</c:v>
                  </c:pt>
                  <c:pt idx="4">
                    <c:v>佳作 ×8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5</c:v>
                </c:pt>
                <c:pt idx="4">
                  <c:v>1</c:v>
                </c:pt>
              </c:numCache>
            </c:numRef>
          </c:val>
        </c:ser>
        <c:dLbls>
          <c:numFmt formatCode="0&quot;萬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和泰 AI 黑客松｜競賽情報｜資料來源：競賽官方網站（擷取於 2026/10/08）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4C5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COMPETITION BRIEF · 2026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25880"/>
            <a:ext cx="105156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和泰 AI 黑客松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423160"/>
            <a:ext cx="10515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AI 為核心動力，讓創意成為可落地的解決方案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411480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F3157"/>
          </a:solidFill>
          <a:ln w="12700">
            <a:solidFill>
              <a:srgbClr val="1F31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4251960"/>
            <a:ext cx="21031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主辦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4617720"/>
            <a:ext cx="21945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和泰汽車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74720" y="411480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F3157"/>
          </a:solidFill>
          <a:ln w="12700">
            <a:solidFill>
              <a:srgbClr val="1F31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4251960"/>
            <a:ext cx="21031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企業命題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4617720"/>
            <a:ext cx="21945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道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217920" y="411480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F3157"/>
          </a:solidFill>
          <a:ln w="12700">
            <a:solidFill>
              <a:srgbClr val="1F31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4251960"/>
            <a:ext cx="21031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總獎金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4617720"/>
            <a:ext cx="21945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NT$100 萬+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961120" y="411480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F3157"/>
          </a:solidFill>
          <a:ln w="12700">
            <a:solidFill>
              <a:srgbClr val="1F315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89720" y="4251960"/>
            <a:ext cx="21031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初賽截止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189720" y="4617720"/>
            <a:ext cx="21945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C5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10/14 13:00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6080760"/>
            <a:ext cx="10515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C5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ht-hackathon.tw/tw/home/｜資料擷取日 2026/10/08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賽事一覽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和泰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89611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26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主辦／夥伴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和泰汽車股份有限公司；合作夥伴 Google Cloud；承辦 獎金獵人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企業命題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TOYOTA ×2、LEXUS、HINO、iRent、yoxi、去趣 eSIM，共 7 道真實命題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參賽資格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高中職、大專院校學生及社會人士；隊長須具中華民國國籍；未滿 18 歲附法定代理人同意書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隊伍人數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2–5 人（不可個人、不可跨隊）＋最多 2 位指導老師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提案上限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每隊最多 7 件，每題限 1 件；一案一報名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初賽截止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2026/10/14（三）13:00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初賽繳件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PDF 解決方案簡報（≤ 15 頁，七大架構）＋3 分鐘說明影片（YouTube 不公開）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決賽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10/28 公布 15 隊 → 11/07 工作坊 → 11/18 最終提案 ≤ 30 頁 → 11/21 現場 Demo 與頒獎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獎金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冠軍 30 萬、亞軍 25 萬、季軍 20 萬、潛力新星 5 萬 ×4、佳作 1 萬 ×8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距離初賽截止只剩 6 天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840480" cy="4480560"/>
          </a:xfrm>
          <a:prstGeom prst="roundRect">
            <a:avLst>
              <a:gd name="adj" fmla="val 285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384048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F4C5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49040"/>
            <a:ext cx="38404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天（自 10/08 起算）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343400"/>
            <a:ext cx="38404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2026/10/14（三）13:00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以主辦收件時間為準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6858000" cy="4480560"/>
          </a:xfrm>
          <a:prstGeom prst="roundRect">
            <a:avLst>
              <a:gd name="adj" fmla="val 2449"/>
            </a:avLst>
          </a:prstGeom>
          <a:solidFill>
            <a:srgbClr val="FBE6E9"/>
          </a:solidFill>
          <a:ln w="12700">
            <a:solidFill>
              <a:srgbClr val="FBE6E9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029200" y="1600200"/>
            <a:ext cx="6309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截止前必須完成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2148840"/>
            <a:ext cx="630936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步驟一：官網「我要報名」填寫團隊資料，取得 SID，並收取解題資源信件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步驟二：隊長登入「投稿紀錄」上傳 PDF 簡報（≤ 15 頁）＋3 分鐘影片連結，送出「請求更新」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影片標題：出題企業_作品名稱_2026 和泰 AI 黑客松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全員完成獎金獵人帳號驗證，否則收不到通知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系統問題須於截止前連同截圖寄 ht-hackathon@bhuntr.com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First：以集團真實營運場景為舞台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148840" cy="2011680"/>
          </a:xfrm>
          <a:prstGeom prst="roundRect">
            <a:avLst>
              <a:gd name="adj" fmla="val 545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2022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94560"/>
            <a:ext cx="1828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MaaS 數據黑客松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06040"/>
            <a:ext cx="18288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數據探索啟動創新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80360" y="1371600"/>
            <a:ext cx="2148840" cy="2011680"/>
          </a:xfrm>
          <a:prstGeom prst="roundRect">
            <a:avLst>
              <a:gd name="adj" fmla="val 545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06324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2024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2194560"/>
            <a:ext cx="1828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MaaS 黑客松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2606040"/>
            <a:ext cx="18288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深入 MaaS 生態圈實踐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12080" y="1371600"/>
            <a:ext cx="2148840" cy="2011680"/>
          </a:xfrm>
          <a:prstGeom prst="roundRect">
            <a:avLst>
              <a:gd name="adj" fmla="val 5455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39496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2194560"/>
            <a:ext cx="1828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黑客松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94960" y="2606040"/>
            <a:ext cx="18288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E3E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First，GenAI＋大數據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657600"/>
            <a:ext cx="685800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和泰汽車攜手集團品牌共同出題：顧客服務、售後體驗、共享出行、商用車聯網、跨境通訊、品牌行銷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每一道題目都來自企業真實需求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兩階段：初賽重策略思維與提案邏輯；決賽經工作坊深化技術與可行性，現場以實作成果與 Prototype 展示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863840" y="1371600"/>
            <a:ext cx="3749040" cy="4754880"/>
          </a:xfrm>
          <a:prstGeom prst="roundRect">
            <a:avLst>
              <a:gd name="adj" fmla="val 292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13816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總獎金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138160" y="1965960"/>
            <a:ext cx="32918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C5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NT$100 萬+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最高獎金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3383280"/>
            <a:ext cx="32918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NT$30 萬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8138160" y="4480560"/>
            <a:ext cx="32918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決賽入圍 15 隊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 隊得獎（含佳作）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七道企業挑戰題目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624328" cy="2148840"/>
          </a:xfrm>
          <a:prstGeom prst="roundRect">
            <a:avLst>
              <a:gd name="adj" fmla="val 51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1490472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01｜TOYOTA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65960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智能轉型：AI 助攻油轉電 TOYOTA EV 新生活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55848" y="1325880"/>
            <a:ext cx="2624328" cy="2148840"/>
          </a:xfrm>
          <a:prstGeom prst="roundRect">
            <a:avLst>
              <a:gd name="adj" fmla="val 51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38728" y="1490472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02｜TOYOTA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38728" y="1965960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運用 AI 再造 TOYOTA 下一代顧客售後服務體驗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63056" y="1325880"/>
            <a:ext cx="2624328" cy="2148840"/>
          </a:xfrm>
          <a:prstGeom prst="roundRect">
            <a:avLst>
              <a:gd name="adj" fmla="val 51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45936" y="1490472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03｜LEXUS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345936" y="1965960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流失風險洞察與智慧溝通：打造 Lexus 車主忠誠度的終極防線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70264" y="1325880"/>
            <a:ext cx="2624328" cy="2148840"/>
          </a:xfrm>
          <a:prstGeom prst="roundRect">
            <a:avLst>
              <a:gd name="adj" fmla="val 51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53144" y="1490472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04｜HINO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153144" y="1965960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HINO x GenAI：運用商用車車聯網大數據，發展商用車頭家的智慧夥伴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2624328" cy="2148840"/>
          </a:xfrm>
          <a:prstGeom prst="roundRect">
            <a:avLst>
              <a:gd name="adj" fmla="val 5106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31520" y="3867912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05｜iRent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343400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運用 AI 打造 iRent 智能車況管家：優化租還車體驗與營運效率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55848" y="3703320"/>
            <a:ext cx="2624328" cy="2148840"/>
          </a:xfrm>
          <a:prstGeom prst="roundRect">
            <a:avLst>
              <a:gd name="adj" fmla="val 51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3538728" y="3867912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06｜yoxi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538728" y="4343400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不搭車，也打開 yoxi：打造高頻互動的 AI 出行夥伴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63056" y="3703320"/>
            <a:ext cx="2624328" cy="2148840"/>
          </a:xfrm>
          <a:prstGeom prst="roundRect">
            <a:avLst>
              <a:gd name="adj" fmla="val 51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345936" y="3867912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07｜去趣 eSIM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345936" y="4343400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打造去趣 eSIM 全旅程智能銷售與服務體驗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970264" y="3703320"/>
            <a:ext cx="2624328" cy="2148840"/>
          </a:xfrm>
          <a:prstGeom prst="roundRect">
            <a:avLst>
              <a:gd name="adj" fmla="val 5106"/>
            </a:avLst>
          </a:prstGeom>
          <a:solidFill>
            <a:srgbClr val="FFF0E3"/>
          </a:solidFill>
          <a:ln w="12700">
            <a:solidFill>
              <a:srgbClr val="FFF0E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53144" y="3886200"/>
            <a:ext cx="228600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每題限投一件；每隊最多投 7 件（一案一報名），同一提案不可重複或混合投稿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 05｜iRent 智能車況管家（我方選題）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和泰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營運痛點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34747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後台需大量人力即時查看取還車照片，難以第一時間攔截車損、髒亂等異常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88920"/>
            <a:ext cx="34747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體驗痛點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54680"/>
            <a:ext cx="34747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用戶拍攝角度錯誤、照片模糊，或承接上一手髒亂車輛，造成不良體驗與客訴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29768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FBE6E9"/>
          </a:solidFill>
          <a:ln w="12700">
            <a:solidFill>
              <a:srgbClr val="FBE6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389120"/>
            <a:ext cx="315468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解題資源（報名後次一工作日 17:00 前寄出）：iRent 小學堂取車認證／付款還車流程；車外車內照片上傳清單、有／無索賠車輛照片；取還車拍照流程圖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0" y="1325880"/>
            <a:ext cx="7223760" cy="1417320"/>
          </a:xfrm>
          <a:prstGeom prst="roundRect">
            <a:avLst>
              <a:gd name="adj" fmla="val 774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709928"/>
            <a:ext cx="640080" cy="64008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17720" y="17099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1435608"/>
            <a:ext cx="5943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環節一｜即時防呆介入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1801368"/>
            <a:ext cx="59436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上傳當下判斷照片品質：位置是否正確、模糊、未拍到車牌、角度不對、太遠太近、太髒等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89120" y="2926080"/>
            <a:ext cx="7223760" cy="1417320"/>
          </a:xfrm>
          <a:prstGeom prst="roundRect">
            <a:avLst>
              <a:gd name="adj" fmla="val 774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3310128"/>
            <a:ext cx="640080" cy="64008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17720" y="3310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3035808"/>
            <a:ext cx="5943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環節二｜AI 車況辨識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0" y="3401568"/>
            <a:ext cx="59436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車身照比對本次租用的「新車損」並預警；車內照分類「髒汙（須立即清潔）／普通／乾淨」，髒汙即預警；具後台預警與通知機制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89120" y="4526280"/>
            <a:ext cx="7223760" cy="1417320"/>
          </a:xfrm>
          <a:prstGeom prst="roundRect">
            <a:avLst>
              <a:gd name="adj" fmla="val 774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4910328"/>
            <a:ext cx="640080" cy="64008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17720" y="49103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0" y="4636008"/>
            <a:ext cx="5943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環節三｜營運即時調度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5001768"/>
            <a:ext cx="59436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設計流程或機制，讓客服與營運人員即時得知車況（清潔或車損），安排後續整備與清潔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389120" y="6172200"/>
            <a:ext cx="7223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加分：在基本功能之上提出創新服務流程或 UX 優化，展現超越純技術實現的價值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其他六題：核心任務與解題資源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和泰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029200"/>
                <a:gridCol w="420624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題目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核心任務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主辦提供／可用資源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263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TOYOTA 油轉電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為油車車主設計個人化 AI 工具：需求診斷、情境模擬、顧問式推薦（以 bZ4X 為入門），定義通路、User Journey 與 KPI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第三方市調報告與原始資料、型錄配備表、去個資化 CDP 會員資料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TOYOTA 售後服務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提升服務專員維修解說品質與效率、重塑客休等待體驗，找出「品牌高峰體驗」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車主指南網站、LINE 預約手冊、回廠流程手冊；可假設串接保養紀錄、行車與 APP 數據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LEXUS 流失風險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爬梳 PTT／Dcard／Mobile01 輿情，建構 Persona、辨識流失風險，產出 AI 溝通計畫與流程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Lexus 保修服務網頁、車主手冊；自行蒐集社群公開資料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HINO 商用車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整合 iTRAQ 車聯網數據與 GenAI，打造「AI 節能夥伴」或「AI 安全駕駛教練」並量化效益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iTRAQ 官網、4,000+ 輛商用車車聯網大數據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yoxi 出行夥伴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設計讓用戶「不搭車也每天打開 yoxi」的日常互動服務，含商業轉換、技術架構與成效驗證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去識別化叫車時段頻率、POI、熱門上下車點、交通樞紐與活動熱點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去趣 eSIM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以 GenAI 打造行前個人化行銷與病毒式導購，提出完整 GenAI 行銷方案（日韓中港澳市場）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現行行銷管道：數位投廣、部落客、社群、和泰車主管道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參賽資格與提案規則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600200"/>
            <a:ext cx="548640" cy="54864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618488"/>
            <a:ext cx="41148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參賽對象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40280"/>
            <a:ext cx="493776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高中職、大專院校學生及社會人士，不限科系，可混合組隊。未滿 18 歲須附法定代理人同意書。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2200" y="132588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1600200"/>
            <a:ext cx="548640" cy="54864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1618488"/>
            <a:ext cx="41148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團隊人數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240280"/>
            <a:ext cx="493776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每隊 2–5 人，不開放個人及跨隊。可增設至多 2 位指導老師（不限教授，不計人數），但提案須由成員主導。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3977640"/>
            <a:ext cx="548640" cy="54864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995928"/>
            <a:ext cx="41148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隊長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617720"/>
            <a:ext cx="493776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每隊一名隊長，須具中華民國國籍，負責與主辦聯繫、上傳提案與代表領獎。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72200" y="370332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46520" y="3977640"/>
            <a:ext cx="548640" cy="54864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995928"/>
            <a:ext cx="41148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利益迴避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4617720"/>
            <a:ext cx="493776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和泰汽車及其關係企業（含和運租車、和雲行動服務等數十家）任職人員不得參賽。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初賽繳交內容：15 頁簡報＋3 分鐘影片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108960" cy="2194560"/>
          </a:xfrm>
          <a:prstGeom prst="roundRect">
            <a:avLst>
              <a:gd name="adj" fmla="val 5000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27432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頁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27432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內解決方案 PDF 簡報，建議依官方「初賽簡報模板」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3108960" cy="2377440"/>
          </a:xfrm>
          <a:prstGeom prst="roundRect">
            <a:avLst>
              <a:gd name="adj" fmla="val 4615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3886200"/>
            <a:ext cx="27432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C5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分鐘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54880"/>
            <a:ext cx="274320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方案說明影片，YouTube「不公開」，連結須維持可看至 11/21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七大必要架構（順序與美編可自由）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23360" y="1828800"/>
            <a:ext cx="457200" cy="45720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233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1828800"/>
            <a:ext cx="31089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提案概述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818120" y="1828800"/>
            <a:ext cx="457200" cy="457200"/>
          </a:xfrm>
          <a:prstGeom prst="ellipse">
            <a:avLst/>
          </a:prstGeom>
          <a:solidFill>
            <a:srgbClr val="5B6C8F"/>
          </a:solidFill>
          <a:ln w="12700">
            <a:solidFill>
              <a:srgbClr val="5B6C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181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1828800"/>
            <a:ext cx="31089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目標對象與痛點分析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023360" y="2514600"/>
            <a:ext cx="457200" cy="45720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2336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2514600"/>
            <a:ext cx="31089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解決方案設計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818120" y="2514600"/>
            <a:ext cx="457200" cy="457200"/>
          </a:xfrm>
          <a:prstGeom prst="ellipse">
            <a:avLst/>
          </a:prstGeom>
          <a:solidFill>
            <a:srgbClr val="5B6C8F"/>
          </a:solidFill>
          <a:ln w="12700">
            <a:solidFill>
              <a:srgbClr val="5B6C8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1812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0" y="2514600"/>
            <a:ext cx="31089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應用方法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023360" y="3200400"/>
            <a:ext cx="457200" cy="45720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02336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617720" y="3200400"/>
            <a:ext cx="31089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獨特優勢與差異化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818120" y="3200400"/>
            <a:ext cx="457200" cy="457200"/>
          </a:xfrm>
          <a:prstGeom prst="ellipse">
            <a:avLst/>
          </a:prstGeom>
          <a:solidFill>
            <a:srgbClr val="5B6C8F"/>
          </a:solidFill>
          <a:ln w="12700">
            <a:solidFill>
              <a:srgbClr val="5B6C8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181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412480" y="3200400"/>
            <a:ext cx="31089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預期效益與落地評估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023360" y="3886200"/>
            <a:ext cx="457200" cy="45720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0233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617720" y="3886200"/>
            <a:ext cx="31089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補充資料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023360" y="4709160"/>
            <a:ext cx="7589520" cy="1417320"/>
          </a:xfrm>
          <a:prstGeom prst="roundRect">
            <a:avLst>
              <a:gd name="adj" fmla="val 7742"/>
            </a:avLst>
          </a:prstGeom>
          <a:solidFill>
            <a:srgbClr val="FFF0E3"/>
          </a:solidFill>
          <a:ln w="12700">
            <a:solidFill>
              <a:srgbClr val="FFF0E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206240" y="4800600"/>
            <a:ext cx="722376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影片標題格式：出題企業_作品名稱_2026 和泰 AI 黑客松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例：iRent_智慧車況管家_2026 和泰 AI 黑客松｜每案限單一挑戰主題；決賽須展示完整 Prototype 或 Demo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活動時程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691640" cy="1965960"/>
          </a:xfrm>
          <a:prstGeom prst="roundRect">
            <a:avLst>
              <a:gd name="adj" fmla="val 648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554480"/>
            <a:ext cx="1508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05–06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057400"/>
            <a:ext cx="15087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校園創新巡迴講座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23160" y="1417320"/>
            <a:ext cx="1691640" cy="1965960"/>
          </a:xfrm>
          <a:prstGeom prst="roundRect">
            <a:avLst>
              <a:gd name="adj" fmla="val 648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32888" y="1554480"/>
            <a:ext cx="1508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6/24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32888" y="2057400"/>
            <a:ext cx="15087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線上說明會（已有錄影）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1417320"/>
            <a:ext cx="1691640" cy="1965960"/>
          </a:xfrm>
          <a:prstGeom prst="roundRect">
            <a:avLst>
              <a:gd name="adj" fmla="val 648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07408" y="1554480"/>
            <a:ext cx="1508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7/08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07408" y="2057400"/>
            <a:ext cx="15087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應用分享會：創意成形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1417320"/>
            <a:ext cx="1691640" cy="1965960"/>
          </a:xfrm>
          <a:prstGeom prst="roundRect">
            <a:avLst>
              <a:gd name="adj" fmla="val 648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81928" y="1554480"/>
            <a:ext cx="1508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8/05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81928" y="2057400"/>
            <a:ext cx="15087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應用分享會：技術轉譯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46720" y="1417320"/>
            <a:ext cx="1691640" cy="1965960"/>
          </a:xfrm>
          <a:prstGeom prst="roundRect">
            <a:avLst>
              <a:gd name="adj" fmla="val 648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56448" y="1554480"/>
            <a:ext cx="1508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8/15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156448" y="2057400"/>
            <a:ext cx="15087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創新體驗日 @Google TPKD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921240" y="1417320"/>
            <a:ext cx="1691640" cy="1965960"/>
          </a:xfrm>
          <a:prstGeom prst="roundRect">
            <a:avLst>
              <a:gd name="adj" fmla="val 648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30968" y="1554480"/>
            <a:ext cx="1508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8/31 13:00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030968" y="2057400"/>
            <a:ext cx="15087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早鳥：完成步驟一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463040" y="3794760"/>
            <a:ext cx="1691640" cy="1965960"/>
          </a:xfrm>
          <a:prstGeom prst="roundRect">
            <a:avLst>
              <a:gd name="adj" fmla="val 6486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1572768" y="3931920"/>
            <a:ext cx="1508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10/14 13:00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572768" y="4434840"/>
            <a:ext cx="15087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初賽報名繳件截止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337560" y="3794760"/>
            <a:ext cx="1691640" cy="1965960"/>
          </a:xfrm>
          <a:prstGeom prst="roundRect">
            <a:avLst>
              <a:gd name="adj" fmla="val 6486"/>
            </a:avLst>
          </a:prstGeom>
          <a:solidFill>
            <a:srgbClr val="FBE6E9"/>
          </a:solidFill>
          <a:ln w="12700">
            <a:solidFill>
              <a:srgbClr val="FBE6E9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3447288" y="3931920"/>
            <a:ext cx="1508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10/28 13:00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447288" y="4434840"/>
            <a:ext cx="15087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公布決賽 15 隊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212080" y="3794760"/>
            <a:ext cx="1691640" cy="1965960"/>
          </a:xfrm>
          <a:prstGeom prst="roundRect">
            <a:avLst>
              <a:gd name="adj" fmla="val 6486"/>
            </a:avLst>
          </a:prstGeom>
          <a:solidFill>
            <a:srgbClr val="FBE6E9"/>
          </a:solidFill>
          <a:ln w="12700">
            <a:solidFill>
              <a:srgbClr val="FBE6E9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5321808" y="3931920"/>
            <a:ext cx="1508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11/07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321808" y="4434840"/>
            <a:ext cx="15087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決賽工作坊（業師一對一）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086600" y="3794760"/>
            <a:ext cx="1691640" cy="1965960"/>
          </a:xfrm>
          <a:prstGeom prst="roundRect">
            <a:avLst>
              <a:gd name="adj" fmla="val 6486"/>
            </a:avLst>
          </a:prstGeom>
          <a:solidFill>
            <a:srgbClr val="FBE6E9"/>
          </a:solidFill>
          <a:ln w="12700">
            <a:solidFill>
              <a:srgbClr val="FBE6E9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7196328" y="3931920"/>
            <a:ext cx="1508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11/18 23:59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196328" y="4434840"/>
            <a:ext cx="15087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最終提案 ≤ 30 頁 PDF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961120" y="3794760"/>
            <a:ext cx="1691640" cy="1965960"/>
          </a:xfrm>
          <a:prstGeom prst="roundRect">
            <a:avLst>
              <a:gd name="adj" fmla="val 6486"/>
            </a:avLst>
          </a:prstGeom>
          <a:solidFill>
            <a:srgbClr val="FBE6E9"/>
          </a:solidFill>
          <a:ln w="12700">
            <a:solidFill>
              <a:srgbClr val="FBE6E9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9070848" y="3931920"/>
            <a:ext cx="1508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11/21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9070848" y="4434840"/>
            <a:ext cx="15087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成果發表暨頒獎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灰色＝已過（以 10/08 計）｜決賽入圍隊伍須過半隊員出席 11/07 工作坊（4 人隊至少 3 人），否則取消資格由後位遞補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報名兩步驟與參賽加碼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794760" cy="4800600"/>
          </a:xfrm>
          <a:prstGeom prst="roundRect">
            <a:avLst>
              <a:gd name="adj" fmla="val 289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874520"/>
            <a:ext cx="32918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填寫團隊基本資料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68880"/>
            <a:ext cx="329184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官網「我要報名」線上填寫，送出後寄「報名成功通知信」至隊長信箱（含 SID）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完成後可領 Google Cloud Skills Boost USD 150 Learning Credits（須滿 18 歲）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未滿 18 歲隊員於此步驟上傳法定代理人同意書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解題資源信件：次一工作日 17:00 前另寄，留意垃圾信件匣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26280" y="1325880"/>
            <a:ext cx="3794760" cy="4800600"/>
          </a:xfrm>
          <a:prstGeom prst="roundRect">
            <a:avLst>
              <a:gd name="adj" fmla="val 289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800600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874520"/>
            <a:ext cx="32918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繳交初賽提案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2468880"/>
            <a:ext cx="329184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10/14 13:00 前隊長登入 → 頭像 →「投稿紀錄」→「前往修改」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 PDF 簡報＋3 分鐘影片連結 → 送出「請求更新」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截止前可反覆修改，以最後一次為準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已備妥可與步驟一同時完成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503920" y="1325880"/>
            <a:ext cx="3108960" cy="4800600"/>
          </a:xfrm>
          <a:prstGeom prst="roundRect">
            <a:avLst>
              <a:gd name="adj" fmla="val 352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73252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C5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狀態說明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732520" y="1874520"/>
            <a:ext cx="269748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確認參賽資格：等待審核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確認參賽資格（已修改）：步驟二已送出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請求修改：依指示補件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通過審核：進入初賽評審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732520" y="4389120"/>
            <a:ext cx="26974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4C5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務必完成獎金獵人帳號驗證，否則收不到任何競賽通知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732520" y="5394960"/>
            <a:ext cx="26974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早鳥 8/31 已過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評審標準：初賽重主題連結，決賽重落地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和泰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80160"/>
          <a:ext cx="53949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217920" y="1280160"/>
          <a:ext cx="53949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4114800"/>
            <a:ext cx="539496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主題連結度：緊扣命題核心、真實對應品牌營運痛點，避免答非所問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創意表現：跳脫既有框架、令人耳目一新的切入角度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提案可行性：技術路徑、資源需求與落地方式清楚可執行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應用整合性：AI 角色是否關鍵、帶來實質價值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217920" y="4114800"/>
            <a:ext cx="539496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整合：能否串成完整可運作的應用流程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商業價值：效率提升、成本降低或新營收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作品完成度：Prototype 完成度與穩定性、可實際操作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簡報表達：清晰度、邏輯與時間掌握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獎項：17 隊得獎，總獎金逾 NT$100 萬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和泰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80160"/>
          <a:ext cx="67665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80960" y="1371600"/>
            <a:ext cx="3931920" cy="219456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909560" y="1554480"/>
            <a:ext cx="3566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C5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NT$103 萬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7909560" y="2377440"/>
            <a:ext cx="35661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30＋25＋20＋5×4＋1×8 萬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冠亞季另頒獎盃乙座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3794760"/>
            <a:ext cx="393192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每位得獎成員及指導老師皆有獎狀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獎金為含稅金額，≥ NT$1,000 列入綜所稅；依法須先繳扣繳稅額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獎金由隊長代表領取，全體團員須簽授權同意書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未達標準得由過半評審決議從缺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重要注意事項：資料、智財與授權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508760"/>
            <a:ext cx="31089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解題數據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65960"/>
            <a:ext cx="31089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僅供本競賽使用，不得外流或另作他用；競賽結束後須銷毀所有資料及衍生物，違者除名並負法律責任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32588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26280" y="1508760"/>
            <a:ext cx="31089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智財權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1965960"/>
            <a:ext cx="31089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作品智財歸團隊；入圍者同意無償非營利授權主辦使用作品及說明（不含團隊產出之程式、軟體、系統）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32588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75320" y="1508760"/>
            <a:ext cx="31089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優先洽談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1965960"/>
            <a:ext cx="31089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入圍名單公布後，主辦對作品、提案與衍生智財之轉讓或授權享有優先洽談權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原創性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389120"/>
            <a:ext cx="31089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須為未公開發表的原創作品，不得為市售或具商業用途之創作；違者取消資格並追回獎金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297680" y="374904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52628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肖像授權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4389120"/>
            <a:ext cx="31089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同意主辦拍攝並使用肖像、姓名、聲音於宣傳；決賽入圍與得獎者須簽授權同意書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46720" y="374904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7532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收件時間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4389120"/>
            <a:ext cx="31089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以主辦電腦收件時間為準；系統問題須於截止前連同截圖寄至客服信箱，否則不受理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報名資料下載與聯絡方式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和泰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6400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報名資料下載區（官網首頁）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5B6C8F"/>
          </a:solidFill>
          <a:ln w="12700">
            <a:solidFill>
              <a:srgbClr val="5B6C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874520"/>
            <a:ext cx="5852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2026和泰AI黑客松＿著作財產權授權暨肖像授權同意書.pdf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rgbClr val="5B6C8F"/>
          </a:solidFill>
          <a:ln w="12700">
            <a:solidFill>
              <a:srgbClr val="5B6C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560320"/>
            <a:ext cx="5852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2026和泰AI黑客松＿參賽注意事項.pdf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5B6C8F"/>
          </a:solidFill>
          <a:ln w="12700">
            <a:solidFill>
              <a:srgbClr val="5B6C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246120"/>
            <a:ext cx="5852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2026和泰AI黑客松＿法定代理人同意書.pdf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931920"/>
            <a:ext cx="5852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2026和泰AI黑客松＿初賽簡報模板.pptx（Google Slides 版亦可）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457200" cy="457200"/>
          </a:xfrm>
          <a:prstGeom prst="ellipse">
            <a:avLst/>
          </a:prstGeom>
          <a:solidFill>
            <a:srgbClr val="5B6C8F"/>
          </a:solidFill>
          <a:ln w="12700">
            <a:solidFill>
              <a:srgbClr val="5B6C8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4617720"/>
            <a:ext cx="5852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2026和泰AI黑客松＿企業挑戰題目.pdf（7 頁）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440680"/>
            <a:ext cx="66751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歷屆賽事：2022 MaaS 數據黑客松、2024 MaaS 黑客松｜最新公告含 Gemini 3.6／Gemini Omni 活動與 Google Cloud 點數說明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98080" y="1371600"/>
            <a:ext cx="4114800" cy="4206240"/>
          </a:xfrm>
          <a:prstGeom prst="roundRect">
            <a:avLst>
              <a:gd name="adj" fmla="val 266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C5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賽務小組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ht-hackathon@bhuntr.com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0" y="2560320"/>
            <a:ext cx="3657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02-6604-3004 #57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0" y="3154680"/>
            <a:ext cx="3657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諮詢時間 週一至週五 10:00–19:00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3931920"/>
            <a:ext cx="35661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爭議適用中華民國法律，臺灣臺北地方法院為第一審管轄法院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接下來 6 天的行動清單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548640" cy="54864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600200"/>
            <a:ext cx="21945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600200"/>
            <a:ext cx="78638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完成步驟一報名（取得 SID 與解題資源），全員完成獎金獵人帳號驗證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514600"/>
            <a:ext cx="548640" cy="54864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514600"/>
            <a:ext cx="21945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10/09–10/10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514600"/>
            <a:ext cx="78638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研讀解題資源；確立痛點、Persona 與方案架構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3429000"/>
            <a:ext cx="548640" cy="548640"/>
          </a:xfrm>
          <a:prstGeom prst="ellipse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C5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10/11–10/12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429000"/>
            <a:ext cx="78638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依官方模板撰寫 15 頁簡報（七大架構）；準備 AI 模型選型、資料流程與 KPI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4343400"/>
            <a:ext cx="548640" cy="5486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343400"/>
            <a:ext cx="21945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10/13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4343400"/>
            <a:ext cx="78638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錄製 3 分鐘影片並依命名規範上傳 YouTube（不公開）；全員交叉審稿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1520" y="5257800"/>
            <a:ext cx="548640" cy="54864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5257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257800"/>
            <a:ext cx="21945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B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10/14 13:00 前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0" y="5257800"/>
            <a:ext cx="78638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隊長上傳 PDF＋影片連結並送出「請求更新」，截圖存證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6263640"/>
            <a:ext cx="107899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C5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賽務聯絡：ht-hackathon@bhuntr.com｜02-6604-3004 #57（週一至週五 10:00–19:00）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ckathon Brief">
  <a:themeElements>
    <a:clrScheme name="Hackathon Brief">
      <a:dk1>
        <a:srgbClr val="1B1F2A"/>
      </a:dk1>
      <a:lt1>
        <a:srgbClr val="FFFFFF"/>
      </a:lt1>
      <a:dk2>
        <a:srgbClr val="14213D"/>
      </a:dk2>
      <a:lt2>
        <a:srgbClr val="EEF2F7"/>
      </a:lt2>
      <a:accent1>
        <a:srgbClr val="FF7A1A"/>
      </a:accent1>
      <a:accent2>
        <a:srgbClr val="0E9AA7"/>
      </a:accent2>
      <a:accent3>
        <a:srgbClr val="D7263D"/>
      </a:accent3>
      <a:accent4>
        <a:srgbClr val="5B6C8F"/>
      </a:accent4>
      <a:accent5>
        <a:srgbClr val="F4C542"/>
      </a:accent5>
      <a:accent6>
        <a:srgbClr val="2E8B57"/>
      </a:accent6>
      <a:hlink>
        <a:srgbClr val="0E9AA7"/>
      </a:hlink>
      <a:folHlink>
        <a:srgbClr val="5B6C8F"/>
      </a:folHlink>
    </a:clrScheme>
    <a:fontScheme name="Hackathon Brief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和泰 AI 黑客松｜競賽情報</dc:title>
  <dc:subject>PptxGenJS Presentation</dc:subject>
  <dc:creator>CV-RAG-LLM-Papers</dc:creator>
  <cp:lastModifiedBy>CV-RAG-LLM-Papers</cp:lastModifiedBy>
  <cp:revision>1</cp:revision>
  <dcterms:created xsi:type="dcterms:W3CDTF">2026-10-08T07:24:31Z</dcterms:created>
  <dcterms:modified xsi:type="dcterms:W3CDTF">2026-10-08T07:24:31Z</dcterms:modified>
</cp:coreProperties>
</file>