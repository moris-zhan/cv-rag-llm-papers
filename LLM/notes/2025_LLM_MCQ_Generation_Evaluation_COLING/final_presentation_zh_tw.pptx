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ChatGPT-3.5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Glossary</c:v>
                </c:pt>
                <c:pt idx="2">
                  <c:v>CoT</c:v>
                </c:pt>
                <c:pt idx="3">
                  <c:v>Self-review</c:v>
                </c:pt>
                <c:pt idx="4">
                  <c:v>One-shot</c:v>
                </c:pt>
                <c:pt idx="5">
                  <c:v>Role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41.5</c:v>
                </c:pt>
                <c:pt idx="1">
                  <c:v>47.0</c:v>
                </c:pt>
                <c:pt idx="2">
                  <c:v>45.5</c:v>
                </c:pt>
                <c:pt idx="3">
                  <c:v>49.5</c:v>
                </c:pt>
                <c:pt idx="4">
                  <c:v>45.0</c:v>
                </c:pt>
                <c:pt idx="5">
                  <c:v>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Llama 3 70B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Glossary</c:v>
                </c:pt>
                <c:pt idx="2">
                  <c:v>CoT</c:v>
                </c:pt>
                <c:pt idx="3">
                  <c:v>Self-review</c:v>
                </c:pt>
                <c:pt idx="4">
                  <c:v>One-shot</c:v>
                </c:pt>
                <c:pt idx="5">
                  <c:v>Role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73.0</c:v>
                </c:pt>
                <c:pt idx="1">
                  <c:v>78.5</c:v>
                </c:pt>
                <c:pt idx="2">
                  <c:v>76.0</c:v>
                </c:pt>
                <c:pt idx="3">
                  <c:v>79.5</c:v>
                </c:pt>
                <c:pt idx="4">
                  <c:v>76.5</c:v>
                </c:pt>
                <c:pt idx="5">
                  <c:v>73.5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Mixtral 8x7B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Glossary</c:v>
                </c:pt>
                <c:pt idx="2">
                  <c:v>CoT</c:v>
                </c:pt>
                <c:pt idx="3">
                  <c:v>Self-review</c:v>
                </c:pt>
                <c:pt idx="4">
                  <c:v>One-shot</c:v>
                </c:pt>
                <c:pt idx="5">
                  <c:v>Role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43.5</c:v>
                </c:pt>
                <c:pt idx="1">
                  <c:v>47.5</c:v>
                </c:pt>
                <c:pt idx="2">
                  <c:v>47.5</c:v>
                </c:pt>
                <c:pt idx="3">
                  <c:v>48.0</c:v>
                </c:pt>
                <c:pt idx="4">
                  <c:v>44.5</c:v>
                </c:pt>
                <c:pt idx="5">
                  <c:v>43.5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這篇是 COLING 2025 的應用型論文，場景是巴西聯邦大學的法規條文。它同時做兩件事：一個自動出題系統，以及一個自動評估出題系統的系統。和另外幾篇 benchmark 論文不同，這篇的出發點是實務：員工招聘與訓練考試需要大量法規選擇題。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有兩層。第一層是應用需求：巴西聯邦大學的行政人員招聘考試以法規選擇題為主，升遷訓練也用選擇題，出題成本高，題目出錯還可能被判作廢。第二層是方法論問題：出題系統每跑一次都會產生全新的題目，沒有標準答案可以比對，只能靠人工審題，而人工審題又慢又主觀。所以作者先建一個自動評估系統，並用人工標註驗證它，確認可信後再拿它來比較各種出題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這是整篇的架構圖。左邊藍色是出題系統：法規 PDF 先前處理成 JSON 條文，經過術語表生成、初步出題模組、題目審查模組，產生題目。出題端呼叫的是 LLM-1，可以換成 ChatGPT、Llama 3、Mixtral 等模型。右邊黃色是評估系統，用 GPT-4o 依序檢查格式、語言、文法、相關性、選項正確性五個條件，全部通過才算有效題目。作者特別強調評估端要用和生成端不同的模型，否則模型會放過自己的錯誤。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出題流程：先把 43 份法規 PDF 轉成文字，用自寫規則移除頁碼、重複頁首頁尾、簽署人名等，整理成 1,020 條條文。每條條文產生一題。初步出題模組疊加 Role、Glossary、One-shot、CoT；審查模組疊加 Role、Glossary、One-shot、Self-Review。每個技術都可以單獨開關，方便做消融。One-shot 用了 5 種不同題型的範例輪替，如果出的題目被判無效就換下一個範例重出。Self-Review 會先檢查格式、語言、文法、相關性，任何一項失敗就捨棄並把審查意見加入下一次 prompt；接著分別審題幹與每個選項，題幹有問題就丟掉，選項組合有問題就只重生出問題的部分。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術語表是這個系統裡最有領域特色的設計。法規的特性是：縮寫在某一條定義，後面的條文直接使用。因為系統是一條條文出一題，如果條文 N 單獨餵給 LLM，它可能自己猜 SMP 是什麼，出出錯誤的題目。解法很直接：先掃過全文建立術語表，出題時偵測到術語就把定義帶進 prompt。作者也說明，這招之所以簡單有效，是因為法規本身結構清楚。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評估系統輸入題幹、選項、標記的正解，以及出題時用的條文與術語，輸出五個檢查結果，全部通過才算有效。前三項是形式檢查：JSON 格式、是否全為葡萄牙文、有無文法錯誤。相關性檢查題目是否考核心概念，而不是背條號或日期。最難的是選項檢查：把題幹和每個選項分別組成五個 prompt，讓 GPT-4o 給 0 到 10 分，最高分要比第二名高 5 分以上；第二步確認這個最高分選項就是生成系統標的正解。審查模組和評估系統功能有重疊，但 prompt 不同，彼此視為黑盒，不共享輸出。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資料方面有兩部分：43 份大學法規共 1,020 條條文，用來出題；另外 400 題由系統生成、經專家逐項人工審核的題目，用來驗證評估系統。為了讓每項條件都有足夠的負例，作者人工修改部分題目，讓每項至少有 10 題無效。實驗 1 在驗證集上調 prompt，再在測試集上凍結系統測量，避免對測試集過擬合。實驗 2 每次只開一種技術，跑 6 種設定各 200 題。實驗 3 用選出的模型與所有技術跑完整系統，再抽 100 題人工複核。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是評估系統和人工標註的一致性。Format、Language、Grammar 三項在驗證集與測試集都是 100%。Relevance 最主觀，200 題中有 8 題判斷不同；Options 最難，有 9 題不同。整體 All Criteria 在測試集上 Balanced Accuracy 89.94%、F1 91.15%。作者據此認為評估系統可用。我的看法是：評估系統的 prompt 是在同一批 LLM 生成題目上校準的，對其他出題方式的泛化性還需要驗證。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2：每次只開一種技術，各生成 200 題，用評估系統算有效題比例。三個模型都是 Self-review 增益最大、Glossary 次之，Role 幾乎沒有增益但也不會變差。最明顯的是模型之間的差距：Llama 3 70B 在 baseline 就有 73%，ChatGPT-3.5 和 Mixtral 只有四成左右。所以後續完整系統選用 Llama 3 70B。注意這裡沒有測組合效果，只有單一技術，組合效果在下一頁的完整系統中呈現。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是完整系統的結果。自動評估：完整系統 94.4%，baseline 75.1%；人工抽查 100 題：91% 對 72%，兩者都提升約 19 個百分點。結論段寫的是『balanced accuracy 提升約 19 個百分點』，但從表格看，這 19 點應該是有效題比例，不是 balanced accuracy，這裡以表格為準。分項來看，格式、語言、文法錯誤完全消除；選項問題（沒有正解或多個正解）明顯減少，這也是人工審題最花時間的部分；相關性則幾乎沒有改善。自動評估比人工略高估，作者認為可接受，因為不用自動評估就無法每次迭代都做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這是論文正文中的範例，原題是葡萄牙文，論文提供英文翻譯，這裡再譯成中文。題型是『下列何者不是必要條件』：a 到 d 都是條文明確列出的條件，e『最低學歷須為博士』條文沒有提到，是正解。這種題型的好處是考生必須掌握條文的完整條件清單。作者也提到 one-shot 範例會強烈影響題型，所以他們用 5 種題型範例輪替，讓題目結構多樣。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段提出幾個殘留問題，我認為第二點最值得注意：當條文沒有明確定義某個概念時，生成模型會用自己的先驗知識補，而評估模型也有類似的先驗，於是一起把錯誤的題目判為有效。換用不同模型能緩解，但因訓練資料重疊，偏誤仍存在。這對我們自己設計 LLM-as-judge 很有參考價值。第三點是選項設計問題：有些題目光看選項之間的邏輯就能猜出答案。第四點是 one-shot 範例會主導題型。另外作者也試過讓專家給 0–10 分，但最後只用有效/無效標籤，因為專家之間比較容易達成共識。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附錄有兩個小實驗。左邊是換到巴西勞動法，各生成 50 題。baseline 就有 84%，比大學法規的 75.1% 高，作者的解釋是勞動法是全國性法規，網路上有大量書籍與既有考題，LLM 的先驗知識較足。完整系統再提升到 92%，自動與人工一致。右邊是多跳題：用術語表找出出現在多條條文的術語，把條文組合起來出題。baseline 只有 18% 同時有效且真的是多跳；完整系統在 self-review 加一個檢查，判為單跳就捨棄重出，最多 10 次，達到 54%。作者也承認捨棄率高，實務成本不低。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結論：評估系統與專家判斷一致性高（BA 89.94%）；每種 prompt 技術都有幫助，self-review 最關鍵；完整系統讓有效題比例提升約 19 個百分點。限制方面，作者自己承認只在一所大學的法規上做主實驗，勞動法只有 50 題，非法律領域完全沒測；多跳題仍需大量捨棄。我補充一點：評估模型與生成模型可能共享偏誤，這是作者在討論中提到、但沒有量化的風險。對我們的啟示是流程面：先建立可驗證的自動評分器，再用它快速比較各種出題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LLM 應用 · 自動出題與題目評估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 LLM 自動生成並自動評估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選擇題：大學法規案例研究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結合多種 prompt 技術與自我審查生成五選一題目，並以 GPT-4o 建立可取代人工的題目驗證系統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Sérgio S. Mucciaccia, Thiago M. Paixão, Filipe Mutz, Alberto F. De Souza, Claudine S. Badue, Thiago Oliveira-Santos｜UFES、IFES（巴西）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COLING 2025 · Proceedings pp. 2246–2260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法規選擇題需求大、出題成本高，而且出題系統本身難以評估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應用情境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4008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巴西聯邦教育機構的行政人員招聘考試，以法規與技術科目的選擇題為主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員工升遷需完成多門訓練課程，評量同樣多用選擇題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出題需專家參與並反覆審核，錯題可能導致考題作廢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08760"/>
            <a:ext cx="4144975" cy="38404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5963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評估出題系統的難處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596335" cy="3017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每次生成都是新題目，沒有 ground truth 可比對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人工審題耗時且昂貴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比較不同方法需要一致、客觀的標準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因此本文同時提出「出題系統」與「評估出題系統的系統」，後者先經人工驗證再拿來評前者。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系統總覽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生成端串接三個模組，評估端由 GPT-4o 逐項檢查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3466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83590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1：藍色為出題系統（Glossary Generation → Preliminary Question Module → Question Review Module），黃色為評估系統（Format → Language → Grammar → Relevance → Options）。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91616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7959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生成與評估刻意使用不同的 LLM，避免模型對自己的輸出過於寬容。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Figure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出題系統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每條條文出一題五選一，出題與審查兩階段疊加 prompt 技術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246499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46499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前處理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464993" cy="1417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2245537" cy="12344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43 份法規 PDF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→ 1,020 條條文 JSON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移除頁碼、頁首頁尾、簽署人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3633" y="2423160"/>
            <a:ext cx="41148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5113" y="1508760"/>
            <a:ext cx="246499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5113" y="1536192"/>
            <a:ext cx="246499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術語表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5113" y="2011680"/>
            <a:ext cx="2464993" cy="1417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4841" y="2148840"/>
            <a:ext cx="2245537" cy="12344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逐段請 LLM 列出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縮寫與定義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累積成全域術語表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0107" y="2423160"/>
            <a:ext cx="41148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1587" y="1508760"/>
            <a:ext cx="246499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1587" y="1536192"/>
            <a:ext cx="246499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初步出題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1587" y="2011680"/>
            <a:ext cx="2464993" cy="1417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1315" y="2148840"/>
            <a:ext cx="2245537" cy="12344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Role + Glossary +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One-shot + CoT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 正解 + 4 錯誤選項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6581" y="2423160"/>
            <a:ext cx="41148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78061" y="1508760"/>
            <a:ext cx="2464993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8061" y="1536192"/>
            <a:ext cx="2464993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審查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8061" y="2011680"/>
            <a:ext cx="2464993" cy="14173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7789" y="2148840"/>
            <a:ext cx="2245537" cy="12344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Role + Glossary +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One-shot + Self-Review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修正或捨棄題目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四種 prompt 技術的具體做法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1605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908273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技術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做法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Role-based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指定角色，例如「你是為學生出題的教授」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One-shot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輪替 5 種題型範例；若審查判為無效，換下一個範例重出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要求先說明推理再產生題目，範例也改寫成 CoT 形式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Self-Review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依序檢查格式、語言、文法、相關性；再分別審題幹與每個選項，失敗則捨棄或局部重生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關鍵設計：Glossary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術語表解決「條文單獨拿出來就看不懂」的問題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6035040" cy="1143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577840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條文 M：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學業追蹤計畫（Study Monitoring Plan, SMP）適用於學業表現不佳的學生……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6035040" cy="1143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577840" cy="1005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條文 N：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學生有三門課不及格或放棄……者，將被納入 SMP。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603504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論文中的假想例子（原文為英文翻譯版本）；條文 N 單獨出題時，LLM 可能自行猜測 SMP 的意思。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1554480"/>
            <a:ext cx="0" cy="329184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60920" y="1508760"/>
            <a:ext cx="4282135" cy="3566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生成：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把法規切段，請 LLM 列出段落中定義的術語與縮寫，累積成術語表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使用：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處理條文 N 時偵測到 SMP，就把定義一起放進 prompt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前提：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法規結構化、定義集中，這個簡單做法才足夠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每條條文獨立出題，但所需的定義可能在其他條文；術語表讓 prompt 自給自足。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§2.3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自動評估系統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五個條件全過才算有效題，選項以 0–10 評分差距判定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463040"/>
            <a:ext cx="1737360" cy="512064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9616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17904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JSON 可解析、欄位正確；題幹 + 5 個選項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2"/>
            <a:ext cx="1737360" cy="512064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21408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39696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全文為巴西葡萄牙文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06624"/>
            <a:ext cx="1737360" cy="512064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Grammar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61488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無文法錯誤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6"/>
            <a:ext cx="1737360" cy="512064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2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383280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考核條文核心概念，而非條號、日期或字面背誦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50208"/>
            <a:ext cx="1737360" cy="512064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86784"/>
            <a:ext cx="173736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005072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恰有 1 個正確選項，且與系統標記的正解一致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463040"/>
            <a:ext cx="4510735" cy="30175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600200"/>
            <a:ext cx="405353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Options 檢查的兩步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03120"/>
            <a:ext cx="4053535" cy="23774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每個選項各組一個 prompt（題幹 + 該選項），請 GPT-4o 給 0–10 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最高分需比第二高分多 ≥ 5 分，才算只有一個正解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最高分選項須與生成系統標記的正解相同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617720"/>
            <a:ext cx="4510735" cy="5486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採「最佳答案」原則：一個選項部分正確、其餘全錯，仍視為有效。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評估系統獨立於出題系統，可單獨用來檢查任何來源的選擇題。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三個實驗：評估器可信嗎？哪些技術有用？完整系統如何？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1463040"/>
            <a:ext cx="3515258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0020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 1｜評估系統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515258" cy="21945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400 題人工審核資料集，驗證 200 / 測試 200；每項條件至少 10 題無效題（部分人工修改）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指標：Balanced Accuracy、F1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38218" y="1463040"/>
            <a:ext cx="3515258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338218" y="160020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 2｜Prompt 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2194560"/>
            <a:ext cx="3515258" cy="21945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Baseline + 5 種單一技術，各生成 200 題（共 1,200 題），比較 ChatGPT-3.5、Llama 3 70B、Mixtral 8x7B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44348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指標：有效題比例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7796" y="1463040"/>
            <a:ext cx="3515259" cy="0"/>
          </a:xfrm>
          <a:prstGeom prst="line">
            <a:avLst/>
          </a:prstGeom>
          <a:ln w="31750">
            <a:solidFill>
              <a:srgbClr val="1B5E7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7796" y="160020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實驗 3｜完整系統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194560"/>
            <a:ext cx="3515258" cy="21945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選定模型 + 全部技術，對 1,020 條條文各出一題；另隨機抽 100 題人工複核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44348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指標：有效題數與比例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先用人工標註驗證評估系統（實驗 1），之後的實驗才以它作為自動評分器。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1：評估系統的可信度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評估系統測試集整體 BA 89.94%，形式類檢查全對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67512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條件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Val BA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Val F1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Test BA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Test F1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Language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Grammar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100.00%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Relevance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89.07%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97.69%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90.81%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98.02%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96.50%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93.43%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All Criteria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91.24%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92.31%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89.94%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91.15%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772400" y="1508760"/>
            <a:ext cx="0" cy="31089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955279" y="1463040"/>
            <a:ext cx="3687775" cy="33832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形式類：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Format、Language、Grammar 在 200 題上全部判對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Relevance：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200 題中 8 題與人工判斷不同，主觀性最高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Options：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200 題中 9 題不同，是最常出錯的項目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評分器與專家判斷高度一致，足以作為後續實驗的自動評分工具。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Table 1（評估器 = GPT-4o）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2：Prompt 技術消融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每種技術都優於 baseline，Self-Review 提升最多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732519" y="1508760"/>
            <a:ext cx="0" cy="384048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915399" y="1463040"/>
            <a:ext cx="2727655" cy="4114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Self-review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：三個模型都是最大增益（Llama +6.5）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Glossary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：次之（Llama +5.5）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Role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：增益最小（+0–0.5），但不會變差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模型差距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遠大於技術差距：Llama 3 70B baseline 已達 73.0%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Table 2（各技術單獨啟用，200 題的有效題比例 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3：完整出題系統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有效題比例 75.1% → 94.4%，人工抽查 72% → 91%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94944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/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條件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自動評估
完整系統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自動評估
Baseline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人工抽查
完整系統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人工抽查
Baseline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Language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95.6%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Grammar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Relevance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98.5%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98.3%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95.9%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All Criteria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94.4%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75.1%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72%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8046719" y="1508760"/>
            <a:ext cx="0" cy="329184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229599" y="1463040"/>
            <a:ext cx="3413455" cy="3566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格式、語言、文法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錯誤完全消除（baseline 本就少見）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Options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：人工抽查 87% → 94%，self-review 對「無正解／多正解」最有效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Relevance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：幾乎沒有改善，LLM 不擅長判斷不相關題目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自動評估略高估表現（94.4% vs. 人工 91%），但兩者趨勢一致。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Table 3（自動：1,020 題；人工：隨機 100 題；模型 Llama 3 70B）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生成題目範例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生成範例：以「何者不是必要條件」的題型考核指導教授資格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463040"/>
            <a:ext cx="4937760" cy="3931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條文（Article 10，英譯）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480560" cy="3200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科學啟蒙計畫（Scientific Initiation）學生的指導者，必須是大學在職、合規的正式編制人員，履歷中須有該領域近期的研究產出，且已履行對該計畫的所有義務，無期中或期末報告的待辦事項。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69945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Q：下列哪一項「不是」科學啟蒙計畫指導者的必要條件？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331720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a) 為大學所屬的教職員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843784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b) 屬正式編制且目前在職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355848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c) 履歷中有該領域近期的研究產出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67912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d) 已履行對科學啟蒙計畫的義務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343400"/>
            <a:ext cx="5699455" cy="457200"/>
          </a:xfrm>
          <a:prstGeom prst="rect">
            <a:avLst/>
          </a:prstGeom>
          <a:solidFill>
            <a:srgbClr val="E3EF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379976"/>
            <a:ext cx="542513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2E7D4F"/>
                </a:solidFill>
                <a:latin typeface="Calibri"/>
                <a:ea typeface="Microsoft JhengHei"/>
                <a:cs typeface="Microsoft JhengHei"/>
              </a:rPr>
              <a:t>e) 最低學歷須為博士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983480"/>
            <a:ext cx="569945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正解：e（條文未要求博士學位）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四個錯誤選項都直接改寫自條文內容，正解則是條文以外、看似合理的條件。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§5.3（英文翻譯版本，原題為葡萄牙文；中文為本報告翻譯）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討論：失敗模式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主要的殘留錯誤：模型用先驗知識補定義，而評估模型也一起接受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81912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領域知識缺口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581912"/>
            <a:ext cx="78940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大學法規缺乏書籍、文章與題庫，LLM 預訓練資料可能不足；不給條文時模型常答錯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9631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2660904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生成與評估共享偏誤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660904"/>
            <a:ext cx="78940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條文未明確定義時，生成模型以先驗知識推測，評估模型同意此推測而誤判為有效；換用不同 LLM 只能部分緩解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575304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739896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選項可被邏輯推出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739896"/>
            <a:ext cx="78940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部分題目不需理解概念，僅憑選項間的邏輯關係即可作答；LLM 對選項間互動的推理較弱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4654296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4818888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One-shot 主導題型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18888"/>
            <a:ext cx="7894015" cy="8686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多數題目會模仿範例結構，因此需輪替不同結構的範例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§5.4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附錄 E、F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延伸實驗：換到勞動法仍有效；多跳題可行但捨棄率高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181447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巴西勞動法（50 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518144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247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自動評估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人工評估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完整系統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92%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20439"/>
            <a:ext cx="5181447" cy="1645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Baseline 比大學法規高（84% vs. 75.1%）：勞動法有大量書籍與既有題目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完整系統仍進一步提升，且自動與人工結果一致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607" y="1463040"/>
            <a:ext cx="5181447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多跳題（50 題，人工評估）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61607" y="1965960"/>
          <a:ext cx="518144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3927"/>
                <a:gridCol w="1005840"/>
                <a:gridCol w="100584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設定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有效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多跳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兩者皆是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完整系統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78%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66%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61607" y="3520439"/>
            <a:ext cx="5181447" cy="1645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以術語表找出跨條文共用的術語，組合多條條文出題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Self-review 判為單跳即捨棄，最多重試 10 次；捨棄率高、成本也高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法規以外的領域（非法律文本）尚未測試。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 · Table 6、Table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串接生成、審查與獨立評估，可在小型領域法規上穩定出題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評估系統與專家判斷的整體 Balanced Accuracy 為 89.94%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五種 prompt 技術單獨使用皆有增益，Self-review 最大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完整系統有效題比例提升約 19 個百分點（自動 75.1→94.4%、人工 72→91%）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主評估只在單一大學的法規；另一法律領域僅 50 題小實驗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未測試非法律領域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多數題目仍只依據單一條文，多跳題需大量捨棄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評估模型與生成模型可能共享偏誤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對領域題庫建置的啟示：先建立並驗證自動評分器，再用它迭代出題策略。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Mucciaccia et al. · COLING 2025, pp. 2246–2260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