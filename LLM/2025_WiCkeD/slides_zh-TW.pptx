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SBA %</c:v>
                </c:pt>
              </c:strCache>
            </c:strRef>
          </c:tx>
          <c:spPr>
            <a:solidFill>
              <a:srgbClr val="1B5E7A"/>
            </a:solidFill>
          </c:spPr>
          <c:cat>
            <c:strRef>
              <c:f>Sheet1!$A$2:$A$7</c:f>
              <c:strCache>
                <c:ptCount val="6"/>
                <c:pt idx="0">
                  <c:v>MMLU</c:v>
                </c:pt>
                <c:pt idx="1">
                  <c:v>MMLU-Pro</c:v>
                </c:pt>
                <c:pt idx="2">
                  <c:v>MMLU-Redux</c:v>
                </c:pt>
                <c:pt idx="3">
                  <c:v>Arc-Chall.</c:v>
                </c:pt>
                <c:pt idx="4">
                  <c:v>CSQA</c:v>
                </c:pt>
                <c:pt idx="5">
                  <c:v>TruthfulQA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20.3</c:v>
                </c:pt>
                <c:pt idx="1">
                  <c:v>16.8</c:v>
                </c:pt>
                <c:pt idx="2">
                  <c:v>14.7</c:v>
                </c:pt>
                <c:pt idx="3">
                  <c:v>5.2</c:v>
                </c:pt>
                <c:pt idx="4">
                  <c:v>3.7</c:v>
                </c:pt>
                <c:pt idx="5">
                  <c:v>3.2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0"/>
          <c:min val="0.0"/>
        </c:scaling>
        <c:delete val="0"/>
        <c:axPos val="l"/>
        <c:majorGridlines>
          <c:spPr>
            <a:ln>
              <a:solidFill>
                <a:srgbClr val="D5DBE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4B556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原始基準</c:v>
                </c:pt>
              </c:strCache>
            </c:strRef>
          </c:tx>
          <c:spPr>
            <a:solidFill>
              <a:srgbClr val="B8C4CE"/>
            </a:solidFill>
          </c:spPr>
          <c:cat>
            <c:strRef>
              <c:f>Sheet1!$A$2:$A$19</c:f>
              <c:strCache>
                <c:ptCount val="18"/>
                <c:pt idx="0">
                  <c:v>R1-Llama 8B</c:v>
                </c:pt>
                <c:pt idx="1">
                  <c:v>R1-Qwen 7B</c:v>
                </c:pt>
                <c:pt idx="2">
                  <c:v>Llama3.1 8B</c:v>
                </c:pt>
                <c:pt idx="3">
                  <c:v>Llama3.1 8B-IT</c:v>
                </c:pt>
                <c:pt idx="4">
                  <c:v>Llama3.1 70B</c:v>
                </c:pt>
                <c:pt idx="5">
                  <c:v>Llama3.1 70B-IT</c:v>
                </c:pt>
                <c:pt idx="6">
                  <c:v>Mistral 7B</c:v>
                </c:pt>
                <c:pt idx="7">
                  <c:v>Mistral 7B-IT</c:v>
                </c:pt>
                <c:pt idx="8">
                  <c:v>Qwen2.5 7B</c:v>
                </c:pt>
                <c:pt idx="9">
                  <c:v>Qwen2.5 7B-IT</c:v>
                </c:pt>
                <c:pt idx="10">
                  <c:v>Qwen2.5 14B</c:v>
                </c:pt>
                <c:pt idx="11">
                  <c:v>Qwen2.5 14B-IT</c:v>
                </c:pt>
                <c:pt idx="12">
                  <c:v>Qwen2.5 72B</c:v>
                </c:pt>
                <c:pt idx="13">
                  <c:v>Qwen2.5 72B-IT</c:v>
                </c:pt>
                <c:pt idx="14">
                  <c:v>Gemma2 9B</c:v>
                </c:pt>
                <c:pt idx="15">
                  <c:v>Gemma2 9B-IT</c:v>
                </c:pt>
                <c:pt idx="16">
                  <c:v>Gemma2 27B</c:v>
                </c:pt>
                <c:pt idx="17">
                  <c:v>Gemma2 27B-IT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56.6</c:v>
                </c:pt>
                <c:pt idx="1">
                  <c:v>60.8</c:v>
                </c:pt>
                <c:pt idx="2">
                  <c:v>61.4</c:v>
                </c:pt>
                <c:pt idx="3">
                  <c:v>66.0</c:v>
                </c:pt>
                <c:pt idx="4">
                  <c:v>76.8</c:v>
                </c:pt>
                <c:pt idx="5">
                  <c:v>77.1</c:v>
                </c:pt>
                <c:pt idx="6">
                  <c:v>59.8</c:v>
                </c:pt>
                <c:pt idx="7">
                  <c:v>59.0</c:v>
                </c:pt>
                <c:pt idx="8">
                  <c:v>74.7</c:v>
                </c:pt>
                <c:pt idx="9">
                  <c:v>73.5</c:v>
                </c:pt>
                <c:pt idx="10">
                  <c:v>78.9</c:v>
                </c:pt>
                <c:pt idx="11">
                  <c:v>78.9</c:v>
                </c:pt>
                <c:pt idx="12">
                  <c:v>84.6</c:v>
                </c:pt>
                <c:pt idx="13">
                  <c:v>82.6</c:v>
                </c:pt>
                <c:pt idx="14">
                  <c:v>67.3</c:v>
                </c:pt>
                <c:pt idx="15">
                  <c:v>73.3</c:v>
                </c:pt>
                <c:pt idx="16">
                  <c:v>68.0</c:v>
                </c:pt>
                <c:pt idx="17">
                  <c:v>74.8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WiCkeD 變體</c:v>
                </c:pt>
              </c:strCache>
            </c:strRef>
          </c:tx>
          <c:spPr>
            <a:solidFill>
              <a:srgbClr val="1B5E7A"/>
            </a:solidFill>
          </c:spPr>
          <c:cat>
            <c:strRef>
              <c:f>Sheet1!$A$2:$A$19</c:f>
              <c:strCache>
                <c:ptCount val="18"/>
                <c:pt idx="0">
                  <c:v>R1-Llama 8B</c:v>
                </c:pt>
                <c:pt idx="1">
                  <c:v>R1-Qwen 7B</c:v>
                </c:pt>
                <c:pt idx="2">
                  <c:v>Llama3.1 8B</c:v>
                </c:pt>
                <c:pt idx="3">
                  <c:v>Llama3.1 8B-IT</c:v>
                </c:pt>
                <c:pt idx="4">
                  <c:v>Llama3.1 70B</c:v>
                </c:pt>
                <c:pt idx="5">
                  <c:v>Llama3.1 70B-IT</c:v>
                </c:pt>
                <c:pt idx="6">
                  <c:v>Mistral 7B</c:v>
                </c:pt>
                <c:pt idx="7">
                  <c:v>Mistral 7B-IT</c:v>
                </c:pt>
                <c:pt idx="8">
                  <c:v>Qwen2.5 7B</c:v>
                </c:pt>
                <c:pt idx="9">
                  <c:v>Qwen2.5 7B-IT</c:v>
                </c:pt>
                <c:pt idx="10">
                  <c:v>Qwen2.5 14B</c:v>
                </c:pt>
                <c:pt idx="11">
                  <c:v>Qwen2.5 14B-IT</c:v>
                </c:pt>
                <c:pt idx="12">
                  <c:v>Qwen2.5 72B</c:v>
                </c:pt>
                <c:pt idx="13">
                  <c:v>Qwen2.5 72B-IT</c:v>
                </c:pt>
                <c:pt idx="14">
                  <c:v>Gemma2 9B</c:v>
                </c:pt>
                <c:pt idx="15">
                  <c:v>Gemma2 9B-IT</c:v>
                </c:pt>
                <c:pt idx="16">
                  <c:v>Gemma2 27B</c:v>
                </c:pt>
                <c:pt idx="17">
                  <c:v>Gemma2 27B-IT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48.6</c:v>
                </c:pt>
                <c:pt idx="1">
                  <c:v>53.4</c:v>
                </c:pt>
                <c:pt idx="2">
                  <c:v>52.2</c:v>
                </c:pt>
                <c:pt idx="3">
                  <c:v>55.0</c:v>
                </c:pt>
                <c:pt idx="4">
                  <c:v>67.0</c:v>
                </c:pt>
                <c:pt idx="5">
                  <c:v>64.5</c:v>
                </c:pt>
                <c:pt idx="6">
                  <c:v>46.5</c:v>
                </c:pt>
                <c:pt idx="7">
                  <c:v>47.2</c:v>
                </c:pt>
                <c:pt idx="8">
                  <c:v>54.9</c:v>
                </c:pt>
                <c:pt idx="9">
                  <c:v>59.0</c:v>
                </c:pt>
                <c:pt idx="10">
                  <c:v>66.3</c:v>
                </c:pt>
                <c:pt idx="11">
                  <c:v>66.6</c:v>
                </c:pt>
                <c:pt idx="12">
                  <c:v>72.6</c:v>
                </c:pt>
                <c:pt idx="13">
                  <c:v>69.3</c:v>
                </c:pt>
                <c:pt idx="14">
                  <c:v>56.3</c:v>
                </c:pt>
                <c:pt idx="15">
                  <c:v>57.6</c:v>
                </c:pt>
                <c:pt idx="16">
                  <c:v>54.6</c:v>
                </c:pt>
                <c:pt idx="17">
                  <c:v>61.9</c:v>
                </c:pt>
              </c:numCache>
            </c:numRef>
          </c:val>
        </c:ser>
        <c:gapWidth val="4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1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.0"/>
          <c:min val="40.0"/>
        </c:scaling>
        <c:delete val="0"/>
        <c:axPos val="l"/>
        <c:majorGridlines>
          <c:spPr>
            <a:ln>
              <a:solidFill>
                <a:srgbClr val="D5DBE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4B556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Direct 降幅</c:v>
                </c:pt>
              </c:strCache>
            </c:strRef>
          </c:tx>
          <c:spPr>
            <a:solidFill>
              <a:srgbClr val="B8C4CE"/>
            </a:solidFill>
          </c:spPr>
          <c:cat>
            <c:strRef>
              <c:f>Sheet1!$A$2:$A$15</c:f>
              <c:strCache>
                <c:ptCount val="14"/>
                <c:pt idx="0">
                  <c:v>R1-Llama 8B</c:v>
                </c:pt>
                <c:pt idx="1">
                  <c:v>R1-Qwen 7B</c:v>
                </c:pt>
                <c:pt idx="2">
                  <c:v>Llama3.1 8B</c:v>
                </c:pt>
                <c:pt idx="3">
                  <c:v>Llama3.1 8B-IT</c:v>
                </c:pt>
                <c:pt idx="4">
                  <c:v>Mistral 7B</c:v>
                </c:pt>
                <c:pt idx="5">
                  <c:v>Mistral 7B-IT</c:v>
                </c:pt>
                <c:pt idx="6">
                  <c:v>Qwen2.5 7B</c:v>
                </c:pt>
                <c:pt idx="7">
                  <c:v>Qwen2.5 7B-IT</c:v>
                </c:pt>
                <c:pt idx="8">
                  <c:v>Qwen2.5 14B</c:v>
                </c:pt>
                <c:pt idx="9">
                  <c:v>Qwen2.5 14B-IT</c:v>
                </c:pt>
                <c:pt idx="10">
                  <c:v>Gemma2 9B</c:v>
                </c:pt>
                <c:pt idx="11">
                  <c:v>Gemma2 9B-IT</c:v>
                </c:pt>
                <c:pt idx="12">
                  <c:v>Gemma2 27B</c:v>
                </c:pt>
                <c:pt idx="13">
                  <c:v>Gemma2 27B-IT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4.1</c:v>
                </c:pt>
                <c:pt idx="1">
                  <c:v>4.3</c:v>
                </c:pt>
                <c:pt idx="2">
                  <c:v>3.2</c:v>
                </c:pt>
                <c:pt idx="3">
                  <c:v>2.7</c:v>
                </c:pt>
                <c:pt idx="4">
                  <c:v>3.4</c:v>
                </c:pt>
                <c:pt idx="5">
                  <c:v>5.7</c:v>
                </c:pt>
                <c:pt idx="6">
                  <c:v>6.9</c:v>
                </c:pt>
                <c:pt idx="7">
                  <c:v>5.3</c:v>
                </c:pt>
                <c:pt idx="8">
                  <c:v>3.6</c:v>
                </c:pt>
                <c:pt idx="9">
                  <c:v>3.4</c:v>
                </c:pt>
                <c:pt idx="10">
                  <c:v>12.2</c:v>
                </c:pt>
                <c:pt idx="11">
                  <c:v>9.3</c:v>
                </c:pt>
                <c:pt idx="12">
                  <c:v>10.8</c:v>
                </c:pt>
                <c:pt idx="13">
                  <c:v>3.8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CoT 降幅</c:v>
                </c:pt>
              </c:strCache>
            </c:strRef>
          </c:tx>
          <c:spPr>
            <a:solidFill>
              <a:srgbClr val="C2662D"/>
            </a:solidFill>
          </c:spPr>
          <c:cat>
            <c:strRef>
              <c:f>Sheet1!$A$2:$A$15</c:f>
              <c:strCache>
                <c:ptCount val="14"/>
                <c:pt idx="0">
                  <c:v>R1-Llama 8B</c:v>
                </c:pt>
                <c:pt idx="1">
                  <c:v>R1-Qwen 7B</c:v>
                </c:pt>
                <c:pt idx="2">
                  <c:v>Llama3.1 8B</c:v>
                </c:pt>
                <c:pt idx="3">
                  <c:v>Llama3.1 8B-IT</c:v>
                </c:pt>
                <c:pt idx="4">
                  <c:v>Mistral 7B</c:v>
                </c:pt>
                <c:pt idx="5">
                  <c:v>Mistral 7B-IT</c:v>
                </c:pt>
                <c:pt idx="6">
                  <c:v>Qwen2.5 7B</c:v>
                </c:pt>
                <c:pt idx="7">
                  <c:v>Qwen2.5 7B-IT</c:v>
                </c:pt>
                <c:pt idx="8">
                  <c:v>Qwen2.5 14B</c:v>
                </c:pt>
                <c:pt idx="9">
                  <c:v>Qwen2.5 14B-IT</c:v>
                </c:pt>
                <c:pt idx="10">
                  <c:v>Gemma2 9B</c:v>
                </c:pt>
                <c:pt idx="11">
                  <c:v>Gemma2 9B-IT</c:v>
                </c:pt>
                <c:pt idx="12">
                  <c:v>Gemma2 27B</c:v>
                </c:pt>
                <c:pt idx="13">
                  <c:v>Gemma2 27B-IT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2.0</c:v>
                </c:pt>
                <c:pt idx="1">
                  <c:v>2.5</c:v>
                </c:pt>
                <c:pt idx="2">
                  <c:v>5.8</c:v>
                </c:pt>
                <c:pt idx="3">
                  <c:v>3.4</c:v>
                </c:pt>
                <c:pt idx="4">
                  <c:v>11.62</c:v>
                </c:pt>
                <c:pt idx="5">
                  <c:v>4.97</c:v>
                </c:pt>
                <c:pt idx="6">
                  <c:v>14.62</c:v>
                </c:pt>
                <c:pt idx="7">
                  <c:v>1.73</c:v>
                </c:pt>
                <c:pt idx="8">
                  <c:v>3.97</c:v>
                </c:pt>
                <c:pt idx="9">
                  <c:v>1.43</c:v>
                </c:pt>
                <c:pt idx="10">
                  <c:v>8.93</c:v>
                </c:pt>
                <c:pt idx="11">
                  <c:v>4.36</c:v>
                </c:pt>
                <c:pt idx="12">
                  <c:v>4.07</c:v>
                </c:pt>
                <c:pt idx="13">
                  <c:v>3.77</c:v>
                </c:pt>
              </c:numCache>
            </c:numRef>
          </c:val>
        </c:ser>
        <c:gapWidth val="5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1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"/>
          <c:min val="0.0"/>
        </c:scaling>
        <c:delete val="0"/>
        <c:axPos val="l"/>
        <c:majorGridlines>
          <c:spPr>
            <a:ln>
              <a:solidFill>
                <a:srgbClr val="D5DBE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4B556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這篇是 ACL 2025 的短論文，主張用一個極簡的操作——隨機把一個選項換成 None of the above——就能讓既有的選擇題基準變難。報告順序：先講為什麼需要更難的基準，再講方法與一致性處理，最後看 18 個模型在 6 個基準上的結果與 CoT 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作者把問題放在「基準飽和」與「造新基準很貴」之間。MMLU-Pro 的做法是增加干擾選項，但好的干擾選項需要人工把關。另外文獻已指出 LLM 在 MCQ 上有捷徑：只看選項也能答對、對 A/B/C/D 有先驗偏好。右邊是作者借用的教育測驗觀點：None of the above 能區分真正理解的考生，而且人類考生常不敢選它。論文的核心假設是：偵測『正解不在選項裡』比直接選出正解需要更多推理。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這張圖是整篇論文最直觀的例子。左邊兩題原題，Llama-3.1 8B 都答對。右邊是 WiCkeD 變體：第一題被移除的是干擾選項 Hydrogen，正解仍是 Helium；第二題被移除的剛好是正解 Centrifugal，此時正確答案變成 None of the above，但模型把機率分給了 Torsal 等選項而答錯。注意題目本身完全沒有改動，題數也不變，只改選項。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演算法本身非常簡單：對每一題，從 N 個選項中均勻抽一個移除，再把 None of the above 加進來。如果被移除的剛好是正解，新正解就是 None of the above；否則原正解不變。作者強調不能把 None of the above 當成第 N+1 個選項直接加上去，因為原正解永遠存在，那個選項就永遠是錯的、沒有意義。唯一的例外是 SBA 題，下一頁說明。實驗中每個基準產生 5 個隨機變體，回報平均與標準差。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這是方法裡唯一需要小心的地方。在 SBA 題中，選項 A 也算說得通，只是 D 更好。如果 WiCkeD 剛好移除了 D，按規則正解會變成 None of the above，但其實 A 此時才是最佳答案，題目就自相矛盾了。所以作者先辨認 SBA 題，對它們不做替換、原樣保留，這樣基準題數不變。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左表是 1K 筆人工標註樣本上的比較。作者選用 BERT 分類器而不是 GPT-4o-mini，原因是它最保守、召回率最高（98.9%），也就是幾乎所有 SBA 題都會被抓出來原樣保留。精確率 95.1% 較低的代價只是：有些其實可以替換的題目被保留下來，不會造成錯誤。作者據此估計 WiCkeD 中約 1% 題目是不一致的，約 5% 題目本可加 None of the above 但沒有加。右圖是最終各基準的 SBA 比例：MMLU 20.3%、MMLU-Pro 16.8%、MMLU-Redux 14.7%，其他三個都在 6% 以下。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實驗設定。六個基準涵蓋知識、語言理解、推理與真實性。由於移除哪個選項是隨機的，每個基準產生 5 個變體並報告平均與標準差。模型共 18 個，橫跨四個家族，包含 base 與 instruction-tuned 版本，再加上兩個 DeepSeek-R1 蒸餾模型代表強推理模型。few-shot 設為 5，作者的理由是讓大多數情況下示例中至少有一題的正解是 None of the above。CoT 只在三個 MMLU 系列上做 zero-shot，最長生成 4096 tokens；因為算力限制沒有跑約 70B 的模型。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 Table 1 的六個基準平均準確率。灰色是原始基準，藍色是 WiCkeD 變體。每個模型都明顯下降，整體平均從 70.78 降到 58.52，降幅 12.2 分（摘要寫 12.1，與表格有 0.1 的出入）。最大降幅是 Qwen2.5-7B base 的 19.7 分；最小的是 DeepSeek-R1 蒸餾的 Qwen-7B，只降 7.3 分。作者據此推測推理能力較強的模型較能應付 None of the above 帶來的額外判斷。instruction tuning 沒有一致的優勢，依模型家族而異。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這頁挑出 Table 1 中最能說明排名變化的幾列。原始基準上 Qwen2.5-7B 74.7、7B-IT 73.5，和 Llama-3.1-70B 的 76.8 很接近。到了 WiCkeD，Qwen2.5-7B 只剩 54.9、7B-IT 59.0，而 70B 還有 67.0。論文文字寫的落後幅度是 13% 與 8%、Gemma 是 9.5% 與 5.3%；我這裡依表格數值直接相減，所以與論文文字差零點幾分。重點是：WiCkeD 不只是讓所有模型同比例變差，而是揭露了原始基準上看不到的能力差異。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2 只看 MMLU、MMLU-Pro、MMLU-Redux 三個基準。灰色是不加 CoT 的降幅，橘色是加上 zero-shot CoT 後的降幅，這裡取絕對值方便比較。這三個基準本身 SBA 比例較高，直接作答時的降幅比另外三個基準小，平均 5.62。但加上 CoT 之後平均降幅仍有 5.24，CoT 並沒有把 WiCkeD 的難度抵銷掉。instruction-tuned 模型在 CoT 下降幅明顯較小；R1 蒸餾模型各約 2 分；Qwen2.5 7B-IT、14B-IT 低於 2 分。作者推測與推理能力有關，但這部分屬於推測，論文沒有進一步驗證。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附錄 B 想解釋為什麼 instruction-tuned 模型在 CoT 下降幅較小。圖中把答案變化分成三類：維持一致、新答對、反轉。作者文字說 instruct 模型比較不會把原本答對的題目改錯，也比較能修正原本的錯誤。但圖例沒有定義 Reversed Corrects 指的是哪個方向，而 instruct 的 Reversed Corrects（21.7%）反而比 base（18.0%）高，和文字敘述不容易直接對上。我在這裡把數字照實列出，對這張圖的解讀保留，建議看原始程式碼確認定義。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最後整理。可直接帶走的是：這個方法幾乎零成本，可以套在任何已有的 MCQ 基準上；而且不同模型的降幅不一，本身就是額外的評測訊號。作者也釋出了 SBA 分類器與資料。限制方面，作者自己承認：只在能分成 SBA/SCA 的熱門基準上人工確認過；沒有測閉源模型；CoT 實驗沒跑 70B 級模型。另外 SBA 分類器估計仍有約 1% 不一致的題目。討論點：如果把 WiCkeD 用在我們自己的領域 MCQ 題庫上，SBA 比例可能更高，需要先估計再決定是否套用。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LLM 評測 · Benchmark 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17373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WiCkeD：把一個選項換成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「None of the above」，讓 MCQ 基準變難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9144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不需人工標註、不需新增干擾選項，就能為既有選擇題基準產生更具鑑別力的變體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4617720"/>
            <a:ext cx="10332720" cy="0"/>
          </a:xfrm>
          <a:prstGeom prst="line">
            <a:avLst/>
          </a:prstGeom>
          <a:ln w="12700">
            <a:solidFill>
              <a:srgbClr val="D5DBE1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914400" y="4754880"/>
            <a:ext cx="10332720" cy="6400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Ahmed Elhady, Eneko Agirre, Mikel Artetxe｜HiTZ Center (UPV/EHU)、Reka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ACL 2025（Short）· arXiv:2502.18316 · 程式與資料：github.com/ahmedselhady/wicked-benchmarks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MCQ 基準快速飽和，但重新打造更難的基準成本很高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554480"/>
            <a:ext cx="6583680" cy="40233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2000"/>
              </a:spcAft>
            </a:pPr>
            <a:r>
              <a:rPr sz="19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飽和：</a:t>
            </a:r>
            <a:r>
              <a:rPr sz="19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MMLU、ARC-Challenge 等基準在 LLM 時代很快被刷高，鑑別力下降</a:t>
            </a:r>
          </a:p>
          <a:p>
            <a:pPr algn="l">
              <a:lnSpc>
                <a:spcPct val="125000"/>
              </a:lnSpc>
              <a:spcAft>
                <a:spcPts val="2000"/>
              </a:spcAft>
            </a:pPr>
            <a:r>
              <a:rPr sz="19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改造成本：</a:t>
            </a:r>
            <a:r>
              <a:rPr sz="19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MMLU-Pro 以更多干擾選項加難度，但合理的干擾選項需要人工驗證</a:t>
            </a:r>
          </a:p>
          <a:p>
            <a:pPr algn="l">
              <a:lnSpc>
                <a:spcPct val="125000"/>
              </a:lnSpc>
              <a:spcAft>
                <a:spcPts val="2000"/>
              </a:spcAft>
            </a:pPr>
            <a:r>
              <a:rPr sz="19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既有漏洞：</a:t>
            </a:r>
            <a:r>
              <a:rPr sz="19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部分 LLM 只看選項不看題目也能高於隨機；也會偏好特定選項字母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508760"/>
            <a:ext cx="4053535" cy="39319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737360"/>
            <a:ext cx="3596335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教育測驗的經驗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286000"/>
            <a:ext cx="3596335" cy="30175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None of the above 在教育測驗中用來檢驗考生是否真的理解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受試者傾向避開它，即使它是正解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作者假設：判斷「正解不在選項中」比挑出正解更難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與其新增干擾選項，不如改變題目的判斷方式——讓模型必須確認正解是否存在。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Elhady, Agirre &amp; Artetxe · WiCkeD · ACL 2025 · arXiv:2502.18316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方法核心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保留題目、隨機移除一個選項，再補上「None of the above」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1_wicked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8138160" cy="33106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651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1：左為 MMLU-Pro 原題，右為 WiCkeD 變體（移除 Hydrogen 與 Centrifugal）；長條為 Llama-3.1 8B 對各選項的機率。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006840" y="1463040"/>
            <a:ext cx="0" cy="3108960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9189719" y="1417320"/>
            <a:ext cx="2453335" cy="3291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第 1 題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：移除干擾選項，正解 C 不變，模型仍答對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第 2 題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：移除正解 Centrifugal，正解變為 None of the above，模型改選 C 而答錯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同一個 Llama-3.1 8B 在原題兩題全對，在 WiCkeD 變體上第二題失分。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Elhady, Agirre &amp; Artetxe · WiCkeD · ACL 2025 · arXiv:2502.18316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WiCkeD 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演算法只有一步：均勻抽樣一個選項替換為 None of the above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08760"/>
            <a:ext cx="1874519" cy="160020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18488"/>
            <a:ext cx="1691639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輸入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691639" cy="1005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基準共 M 題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每題 N 個選項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（1 正解 + N−1 干擾）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057400"/>
            <a:ext cx="393192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816352" y="1508760"/>
            <a:ext cx="1874519" cy="16002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7792" y="1618488"/>
            <a:ext cx="1691639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SBA 分類器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2057400"/>
            <a:ext cx="1691639" cy="1005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判斷是否為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Single Best Answer 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057400"/>
            <a:ext cx="393192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4064" y="1508760"/>
            <a:ext cx="1874519" cy="16002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75503" y="1618488"/>
            <a:ext cx="1691639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均勻抽樣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3" y="2057400"/>
            <a:ext cx="1691639" cy="1005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從 N 個選項中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隨機移除 1 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8583" y="2057400"/>
            <a:ext cx="393192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51775" y="1508760"/>
            <a:ext cx="1874519" cy="16002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3215" y="1618488"/>
            <a:ext cx="1691639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補上萬用選項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5" y="2057400"/>
            <a:ext cx="1691639" cy="1005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加入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None of the above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2057400"/>
            <a:ext cx="393192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1508760"/>
            <a:ext cx="1874519" cy="160020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0928" y="1618488"/>
            <a:ext cx="1691639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輸出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0928" y="2057400"/>
            <a:ext cx="1691639" cy="1005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同樣 M 題的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WiCkeD 變體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566160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替換規則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8640" y="3977640"/>
          <a:ext cx="11094415" cy="15361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91840"/>
                <a:gridCol w="3840480"/>
                <a:gridCol w="3962095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題目類型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被移除的選項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WiCkeD 變體中的正解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SBA（最佳答案型）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不移除，原樣複製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原正解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SCA（單一正解型）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正解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None of the above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SCA（單一正解型）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某個干擾選項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原正解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6" name="Connector 25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題數維持 M 題，選項數維持 N 個；隨機性以每個基準產生 5 個變體、回報平均與標準差來控制。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Elhady, Agirre &amp; Artetxe · WiCkeD · ACL 2025 · arXiv:2502.18316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一致性處理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「最佳答案」型題目若移除正解會產生矛盾，因此原樣保留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2_sba_incoh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680960" cy="29416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404684"/>
            <a:ext cx="768096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2：上為原題（最佳答案 D）；下為移除 D 後的變體，次佳答案 A 反而成為正確選項。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41080" y="1463040"/>
            <a:ext cx="0" cy="2834640"/>
          </a:xfrm>
          <a:prstGeom prst="line">
            <a:avLst/>
          </a:prstGeom>
          <a:ln w="28575">
            <a:solidFill>
              <a:srgbClr val="C2662D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8823959" y="1417320"/>
            <a:ext cx="2819095" cy="30175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500" b="1" i="0">
                <a:solidFill>
                  <a:srgbClr val="C2662D"/>
                </a:solidFill>
                <a:latin typeface="Calibri"/>
                <a:ea typeface="Microsoft JhengHei"/>
                <a:cs typeface="Microsoft JhengHei"/>
              </a:rPr>
              <a:t>錯誤情境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移除最佳答案 D 後，規則會把 None of the above 標為正解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但此時 A 才是最合適的選項，題目自相矛盾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816164"/>
            <a:ext cx="3515258" cy="0"/>
          </a:xfrm>
          <a:prstGeom prst="line">
            <a:avLst/>
          </a:prstGeom>
          <a:ln w="25400">
            <a:solidFill>
              <a:srgbClr val="1B5E7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4907604"/>
            <a:ext cx="3515258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SCA · Single Correct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91652"/>
            <a:ext cx="3515258" cy="7772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干擾選項全錯，可安全套用 WiCkeD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38218" y="4816164"/>
            <a:ext cx="3515258" cy="0"/>
          </a:xfrm>
          <a:prstGeom prst="line">
            <a:avLst/>
          </a:prstGeom>
          <a:ln w="25400">
            <a:solidFill>
              <a:srgbClr val="1B5E7A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4338218" y="4907604"/>
            <a:ext cx="3515258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SBA · Single Best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8218" y="5291652"/>
            <a:ext cx="3515258" cy="7772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多個選項可接受、只有一個最佳；移除最佳答案後次佳變正解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27796" y="4816164"/>
            <a:ext cx="3515259" cy="0"/>
          </a:xfrm>
          <a:prstGeom prst="line">
            <a:avLst/>
          </a:prstGeom>
          <a:ln w="25400">
            <a:solidFill>
              <a:srgbClr val="1B5E7A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127796" y="4907604"/>
            <a:ext cx="3515258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處理方式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796" y="5291652"/>
            <a:ext cx="3515258" cy="7772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SBA 題不加 None of the above，直接複製到變體中，維持題數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WiCkeD 的可靠性取決於能否辨認 SBA 題，作者為此訓練了一個專用分類器。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Elhady, Agirre &amp; Artetxe · WiCkeD · ACL 2025 · arXiv:2502.18316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SBA 偵測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BERT 分類器對 SBA 題的召回率達 98.9%，寧可多保留也不誤改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1K 人工標註樣本上的 SBA 比例與偵測表現（Table 3）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5486400" cy="15361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4440"/>
                <a:gridCol w="640080"/>
                <a:gridCol w="777240"/>
                <a:gridCol w="548640"/>
                <a:gridCol w="594360"/>
                <a:gridCol w="777240"/>
                <a:gridCol w="9144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標註來源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MMLU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MMLU-Pro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TQA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CSQA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Recall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Precision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人工標註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17.3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12.3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GPT-4o-mini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18.2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13.0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98.5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97.4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SBA 分類器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19.6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14.2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98.9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95.1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566160"/>
            <a:ext cx="5486400" cy="12801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3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4K 題取自四個基準：1K 人工標註，3K 由 GPT-4o-mini 標註後訓練 BERT 分類器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3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估計約 1% 變體題不一致、約 5% 題目本可替換卻被保留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9" y="1417320"/>
            <a:ext cx="5059375" cy="3200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各基準被判為 SBA 而原樣保留的比例（Table 5）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583679" y="1783080"/>
          <a:ext cx="5059375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MMLU 系列約 15–20% 題目不做替換，其餘三個基準不到 6%；至少 80% 題目實際被改動。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Elhady, Agirre &amp; Artetxe · WiCkeD · ACL 2025 · arXiv:2502.18316 · Table 3、Table 5（Appendix A）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實驗設計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評測設定：6 個基準 × 18 個開源模型，另以 CoT 檢驗推理能力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1463040"/>
            <a:ext cx="3515258" cy="0"/>
          </a:xfrm>
          <a:prstGeom prst="line">
            <a:avLst/>
          </a:prstGeom>
          <a:ln w="31750">
            <a:solidFill>
              <a:srgbClr val="1B5E7A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48640" y="1600200"/>
            <a:ext cx="3515258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基準（6）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515258" cy="36576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MMLU、MMLU-Pro、MMLU-Redux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CommonsenseQA、TruthfulQA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ARC-Challenge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每個基準產生 5 個 WiCkeD 變體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38218" y="1463040"/>
            <a:ext cx="3515258" cy="0"/>
          </a:xfrm>
          <a:prstGeom prst="line">
            <a:avLst/>
          </a:prstGeom>
          <a:ln w="31750">
            <a:solidFill>
              <a:srgbClr val="1B5E7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338218" y="1600200"/>
            <a:ext cx="3515258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模型（18）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2194560"/>
            <a:ext cx="3515258" cy="36576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Qwen2.5 7B/14B/72B（Base+IT）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Llama-3.1 8B/70B（Base+IT）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Gemma-2 9B/27B（Base+IT）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Mistral-7B（Base+IT）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DeepSeek-R1 蒸餾版 Llama-8B、Qwen-7B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27796" y="1463040"/>
            <a:ext cx="3515259" cy="0"/>
          </a:xfrm>
          <a:prstGeom prst="line">
            <a:avLst/>
          </a:prstGeom>
          <a:ln w="31750">
            <a:solidFill>
              <a:srgbClr val="1B5E7A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8127796" y="1600200"/>
            <a:ext cx="3515258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評測協定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7796" y="2194560"/>
            <a:ext cx="3515258" cy="36576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Eval-Harness 標準 MCQ prompting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5-shot：確保示例中出現 None of the above 為正解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CoT：zero-shot，僅 3 個 MMLU 系列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CoT 最長生成 4096 tokens；未跑約 70B 模型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5-shot 的設計讓模型看過 None of the above 作為正解的示例，避免把失分歸因於格式陌生。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Elhady, Agirre &amp; Artetxe · WiCkeD · ACL 2025 · arXiv:2502.18316 · §4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主要結果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18 個模型在 WiCkeD 上平均掉 12.2 分，降幅介於 7.3 到 19.7 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11094415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48640" y="591616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713232" y="587959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Qwen2.5-7B 降幅最大（−19.7），其 DeepSeek-R1 蒸餾版降幅最小（−7.3）。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Elhady, Agirre &amp; Artetxe · WiCkeD · ACL 2025 · arXiv:2502.18316 · Table 1（六個基準平均準確率，%）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排名變化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WiCkeD 會改變模型排名：原本接近 70B 的 7B 模型被明顯拉開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676656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1760"/>
                <a:gridCol w="1371600"/>
                <a:gridCol w="1371600"/>
                <a:gridCol w="13716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模型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原始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WiCkeD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Δ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Llama-3.1 70B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76.8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67.0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−9.8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Qwen2.5 7B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74.7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54.9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−19.7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Qwen2.5 7B-IT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73.5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59.0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−14.5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Gemma-2 9B-IT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73.3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57.6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−15.7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Gemma-2 27B-IT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74.8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61.9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−12.9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Qwen2.5 72B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84.6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72.6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−12.0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7772400" y="1508760"/>
            <a:ext cx="0" cy="3017520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7955279" y="1463040"/>
            <a:ext cx="3687775" cy="3291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原始基準上，Qwen2.5-7B / 7B-IT 與 Llama-3.1-70B 只差 2–3 分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WiCkeD 上差距擴大為約 12 分與 8 分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Gemma-2 9B-IT、27B-IT 也分別落後 70B 約 9.4、5.1 分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Qwen2.5-72B 與 Llama-3.1-70B 在 WiCkeD 上表現最好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降幅差異本身就是訊號：原始基準看不出的能力差距，在 WiCkeD 上被拉開。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Elhady, Agirre &amp; Artetxe · WiCkeD · ACL 2025 · arXiv:2502.18316 · Table 1、§5.1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Chain-of-Thought 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加上 CoT 也無法消除降幅：MMLU 系列平均仍下降約 5 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81381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9006840" y="1508760"/>
            <a:ext cx="0" cy="3566160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9189719" y="1463040"/>
            <a:ext cx="2453335" cy="39319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平均降幅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：Direct 5.62、CoT 5.24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降幅最小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：R1 蒸餾模型約 2 分；Qwen2.5 7B/14B-IT 低於 2 分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降幅最大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：Qwen2.5-7B base 14.6、Mistral-7B base 11.6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CoT 在 MMLU 類基準上通常很有效，但面對 WiCkeD 仍維持約 5 分的降幅。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Elhady, Agirre &amp; Artetxe · WiCkeD · ACL 2025 · arXiv:2502.18316 · Table 2（MMLU、MMLU-Pro、MMLU-Redux；降幅取絕對值）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附錄 B 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CoT 下答案變化的分布：base 與 instruct 模型各約七成維持一致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3_cot_answer_cha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463040"/>
            <a:ext cx="6217920" cy="36971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59" y="5205901"/>
            <a:ext cx="621792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3：原始基準 vs. WiCkeD 變體（CoT）答案變化。左 Base、右 Instruct-tuned。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508760"/>
            <a:ext cx="4144975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圖中比例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1965960"/>
          <a:ext cx="384048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/>
                <a:gridCol w="1005840"/>
                <a:gridCol w="100584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Base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Instruct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Consistent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75.1%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71.2%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New Corrects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7.0%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7.2%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Reversed Corrects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18.0%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21.7%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98079" y="3886200"/>
            <a:ext cx="4144975" cy="12801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作者文字解讀為 instruct 模型較少把正確答案翻成錯誤；但圖例未定義各類別，Reversed Corrects 的比例反而是 instruct 較高，解讀時需保留。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此圖僅為附錄的補充分析，不影響主結果；類別定義需對照原作者程式碼確認。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Elhady, Agirre &amp; Artetxe · WiCkeD · ACL 2025 · arXiv:2502.18316 · Figure 3（Appendix B）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適用邊界與結論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可直接套用在任何 MCQ 基準，但需先處理 SBA 題並補驗閉源模型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463040"/>
            <a:ext cx="5303520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可帶走的做法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5303520" cy="36576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22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既有基準零成本加難：不需新增干擾選項或人工標註</a:t>
            </a:r>
          </a:p>
          <a:p>
            <a:pPr algn="l">
              <a:lnSpc>
                <a:spcPct val="125000"/>
              </a:lnSpc>
              <a:spcAft>
                <a:spcPts val="22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降幅差異可作為額外訊號，區分原始分數接近的模型</a:t>
            </a:r>
          </a:p>
          <a:p>
            <a:pPr algn="l">
              <a:lnSpc>
                <a:spcPct val="125000"/>
              </a:lnSpc>
              <a:spcAft>
                <a:spcPts val="22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SBA 分類器與資料已開源，可直接重現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242255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C2662D"/>
                </a:solidFill>
                <a:latin typeface="Calibri"/>
                <a:ea typeface="Microsoft JhengHei"/>
                <a:cs typeface="Microsoft JhengHei"/>
              </a:rPr>
              <a:t>限制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57400"/>
            <a:ext cx="5242255" cy="36576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22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只人工確認過可區分 SBA / SCA 的基準，其他基準需再驗證</a:t>
            </a:r>
          </a:p>
          <a:p>
            <a:pPr algn="l">
              <a:lnSpc>
                <a:spcPct val="125000"/>
              </a:lnSpc>
              <a:spcAft>
                <a:spcPts val="22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只評測開源權重模型，GPT-4、Claude 等閉源模型未測</a:t>
            </a:r>
          </a:p>
          <a:p>
            <a:pPr algn="l">
              <a:lnSpc>
                <a:spcPct val="125000"/>
              </a:lnSpc>
              <a:spcAft>
                <a:spcPts val="22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CoT 實驗未涵蓋約 70B 模型；SBA 偵測仍有約 1% 不一致題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結論｜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WiCkeD 迫使模型判斷「正解是否存在」，平均讓分數下降 12.2 分，CoT 下仍有約 5 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Elhady, Agirre &amp; Artetxe · WiCkeD · ACL 2025 · arXiv:2502.18316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