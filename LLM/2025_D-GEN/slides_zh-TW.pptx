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D-GEN 是 Emory 大學提出的干擾選項生成模型，作者宣稱是第一個開源、專門用來生成干擾選項的 LLM，有 8B 與 70B 兩個版本。這篇的重點有兩半：一半是怎麼訓練生成器，另一半是怎麼評估干擾選項的品質，作者提出兩個新的評估方法。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作者從評測格式切入：MMLU、HellaSwag 這類選擇題可以直接從 logits 取答案；GSM8K、HumanEval 這類開放式生成則要用規則擷取，容易因格式不一致產生 false negative。選擇題的問題在於需要好的干擾選項：人工撰寫很慢，檢索式方法依賴既有選項、容易有偏差。另外，干擾選項的品質評估也是難題：BLEU/ROUGE 只量字面重疊，人工評估又昂貴。所以這篇同時處理『生成』與『評估』兩件事。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訓練資料來自 MMLU 的 auxiliary training set，約 99.8K 題，內容來自 ARC、RACE、MCTest、OpenBookQA 等既有選擇題資料集。作者把每題的選項拆開：正解當作輸入的一部分，剩下的三個錯誤選項當作模型要生成的目標清單。兩個版本：8B 用 Llama-3.1-8B-Instruct 全參數微調；70B 用 Llama-3.3-70B-Instruct 做 LoRA，r=64、alpha=16、3 個 epoch，在 6 張 RTX A6000 上訓練約 10 天。論文主要實驗都用 70B 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D-GEN 生成後還有一個自動修正迴圈。Figure 2 的例子：題目是太陽系第二常見的元素，正解是 Helium。Case 1 只生成兩個；Case 2 有重複的 Hydrogen；Case 3 把正解 Helium 當成干擾選項。這三種都會被過濾並重新生成，直到得到 Case 4 這種三個、互不重複、不含正解的清單。這是規則式的檢查，不涉及語意判斷。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評估分三塊。第一塊排名一致性：如果 D-GEN 的干擾選項和原版一樣有鑑別力，那 21 個模型在新舊版本上的相對排名應該不變。第二塊熵分析：用三個強模型看選項的機率分布，如果新干擾選項同樣讓模型猶豫，熵應該相近。第三塊人工評估：把 D-GEN 用到 MMLU 以外的任務（FLAN 的 7 類任務），由人工打分。要注意前兩項都需要原本就有人工干擾選項的資料集才能做，這也是作者在限制中承認的部分。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做法：用 D-GEN 把 MMLU 每題的三個干擾選項全部換掉，正解位置隨機分配但保留原本的正解索引分布，避免位置偏差影響結果。接著用 lm-evaluation-harness 評測 21 個開源模型，每個模型跑 0-shot 與 5-shot，共 42 組設定。散佈圖上的點幾乎都貼著對角線，代表排名幾乎沒變。下方 Table 2：Spearman 介於 0.9778 到 0.9918，Kendall 介於 0.8862 到 0.9413。注意論文正文寫 Kendall 範圍到 0.9297，是只算四個領域；Overall 是 0.9413。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3 是新舊版本準確率差的統計，數值以比例表示（論文未特別標註單位，推測 −0.05 約等於 5 個百分點）。平均差在 −0.03 到 −0.07 之間，最大值接近 0，最小值都是負的，所以作者的解讀是 MMLU-DGEN 稍微難一點，但不至於改變整體難度。排名方面，最大的排名差是 Llama-3.2-3B-Instruct 在 0-shot STEM 上差了 7 名，但作者檢查後發現仍在標準誤範圍內，屬統計波動。另一個觀察：正解是『以上皆是』這類題型時，D-GEN 偶爾會生成其實也正確的選項，因為模型只被訓練生成錯誤選項。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第二個評估方法是熵分析。把模型對 A/B/C/D 的 logits 轉成機率分布，再計算熵。四選一的情況下熵最大是 2（以 2 為底），代表模型完全猶豫。作者強調熵的好處是看整個分布，干擾選項之間的互動會反映在裡面；先前 Raina 等人的做法只看單一干擾選項讓正解機率降多少。只用三個強模型的理由是：小模型本來就答不好，機率分布偏平均，熵會被灌水，無法反映干擾選項品質。統計檢定用 Wilcoxon signed-rank，因為熵差不一定是常態分布。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4 是三個模型、四個領域的平均熵，以及 Wilcoxon 檢定結果。12 組比較中只有 Llama 在 Social Sciences 有顯著差異，p 為 0.0342。其他 11 組 p 都大於 0.05。另外可以觀察到，除了 Mixtral 的 Humanities（1.060 對 1.058），其餘 11 組都是 D-GEN 的熵略高，這和上一頁準確率略降的結果方向一致：新干擾選項讓題目稍難一些。不同模型之間的熵絕對值差很多（Qwen 約 0.5、Mixtral 約 1.1），這是模型本身的特性，比較時只看同一模型新舊版本的差距。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第三個評估是把 D-GEN 用到 MMLU 以外的任務。從 FLAN collection 挑 7 類任務，每類 100 題，共 700 題，由人工以 1–5 分評四項指標：流暢度、與題目的相關性（Coherence）、誘答力（Distracting）、以及是否確實錯誤（Incorrectness）。左側四欄是 D-GEN 的平均分數，大多在 4 分以上；右側兩欄是未微調的 Llama-3.3-70B-Instruct baseline 的 Coherence 與 Distracting。Coherence 差距最大的是 S2T（4.86 對 3.18）、Translation（4.06 對 3.02）。值得留意 Translation 的 Incorrectness 和 Summarization 的 Incorrectness，baseline 反而略高（+0.19、+0.04），差距很小。D-GEN 最弱的一格是 CS（常識推理）的 Incorrectness 3.76，下一頁會看到原因。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錯誤分析看哪些干擾選項至少拿到一個 1 或 2 分。數學是 0%，因為數值題的答案空間很清楚。摘要最差，27%，其中 email 主旨生成占了 27 個錯誤中的 10 個，因為原資料的正解本身就很含糊，例如『Huh?』，干擾選項很難與正解區隔。常識推理 22%，而且 22 次低分全部是 Incorrectness，意思是 D-GEN 生成的干擾選項其實也說得通，例如『她沒交作業』『她惹上麻煩』這種合理後果；其中因果題占 14/22。翻譯 13%，主要是『寫一句非英文句子』這種題目，模型誤解雙重否定。作者也提到 Llama-3.3 對 WMT-16 的土耳其語、俄語、芬蘭語沒有官方支援。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作者自己列了兩個限制。第一，他們提出的兩個評估方法都需要人工干擾選項作對照，所以只能用在本來就有干擾選項的資料集，擴展性有限。第二，他們嘗試用 GPT-4o 當評審，但在 700 題中有 123 題拿到低分，其中 32 題（26.02%）被扣分的理由竟然是干擾選項是錯的——這正是干擾選項的目的。Coherence 也有類似問題：干擾選項故意與題目稍有偏離，GPT-4o 卻給低分。所以最後改用人工評估，GPT-4o 只在翻譯任務輔助。我補充兩點：all of these 型題目的問題；以及 FLAN 每類只有 100 題，且用 3-shot，不是所有子任務都學得好。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三個可以帶走的東西。第一是模型本身，已經開源，可以把開放式題庫轉成選擇題。第二、第三是兩個評估方法：排名一致性適合檢驗任何『改造後的基準』是否保留鑑別力；熵分析可以量化干擾選項讓模型猶豫的程度。數字上，MMLU 上的排名相關係數 0.99、熵差在 12 組中只有 1 組顯著。延伸到其他任務時，數學與結構轉文字最穩，常識推理與摘要最弱。討論點：如果要用在我們自己的領域題庫，需要先確認有沒有現成干擾選項可以當對照，否則只能靠人工評估。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LLM 評測 · 干擾選項生成（Distractor Generation）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7373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D-GEN：開源干擾選項生成模型，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把開放式題目轉成選擇題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以排名一致性、熵分析與人工評估三個角度，驗證生成的干擾選項能否取代人工版本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4617720"/>
            <a:ext cx="10332720" cy="0"/>
          </a:xfrm>
          <a:prstGeom prst="line">
            <a:avLst/>
          </a:prstGeom>
          <a:ln w="12700">
            <a:solidFill>
              <a:srgbClr val="D5DBE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Grace Byun, Jinho D. Choi｜Emory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arXiv:2504.13439v2（2025）· 程式：github.com/emorynlp/D-Gen · 模型：HF SungJoo/DGEN-llama3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干擾選項的製作與品質評估，都缺乏可擴展的方法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645920"/>
            <a:ext cx="3515258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開放式評測不穩定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154680"/>
            <a:ext cx="3515258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3337560"/>
            <a:ext cx="3515258" cy="21031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GSM8K、HumanEval 等需以規則擷取答案，格式不一致會造成誤判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8218" y="1645920"/>
            <a:ext cx="3515258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56032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干擾選項很貴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38218" y="3154680"/>
            <a:ext cx="3515258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38218" y="3337560"/>
            <a:ext cx="3515258" cy="21031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人工撰寫耗時；檢索式方法依賴既有干擾選項，容易帶入偏差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7796" y="1645920"/>
            <a:ext cx="3515258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6" y="256032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品質難以量化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27796" y="3154680"/>
            <a:ext cx="3515259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127796" y="3337560"/>
            <a:ext cx="3515258" cy="21031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BLEU / ROUGE 只看與人工版本的字面重疊，人工評估成本高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本文主張｜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微調專用模型來生成干擾選項，並以模型行為（排名、信心分布）而非字面相似度評估品質。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D-GEN 訓練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 MMLU 輔助訓練集微調 Llama，學會生成三個干擾選項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1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4415" cy="31539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617023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1：把 MMLU auxiliary train 的選項拆成「正解」與「干擾選項清單」，作為生成任務的訓練資料。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028503"/>
            <a:ext cx="3566160" cy="0"/>
          </a:xfrm>
          <a:prstGeom prst="line">
            <a:avLst/>
          </a:prstGeom>
          <a:ln w="254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5101655"/>
            <a:ext cx="3566160" cy="347472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訓練資料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67415"/>
            <a:ext cx="3566160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MMLU auxiliary train 99.8K 題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含 ARC、RACE、MCTest、OpenBookQA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20" y="5028503"/>
            <a:ext cx="2743200" cy="0"/>
          </a:xfrm>
          <a:prstGeom prst="line">
            <a:avLst/>
          </a:prstGeom>
          <a:ln w="254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389120" y="5101655"/>
            <a:ext cx="2743200" cy="347472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8B 版本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67415"/>
            <a:ext cx="2743200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Llama-3.1-8B-Instruct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全參數微調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5028503"/>
            <a:ext cx="4236415" cy="0"/>
          </a:xfrm>
          <a:prstGeom prst="line">
            <a:avLst/>
          </a:prstGeom>
          <a:ln w="25400">
            <a:solidFill>
              <a:srgbClr val="1B5E7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406640" y="5101655"/>
            <a:ext cx="4236415" cy="347472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70B 版本（主實驗）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5467415"/>
            <a:ext cx="4236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Llama-3.3-70B-Instruct，LoRA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r=64、α=16、3 epochs、6×A6000 約 10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§3.1、Appendix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生成後處理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自動修正：過濾不合格的干擾選項，重新生成直到合格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2_filter_regen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94415" cy="24374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900449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2：Case 1 數量不足、Case 2 重複、Case 3 與正解重疊，皆被過濾後重新生成；Case 4 為合格輸出。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57649"/>
            <a:ext cx="3515258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67377"/>
            <a:ext cx="3149498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條件 1｜數量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88001"/>
            <a:ext cx="314949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每題必須剛好三個干擾選項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4357649"/>
            <a:ext cx="3515258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4467377"/>
            <a:ext cx="3149498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條件 2｜不重複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4888001"/>
            <a:ext cx="314949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三個干擾選項彼此不能相同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4357649"/>
            <a:ext cx="3515258" cy="10515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4467377"/>
            <a:ext cx="3149498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條件 3｜不含正解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0676" y="4888001"/>
            <a:ext cx="314949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任何干擾選項都不能與正解重疊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§3.2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評估設計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三種評估互補：保留鑑別力、維持模型信心分布、通過人工檢查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3515258" cy="73152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排名一致性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515258" cy="320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Ranking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515258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以 D-GEN 干擾選項重建 MMLU，21 個模型在新舊版本上的排名是否一致？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3515258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指標：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Spearman ρ、Kendall 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08760"/>
            <a:ext cx="3515258" cy="73152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8218" y="16916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熵分析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2194560"/>
            <a:ext cx="3515258" cy="320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Entropy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2651760"/>
            <a:ext cx="3515258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強模型面對新舊干擾選項時，選項機率分布的不確定性是否相近？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297680"/>
            <a:ext cx="3515258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指標：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平均熵 H(p)、Wilcoxon 檢定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1508760"/>
            <a:ext cx="3515258" cy="73152"/>
          </a:xfrm>
          <a:prstGeom prst="rect">
            <a:avLst/>
          </a:prstGeom>
          <a:solidFill>
            <a:srgbClr val="1B5E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7796" y="1691640"/>
            <a:ext cx="3515258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1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人工評估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7796" y="2194560"/>
            <a:ext cx="3515258" cy="320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Human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2651760"/>
            <a:ext cx="3515258" cy="1463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延伸到 FLAN 的 7 類任務時，干擾選項是否流暢、相關、具誘答力且確實錯誤？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297680"/>
            <a:ext cx="3515258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指標：</a:t>
            </a:r>
            <a:r>
              <a:rPr sz="13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四項 1–5 分量表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前兩項是作者提出的新方法，都需要有「人工干擾選項」作為比較基準。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§4–§6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1：排名一致性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42 組設定在新舊 MMLU 上排名幾乎不變（Spearman 0.99）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3_rank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87" y="1371600"/>
            <a:ext cx="1071832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645152"/>
            <a:ext cx="11094415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3：橫軸為原版 MMLU 排名、縱軸為 MMLU-DGEN 排名（1 = 最佳），由左至右為 Overall、Humanities、Social Sciences、STEM、Others；紅色虛線為完全一致。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983480"/>
          <a:ext cx="11064240" cy="987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相關係數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Humanities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Social Sciences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STEM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Others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Overall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Spearman 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0.9778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0.9889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0.9883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0.9901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0.9918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Kendall 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0.8862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0.9227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0.9297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0.9261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0.9413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Figure 3、Table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1 補充：難度與排名誤差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MMLU-DGEN 比原版略難：各領域準確率平均差 −0.03 到 −0.07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17320"/>
            <a:ext cx="6035040" cy="3200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準確率差（MMLU-DGEN − MMLU Original）的統計量（Table 3）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6035040" cy="2523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1680"/>
                <a:gridCol w="1005840"/>
                <a:gridCol w="1005840"/>
                <a:gridCol w="1005840"/>
                <a:gridCol w="10058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領域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Mean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Median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Max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Humanities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Social Sciences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−0.10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0.04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Others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−0.10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Overall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−0.05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−0.06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132320" y="1463040"/>
            <a:ext cx="0" cy="3566160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0" y="1417320"/>
            <a:ext cx="4327855" cy="3840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難度：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差距平均很小，但最小值皆為負，新版本整體略難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排名變動：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最大排名差為 Llama-3.2-3B-Instruct（0-shot、STEM）的 7 名，仍落在準確率 ± 標準誤的重疊區間內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特殊題型：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正解為「all of these」時，D-GEN 偶爾生成實際正確的選項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換掉全部干擾選項後，難度只略升、排名幾乎不動，鑑別力得以保留。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Table 3、§4.4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評估方法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熵分析：以模型對四個選項的機率分布，衡量干擾選項整體的誘答力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Rectangle 4"/>
          <p:cNvSpPr/>
          <p:nvPr/>
        </p:nvSpPr>
        <p:spPr>
          <a:xfrm>
            <a:off x="548640" y="1508760"/>
            <a:ext cx="5120640" cy="3566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4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計算方式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4572000" cy="2743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logits z = [z_A, z_B, z_C, z_D] 經 softmax 得機率 p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H(p) = −Σ p_i log p_i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四選一時 H 介於 0（完全確定）到 2（平均分布）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比較 H_MMLU 與 H_D-GEN；以 Wilcoxon signed-rank 檢定差異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9" y="1508760"/>
            <a:ext cx="551657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設計考量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2011680"/>
            <a:ext cx="5516575" cy="31089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整體而非單一選項：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熵同時反映三個干擾選項之間的互動，而非只看正解機率下降多少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只用強模型：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Llama-3.3-70B、Qwen2.5-72B、Mixtral-8x7B；小模型機率分布本身不穩，會高估熵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判讀：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若兩者熵無顯著差異，代表新干擾選項同樣能動搖模型信心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與 BLEU / ROUGE 不同，熵分析直接量測干擾選項對模型決策的影響。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§5.1–5.2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2：熵分析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12 組比較中只有 1 組熵差顯著：干擾選項的誘答力與人工版本相當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0378440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7360"/>
                <a:gridCol w="1051560"/>
                <a:gridCol w="1051560"/>
                <a:gridCol w="777240"/>
                <a:gridCol w="1051560"/>
                <a:gridCol w="1051560"/>
                <a:gridCol w="777240"/>
                <a:gridCol w="1051560"/>
                <a:gridCol w="1051560"/>
                <a:gridCol w="7772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領域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Llama-3.3-70B
H_MMLU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Llama
H_D-GEN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Qwen2.5-72B
H_MMLU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Qwen
H_D-GEN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Mixtral-8x7B
H_MMLU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Mixtral
H_D-GEN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Humanities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0.907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Social Sciences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0.812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0.836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&lt;0.05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0.522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0.529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1.059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1.084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STEM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1.087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Others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0.849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0.857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0.553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0.568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1.079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1.087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≥0.05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60520"/>
            <a:ext cx="11094415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Llama 在 Social Sciences 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p = 0.0342，是唯一顯著差異；Qwen 與 Mixtral 四個領域皆不顯著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4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11 / 12 組的 H_D-GEN 略高於 H_MMLU</a:t>
            </a:r>
            <a:r>
              <a:rPr sz="14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，與 MMLU-DGEN 略難的準確率結果方向一致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熵的差異不顯著但普遍略高，表示新干擾選項至少與原版一樣能讓模型猶豫。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Table 4、Appendix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結果 3：人工評估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FLAN 七類任務人工評估：微調後連貫性與誘答力明顯提升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每類任務隨機 100 題（共 700 題），以 1–5 分評估四項指標；Baseline 為未微調的 Llama-3.3-70B-Instruct，使用相同題目與評估流程。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11091672" cy="30723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1234440"/>
                <a:gridCol w="1325880"/>
                <a:gridCol w="1417320"/>
                <a:gridCol w="1600200"/>
                <a:gridCol w="1737360"/>
                <a:gridCol w="16733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任務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Fluency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Coherence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Distracting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Incorrectness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Baseline Coherence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Baseline Distracting</a:t>
                      </a:r>
                    </a:p>
                  </a:txBody>
                  <a:tcPr marL="54864" marR="54864" marT="18288" marB="18288" anchor="ctr">
                    <a:solidFill>
                      <a:srgbClr val="1B5E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RC 閱讀理解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CS 常識推理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4.97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4.38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3.76</a:t>
                      </a:r>
                    </a:p>
                  </a:txBody>
                  <a:tcPr marL="54864" marR="54864" marT="18288" marB="18288" anchor="ctr">
                    <a:solidFill>
                      <a:srgbClr val="FC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3.63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3.25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RC+CS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Transl. 翻譯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4.91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3.99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4.51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3.02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3.87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Sum. 摘要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S2T 結構轉文字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4.88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4.86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4.64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4.67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3.18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3.56</a:t>
                      </a:r>
                    </a:p>
                  </a:txBody>
                  <a:tcPr marL="54864" marR="54864" marT="18288" marB="18288" anchor="ctr">
                    <a:solidFill>
                      <a:srgbClr val="F2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Math 數學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5.00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  <a:ea typeface="Microsoft JhengHei"/>
                          <a:cs typeface="Microsoft JhengHei"/>
                        </a:rPr>
                        <a:t>4.18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D-GEN 各任務 Coherence 比 Baseline 高 0.26–1.68 分；最弱的是 CS 的 Incorrectness（3.76）。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Table 7、Table 8（D-GEN 70B vs. 未微調 Llama-3.3-70B-Instruct）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錯誤分析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失敗集中於摘要、常識與翻譯；常識題的問題是「不夠錯」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pic>
        <p:nvPicPr>
          <p:cNvPr id="5" name="Picture 4" descr="fig5_low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43454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44455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原文 Figure 5：(A) 至少一項低分（1 或 2）的干擾選項比例；(B) 各指標低分次數。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46520" y="1463040"/>
            <a:ext cx="0" cy="4206239"/>
          </a:xfrm>
          <a:prstGeom prst="line">
            <a:avLst/>
          </a:prstGeom>
          <a:ln w="28575">
            <a:solidFill>
              <a:srgbClr val="1B5E7A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629400" y="1417320"/>
            <a:ext cx="5013655" cy="44805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2E7D4F"/>
                </a:solidFill>
                <a:latin typeface="Calibri"/>
                <a:ea typeface="Microsoft JhengHei"/>
                <a:cs typeface="Microsoft JhengHei"/>
              </a:rPr>
              <a:t>Math 0%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：數值限制答案空間，干擾選項最容易生成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B23A3A"/>
                </a:solidFill>
                <a:latin typeface="Calibri"/>
                <a:ea typeface="Microsoft JhengHei"/>
                <a:cs typeface="Microsoft JhengHei"/>
              </a:rPr>
              <a:t>Sum. 27%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：email 主旨生成占 10/27 錯誤，正解本身含糊（如「Huh?」）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B23A3A"/>
                </a:solidFill>
                <a:latin typeface="Calibri"/>
                <a:ea typeface="Microsoft JhengHei"/>
                <a:cs typeface="Microsoft JhengHei"/>
              </a:rPr>
              <a:t>CS 22%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：22 次低分全在 Incorrectness，因果題占 14/22，生成的干擾選項其實也合理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B23A3A"/>
                </a:solidFill>
                <a:latin typeface="Calibri"/>
                <a:ea typeface="Microsoft JhengHei"/>
                <a:cs typeface="Microsoft JhengHei"/>
              </a:rPr>
              <a:t>Transl. 13%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：「Write a sentence not in English」占 8/13，雙重否定指令被誤解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Figure 5、§6.4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評估方法依賴既有人工干擾選項，LLM 評審也還無法取代人工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作者自述的兩項限制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6766560" cy="329184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需要 ground-truth 干擾選項：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排名一致性與熵分析都要拿人工版本對照，無法用在沒有現成干擾選項的資料集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55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• </a:t>
            </a:r>
            <a:r>
              <a:rPr sz="155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LLM 評審不可靠：</a:t>
            </a:r>
            <a:r>
              <a:rPr sz="155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GPT-4o 會因干擾選項「是錯的」而扣分，與人工判斷偏離，最終改用人工評估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508760"/>
            <a:ext cx="3779215" cy="35661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91640"/>
            <a:ext cx="3322015" cy="3657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GPT-4o 評審的實測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94560"/>
            <a:ext cx="3322015" cy="64008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700 題中 123 題拿到 1 或 2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788920"/>
            <a:ext cx="3322015" cy="8229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B23A3A"/>
                </a:solidFill>
                <a:latin typeface="Calibri"/>
                <a:ea typeface="Microsoft JhengHei"/>
                <a:cs typeface="Microsoft JhengHei"/>
              </a:rPr>
              <a:t>32 題</a:t>
            </a:r>
            <a:r>
              <a:rPr sz="14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（26.02%）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657600"/>
            <a:ext cx="3322015" cy="128016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被扣分的理由是干擾選項「不正確」——恰好是干擾選項應有的性質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重點｜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其他需留意：正解為「all of these」時可能生成正確選項；FLAN 評估每類僅 100 題、3-shot。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 · Limitations、Appendix F.6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38328"/>
            <a:ext cx="11094415" cy="292608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結論與複用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7"/>
            <a:ext cx="11094415" cy="6858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可複用的部分：開源生成器加上兩個以模型行為為基礎的評估方法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16152"/>
            <a:ext cx="1109441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48640" y="1554480"/>
            <a:ext cx="731520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0020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開源生成器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1600200"/>
            <a:ext cx="7162495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8B（全參數）與 70B（LoRA）兩個版本已釋出於 Hugging Face，可直接把開放式題庫轉成四選一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2606039"/>
            <a:ext cx="1031717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48640" y="2743200"/>
            <a:ext cx="731520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排名一致性檢驗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88920"/>
            <a:ext cx="7162495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換掉干擾選項後，以 Spearman / Kendall 檢查模型排名是否保留，適合驗證任何改造後的基準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3794760"/>
            <a:ext cx="10317175" cy="0"/>
          </a:xfrm>
          <a:prstGeom prst="line">
            <a:avLst/>
          </a:prstGeom>
          <a:ln w="9525">
            <a:solidFill>
              <a:srgbClr val="D5DBE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3931920"/>
            <a:ext cx="731520" cy="7315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77639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熵分析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977639"/>
            <a:ext cx="7162495" cy="91440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50" b="0" i="0">
                <a:solidFill>
                  <a:srgbClr val="4B5563"/>
                </a:solidFill>
                <a:latin typeface="Calibri"/>
                <a:ea typeface="Microsoft JhengHei"/>
                <a:cs typeface="Microsoft JhengHei"/>
              </a:rPr>
              <a:t>用強模型的選項機率分布熵加 Wilcoxon 檢定，量化干擾選項的整體誘答力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5870448"/>
            <a:ext cx="0" cy="384048"/>
          </a:xfrm>
          <a:prstGeom prst="line">
            <a:avLst/>
          </a:prstGeom>
          <a:ln w="38100">
            <a:solidFill>
              <a:srgbClr val="1B5E7A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13232" y="5833872"/>
            <a:ext cx="10911535" cy="457200"/>
          </a:xfrm>
          <a:prstGeom prst="rect">
            <a:avLst/>
          </a:prstGeom>
          <a:noFill/>
        </p:spPr>
        <p:txBody>
          <a:bodyPr wrap="square" anchor="ctr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B5E7A"/>
                </a:solidFill>
                <a:latin typeface="Calibri"/>
                <a:ea typeface="Microsoft JhengHei"/>
                <a:cs typeface="Microsoft JhengHei"/>
              </a:rPr>
              <a:t>結論｜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JhengHei"/>
                <a:cs typeface="Microsoft JhengHei"/>
              </a:rPr>
              <a:t>在 MMLU 上排名相關 0.99、熵差多不顯著；延伸任務中數學與結構轉文字最穩，常識推理與摘要最弱。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86384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Byun &amp; Choi · D-GEN · arXiv:2504.13439v2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36576" rIns="36576" tIns="27432" bIns="27432"/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850" b="0" i="0">
                <a:solidFill>
                  <a:srgbClr val="8A939E"/>
                </a:solidFill>
                <a:latin typeface="Calibr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