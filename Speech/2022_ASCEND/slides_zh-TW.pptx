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語句比例 %</c:v>
                </c:pt>
              </c:strCache>
            </c:strRef>
          </c:tx>
          <c:spPr>
            <a:solidFill>
              <a:srgbClr val="1B5E7A"/>
            </a:solidFill>
          </c:spPr>
          <c:cat>
            <c:strRef>
              <c:f>Sheet1!$A$2:$A$4</c:f>
              <c:strCache>
                <c:ptCount val="3"/>
                <c:pt idx="0">
                  <c:v>中文單語</c:v>
                </c:pt>
                <c:pt idx="1">
                  <c:v>英文單語</c:v>
                </c:pt>
                <c:pt idx="2">
                  <c:v>中英混用</c:v>
                </c:pt>
              </c:strCache>
            </c:strRef>
          </c:cat>
          <c:val>
            <c:numRef>
              <c:f>Sheet1!$B$2:$B$4</c:f>
              <c:numCache>
                <c:formatCode>General</c:formatCode>
                <c:ptCount val="3"/>
                <c:pt idx="0">
                  <c:v>49.85</c:v>
                </c:pt>
                <c:pt idx="1">
                  <c:v>23.14</c:v>
                </c:pt>
                <c:pt idx="2">
                  <c:v>27.01</c:v>
                </c:pt>
              </c:numCache>
            </c:numRef>
          </c:val>
        </c:ser>
        <c:dLbls>
          <c:numFmt formatCode="0.00" sourceLinked="0"/>
          <c:txPr>
            <a:bodyPr/>
            <a:lstStyle/>
            <a:p>
              <a:pPr>
                <a:defRPr sz="1100">
                  <a:solidFill>
                    <a:srgbClr val="1F2933"/>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200"/>
            </a:pPr>
          </a:p>
        </c:txPr>
        <c:crossAx val="-2113994440"/>
        <c:crosses val="autoZero"/>
        <c:auto val="1"/>
        <c:lblAlgn val="ctr"/>
        <c:lblOffset val="100"/>
        <c:noMultiLvlLbl val="0"/>
      </c:catAx>
      <c:valAx>
        <c:axId val="-2113994440"/>
        <c:scaling>
          <c:max val="60.0"/>
          <c:min val="0.0"/>
        </c:scaling>
        <c:delete val="0"/>
        <c:axPos val="l"/>
        <c:majorGridlines>
          <c:spPr>
            <a:ln>
              <a:solidFill>
                <a:srgbClr val="D5DBE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4B556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中文單語</c:v>
                </c:pt>
              </c:strCache>
            </c:strRef>
          </c:tx>
          <c:spPr>
            <a:solidFill>
              <a:srgbClr val="B8C4CE"/>
            </a:solidFill>
          </c:spPr>
          <c:cat>
            <c:strRef>
              <c:f>Sheet1!$A$2:$A$6</c:f>
              <c:strCache>
                <c:ptCount val="5"/>
                <c:pt idx="0">
                  <c:v>Education</c:v>
                </c:pt>
                <c:pt idx="1">
                  <c:v>Persona</c:v>
                </c:pt>
                <c:pt idx="2">
                  <c:v>Philosophy</c:v>
                </c:pt>
                <c:pt idx="3">
                  <c:v>Sports</c:v>
                </c:pt>
                <c:pt idx="4">
                  <c:v>Technology</c:v>
                </c:pt>
              </c:strCache>
            </c:strRef>
          </c:cat>
          <c:val>
            <c:numRef>
              <c:f>Sheet1!$B$2:$B$6</c:f>
              <c:numCache>
                <c:formatCode>General</c:formatCode>
                <c:ptCount val="5"/>
                <c:pt idx="0">
                  <c:v>51.57</c:v>
                </c:pt>
                <c:pt idx="1">
                  <c:v>48.76</c:v>
                </c:pt>
                <c:pt idx="2">
                  <c:v>44.91</c:v>
                </c:pt>
                <c:pt idx="3">
                  <c:v>55.22</c:v>
                </c:pt>
                <c:pt idx="4">
                  <c:v>48.06</c:v>
                </c:pt>
              </c:numCache>
            </c:numRef>
          </c:val>
        </c:ser>
        <c:ser>
          <c:idx val="1"/>
          <c:order val="1"/>
          <c:tx>
            <c:strRef>
              <c:f>Sheet1!$C$1</c:f>
              <c:strCache>
                <c:ptCount val="1"/>
                <c:pt idx="0">
                  <c:v>英文單語</c:v>
                </c:pt>
              </c:strCache>
            </c:strRef>
          </c:tx>
          <c:spPr>
            <a:solidFill>
              <a:srgbClr val="C2662D"/>
            </a:solidFill>
          </c:spPr>
          <c:cat>
            <c:strRef>
              <c:f>Sheet1!$A$2:$A$6</c:f>
              <c:strCache>
                <c:ptCount val="5"/>
                <c:pt idx="0">
                  <c:v>Education</c:v>
                </c:pt>
                <c:pt idx="1">
                  <c:v>Persona</c:v>
                </c:pt>
                <c:pt idx="2">
                  <c:v>Philosophy</c:v>
                </c:pt>
                <c:pt idx="3">
                  <c:v>Sports</c:v>
                </c:pt>
                <c:pt idx="4">
                  <c:v>Technology</c:v>
                </c:pt>
              </c:strCache>
            </c:strRef>
          </c:cat>
          <c:val>
            <c:numRef>
              <c:f>Sheet1!$C$2:$C$6</c:f>
              <c:numCache>
                <c:formatCode>General</c:formatCode>
                <c:ptCount val="5"/>
                <c:pt idx="0">
                  <c:v>23.16</c:v>
                </c:pt>
                <c:pt idx="1">
                  <c:v>25.85</c:v>
                </c:pt>
                <c:pt idx="2">
                  <c:v>26.54</c:v>
                </c:pt>
                <c:pt idx="3">
                  <c:v>21.85</c:v>
                </c:pt>
                <c:pt idx="4">
                  <c:v>20.01</c:v>
                </c:pt>
              </c:numCache>
            </c:numRef>
          </c:val>
        </c:ser>
        <c:ser>
          <c:idx val="2"/>
          <c:order val="2"/>
          <c:tx>
            <c:strRef>
              <c:f>Sheet1!$D$1</c:f>
              <c:strCache>
                <c:ptCount val="1"/>
                <c:pt idx="0">
                  <c:v>中英混用</c:v>
                </c:pt>
              </c:strCache>
            </c:strRef>
          </c:tx>
          <c:spPr>
            <a:solidFill>
              <a:srgbClr val="1B5E7A"/>
            </a:solidFill>
          </c:spPr>
          <c:cat>
            <c:strRef>
              <c:f>Sheet1!$A$2:$A$6</c:f>
              <c:strCache>
                <c:ptCount val="5"/>
                <c:pt idx="0">
                  <c:v>Education</c:v>
                </c:pt>
                <c:pt idx="1">
                  <c:v>Persona</c:v>
                </c:pt>
                <c:pt idx="2">
                  <c:v>Philosophy</c:v>
                </c:pt>
                <c:pt idx="3">
                  <c:v>Sports</c:v>
                </c:pt>
                <c:pt idx="4">
                  <c:v>Technology</c:v>
                </c:pt>
              </c:strCache>
            </c:strRef>
          </c:cat>
          <c:val>
            <c:numRef>
              <c:f>Sheet1!$D$2:$D$6</c:f>
              <c:numCache>
                <c:formatCode>General</c:formatCode>
                <c:ptCount val="5"/>
                <c:pt idx="0">
                  <c:v>25.27</c:v>
                </c:pt>
                <c:pt idx="1">
                  <c:v>25.4</c:v>
                </c:pt>
                <c:pt idx="2">
                  <c:v>28.55</c:v>
                </c:pt>
                <c:pt idx="3">
                  <c:v>22.94</c:v>
                </c:pt>
                <c:pt idx="4">
                  <c:v>31.93</c:v>
                </c:pt>
              </c:numCache>
            </c:numRef>
          </c:val>
        </c:ser>
        <c:dLbls>
          <c:numFmt formatCode="0.0" sourceLinked="0"/>
          <c:txPr>
            <a:bodyPr/>
            <a:lstStyle/>
            <a:p>
              <a:pPr>
                <a:defRPr sz="950">
                  <a:solidFill>
                    <a:srgbClr val="1F2933"/>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50"/>
            </a:pPr>
          </a:p>
        </c:txPr>
        <c:crossAx val="-2113994440"/>
        <c:crosses val="autoZero"/>
        <c:auto val="1"/>
        <c:lblAlgn val="ctr"/>
        <c:lblOffset val="100"/>
        <c:noMultiLvlLbl val="0"/>
      </c:catAx>
      <c:valAx>
        <c:axId val="-2113994440"/>
        <c:scaling>
          <c:max val="60.0"/>
          <c:min val="0.0"/>
        </c:scaling>
        <c:delete val="0"/>
        <c:axPos val="l"/>
        <c:majorGridlines>
          <c:spPr>
            <a:ln>
              <a:solidFill>
                <a:srgbClr val="D5DBE1"/>
              </a:solidFill>
            </a:ln>
          </c:spPr>
        </c:majorGridlines>
        <c:majorTickMark val="out"/>
        <c:minorTickMark val="none"/>
        <c:tickLblPos val="nextTo"/>
        <c:spPr>
          <a:ln>
            <a:noFill/>
          </a:ln>
        </c:spPr>
        <c:txPr>
          <a:bodyPr/>
          <a:lstStyle/>
          <a:p>
            <a:pPr>
              <a:defRPr sz="950"/>
            </a:pPr>
          </a:p>
        </c:txPr>
        <c:crossAx val="-2068027336"/>
        <c:crosses val="autoZero"/>
      </c:valAx>
    </c:plotArea>
    <c:legend>
      <c:legendPos val="t"/>
      <c:overlay val="0"/>
      <c:txPr>
        <a:bodyPr/>
        <a:lstStyle/>
        <a:p>
          <a:pPr>
            <a:defRPr sz="1050"/>
          </a:pPr>
        </a:p>
      </c:txPr>
    </c:legend>
    <c:dispBlanksAs val="gap"/>
  </c:chart>
  <c:txPr>
    <a:bodyPr/>
    <a:lstStyle/>
    <a:p>
      <a:pPr>
        <a:defRPr sz="1050">
          <a:solidFill>
            <a:srgbClr val="4B556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Chinese</c:v>
                </c:pt>
              </c:strCache>
            </c:strRef>
          </c:tx>
          <c:spPr>
            <a:solidFill>
              <a:srgbClr val="1B5E7A"/>
            </a:solidFill>
          </c:spPr>
          <c:cat>
            <c:strRef>
              <c:f>Sheet1!$A$2:$A$5</c:f>
              <c:strCache>
                <c:ptCount val="4"/>
                <c:pt idx="0">
                  <c:v>Val MER</c:v>
                </c:pt>
                <c:pt idx="1">
                  <c:v>Val CER</c:v>
                </c:pt>
                <c:pt idx="2">
                  <c:v>Test MER</c:v>
                </c:pt>
                <c:pt idx="3">
                  <c:v>Test CER</c:v>
                </c:pt>
              </c:strCache>
            </c:strRef>
          </c:cat>
          <c:val>
            <c:numRef>
              <c:f>Sheet1!$B$2:$B$5</c:f>
              <c:numCache>
                <c:formatCode>General</c:formatCode>
                <c:ptCount val="4"/>
                <c:pt idx="0">
                  <c:v>30.37</c:v>
                </c:pt>
                <c:pt idx="1">
                  <c:v>25.72</c:v>
                </c:pt>
                <c:pt idx="2">
                  <c:v>27.05</c:v>
                </c:pt>
                <c:pt idx="3">
                  <c:v>22.69</c:v>
                </c:pt>
              </c:numCache>
            </c:numRef>
          </c:val>
        </c:ser>
        <c:ser>
          <c:idx val="1"/>
          <c:order val="1"/>
          <c:tx>
            <c:strRef>
              <c:f>Sheet1!$C$1</c:f>
              <c:strCache>
                <c:ptCount val="1"/>
                <c:pt idx="0">
                  <c:v>English</c:v>
                </c:pt>
              </c:strCache>
            </c:strRef>
          </c:tx>
          <c:spPr>
            <a:solidFill>
              <a:srgbClr val="B8C4CE"/>
            </a:solidFill>
          </c:spPr>
          <c:cat>
            <c:strRef>
              <c:f>Sheet1!$A$2:$A$5</c:f>
              <c:strCache>
                <c:ptCount val="4"/>
                <c:pt idx="0">
                  <c:v>Val MER</c:v>
                </c:pt>
                <c:pt idx="1">
                  <c:v>Val CER</c:v>
                </c:pt>
                <c:pt idx="2">
                  <c:v>Test MER</c:v>
                </c:pt>
                <c:pt idx="3">
                  <c:v>Test CER</c:v>
                </c:pt>
              </c:strCache>
            </c:strRef>
          </c:cat>
          <c:val>
            <c:numRef>
              <c:f>Sheet1!$C$2:$C$5</c:f>
              <c:numCache>
                <c:formatCode>General</c:formatCode>
                <c:ptCount val="4"/>
                <c:pt idx="0">
                  <c:v>35.77</c:v>
                </c:pt>
                <c:pt idx="1">
                  <c:v>28.07</c:v>
                </c:pt>
                <c:pt idx="2">
                  <c:v>28.72</c:v>
                </c:pt>
                <c:pt idx="3">
                  <c:v>22.78</c:v>
                </c:pt>
              </c:numCache>
            </c:numRef>
          </c:val>
        </c:ser>
        <c:ser>
          <c:idx val="2"/>
          <c:order val="2"/>
          <c:tx>
            <c:strRef>
              <c:f>Sheet1!$D$1</c:f>
              <c:strCache>
                <c:ptCount val="1"/>
                <c:pt idx="0">
                  <c:v>Multilingual</c:v>
                </c:pt>
              </c:strCache>
            </c:strRef>
          </c:tx>
          <c:spPr>
            <a:solidFill>
              <a:srgbClr val="C2662D"/>
            </a:solidFill>
          </c:spPr>
          <c:cat>
            <c:strRef>
              <c:f>Sheet1!$A$2:$A$5</c:f>
              <c:strCache>
                <c:ptCount val="4"/>
                <c:pt idx="0">
                  <c:v>Val MER</c:v>
                </c:pt>
                <c:pt idx="1">
                  <c:v>Val CER</c:v>
                </c:pt>
                <c:pt idx="2">
                  <c:v>Test MER</c:v>
                </c:pt>
                <c:pt idx="3">
                  <c:v>Test CER</c:v>
                </c:pt>
              </c:strCache>
            </c:strRef>
          </c:cat>
          <c:val>
            <c:numRef>
              <c:f>Sheet1!$D$2:$D$5</c:f>
              <c:numCache>
                <c:formatCode>General</c:formatCode>
                <c:ptCount val="4"/>
                <c:pt idx="0">
                  <c:v>35.3</c:v>
                </c:pt>
                <c:pt idx="1">
                  <c:v>28.68</c:v>
                </c:pt>
                <c:pt idx="2">
                  <c:v>29.35</c:v>
                </c:pt>
                <c:pt idx="3">
                  <c:v>24.31</c:v>
                </c:pt>
              </c:numCache>
            </c:numRef>
          </c:val>
        </c:ser>
        <c:dLbls>
          <c:numFmt formatCode="0.00" sourceLinked="0"/>
          <c:txPr>
            <a:bodyPr/>
            <a:lstStyle/>
            <a:p>
              <a:pPr>
                <a:defRPr sz="950">
                  <a:solidFill>
                    <a:srgbClr val="1F2933"/>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5DBE1"/>
            </a:solidFill>
          </a:ln>
        </c:spPr>
        <c:txPr>
          <a:bodyPr/>
          <a:lstStyle/>
          <a:p>
            <a:pPr>
              <a:defRPr sz="1050"/>
            </a:pPr>
          </a:p>
        </c:txPr>
        <c:crossAx val="-2113994440"/>
        <c:crosses val="autoZero"/>
        <c:auto val="1"/>
        <c:lblAlgn val="ctr"/>
        <c:lblOffset val="100"/>
        <c:noMultiLvlLbl val="0"/>
      </c:catAx>
      <c:valAx>
        <c:axId val="-2113994440"/>
        <c:scaling>
          <c:max val="40.0"/>
          <c:min val="0.0"/>
        </c:scaling>
        <c:delete val="0"/>
        <c:axPos val="l"/>
        <c:majorGridlines>
          <c:spPr>
            <a:ln>
              <a:solidFill>
                <a:srgbClr val="D5DBE1"/>
              </a:solidFill>
            </a:ln>
          </c:spPr>
        </c:majorGridlines>
        <c:majorTickMark val="out"/>
        <c:minorTickMark val="none"/>
        <c:tickLblPos val="nextTo"/>
        <c:spPr>
          <a:ln>
            <a:noFill/>
          </a:ln>
        </c:spPr>
        <c:txPr>
          <a:bodyPr/>
          <a:lstStyle/>
          <a:p>
            <a:pPr>
              <a:defRPr sz="950"/>
            </a:pPr>
          </a:p>
        </c:txPr>
        <c:crossAx val="-2068027336"/>
        <c:crosses val="autoZero"/>
      </c:valAx>
    </c:plotArea>
    <c:legend>
      <c:legendPos val="t"/>
      <c:overlay val="0"/>
      <c:txPr>
        <a:bodyPr/>
        <a:lstStyle/>
        <a:p>
          <a:pPr>
            <a:defRPr sz="1050"/>
          </a:pPr>
        </a:p>
      </c:txPr>
    </c:legend>
    <c:dispBlanksAs val="gap"/>
  </c:chart>
  <c:txPr>
    <a:bodyPr/>
    <a:lstStyle/>
    <a:p>
      <a:pPr>
        <a:defRPr sz="1050">
          <a:solidFill>
            <a:srgbClr val="4B556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ASCEND 是香港科技大學 Pascale Fung 團隊在 LREC 2022 發表的資料集論文。主題是語碼轉換（code-switching），也就是說話時在中文和英文之間切換。這份報告依資料集論文的順序走：為什麼需要它、怎麼錄、怎麼標、資料長什麼樣，最後看基線結果能告訴我們什麼。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語碼轉換是口語中很常見的現象，分成兩種：句間是在句子邊界切換，例如上一句講中文、下一句整句講英文；句內則是同一句話中夾雜兩種語言。作者指出，語碼轉換主要出現在自發的對話裡，但過去很多語料是朗讀出來的，少了自然對話的特徵。右邊是作者在第二節引用的數字：單語語音辨識的錯誤率已經在 2% 到 5% 左右，中英語碼轉換卻還在 24% 到 29%。作者認為差距的主因是語料不足。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這張表整理第二節提到的中英語碼轉換語料。CECOS 是台灣說話者的朗讀語料；SEAME 是新加坡和馬來西亞的自發語料；OC16-CE80 和 ASRU 2019 規模比較大，但都是朗讀語料，而且只開放給競賽使用。作者有聯絡原作者或所屬單位確認，CECOS 和 Li 等人 2012 年的語料已經拿不到了。所以作者的結論是：在 ASCEND 之前，公開的中英語碼轉換語料只剩 SEAME。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錄音在安靜的教室裡進行，兩位說話者面對面坐，各自配戴領夾式麥克風，所以每場會有兩個音檔。第一場一律聊個人背景，讓兩人熟悉彼此；後面兩到三場從教育、哲學、運動、科技四個主題中自選，作者提供範例問題當開場，例如「你們的 course project 是什麼？」。右邊是 Table 2：13 組做了前三場，第四場只有 10 組，合計 49 場、98 個音檔。要注意前言寫的是收集了 26 場對話，和 Table 2 的 49 場不一致；這裡以 Table 2 和第 3.2 節為準。</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標註由專業公司完成。先依語意邊界或較長的停頓切成語句，再用各說話者自己的麥克風錄音取得他的語句，人工轉寫成中文字、英文或混合。右邊是作者訂的七條轉寫規則，例如數字一律寫成英文單字、縮約形不展開、不標標點、聽不清楚的地方用 [UNK]、重複的部分照實保留。之後還有一輪人工加自動的檢查，把只有 [UNK] 的語句刪掉，也把不符合錄音規格的音檔重新轉檔。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切分方式是依說話者切開，讓訓練、驗證、測試的說話者組合互不重疊，這樣才能評估模型對沒聽過的說話者表現如何。比例大約 8 比 1 比 1，同時平衡男女時數。右邊是 Table 4，總共 12,314 句、10.62 小時，測試集 1,315 句、0.92 小時。下方提醒是我從 Figure 1 讀出來的：驗證集和測試集各只有兩三位說話者，所以測試結果可能受到少數說話者口音或習慣的影響。</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左邊是 Table 5 的語言分布：中文單語約一半，6,139 句；英文單語 2,850 句；同一句中英混用的有 3,325 句，佔 27%。右邊整理說話者與語料的基本數字。說話者是 23 位大學生，母語都是中文，日常會使用英文；作者也收集了 IELTS 或 TOEFL 口說分數，換算後全部在 5.5 以上，平均 6.5。token 的算法是中文以字、英文以詞計，總共約 14.5 萬個。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7 把語言分布依主題拆開。每個主題大概有一半的語句帶語碼轉換，也就是英文單語加上中英混用。科技類的句內混用最高，接近 32%，作者的解釋是這類話題有很多大家熟悉的英文術語，例如 smart phone。哲學類加總起來的轉換比例最高，約 55%。不過哲學類只有 4 場，樣本比較少，這點解讀時要小心，是我自己的補充。Table 8 的常見英文片語多半是提問或回應用語，像 do you think、how to say、you know。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句內混用的分析。作者把語言切換的次數稱為 language turn，平均每句 2.18 次，最多一句切了 14 次。把句子拆成單語片段後，中文片段平均約 8 個字，英文片段平均約 3 個詞，而且七成的英文片段只有一兩個詞。也就是說，典型的句子是以中文為主，中間插入短的英文詞。作者認為這符合說話者母語是中文的事實，也和過去在香港、台灣、新加坡與馬來西亞的觀察一致。</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作者表示當時沒有現成的語碼轉換語音辨識模型，所以用三種不同初始化的 wav2vec 2.0：英文、中文 Common Voice 預訓練，以及 53 種語言的多語預訓練。每個模型的詞彙表都用 ASCEND 的轉寫擴充。Table 11 顯示，英文模型原本只有 33 個字元，要補 1,800 個；中文模型只要補 90 個。訓練用 CTC 損失。評估指標除了字錯率，還有混合錯誤率 MER：中文部分算字錯率、英文部分算詞錯率，比較符合中英混合的特性。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12 是基線結果。中文預訓練模型在驗證集和測試集的 MER 與 CER 都是最好的，測試集 CER 22.69%、MER 27.05%。作者的解釋有三點：ASCEND 約一半是中文；中文模型的詞彙和 ASCEND 重疊最多；多語模型的預訓練資料中，中文只佔 0.95%。我自己的觀察：測試集 CER 上中文和英文模型只差 0.09 個百分點，而測試集只有兩三位說話者，所以這個排序不一定穩定。</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總結：ASCEND 的價值是提供公開、自發對話的中英語碼轉換語料，並附上切分方式和基線。右邊的限制大多是我從論文數據推出來的，論文本身沒有專門的限制章節：規模約 10 小時、說話者都是年輕大學生、錄音環境很乾淨、評估集的說話者很少。另外前言說收集了 26 場對話，但 Table 2 和第 3.2 節都是 49 場，這裡以後者為準。如果要用在台灣的中英混用情境，例如課堂或會議語音，可以拿它當起點，但吵雜或多人的場景需要另外驗證。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92608" cy="6858000"/>
          </a:xfrm>
          <a:prstGeom prst="rect">
            <a:avLst/>
          </a:prstGeom>
          <a:solidFill>
            <a:srgbClr val="1B5E7A"/>
          </a:solidFill>
          <a:ln>
            <a:noFill/>
          </a:ln>
        </p:spPr>
        <p:txBody>
          <a:bodyPr rtlCol="0" anchor="ctr"/>
          <a:lstStyle/>
          <a:p>
            <a:pPr algn="ctr"/>
          </a:p>
        </p:txBody>
      </p:sp>
      <p:sp>
        <p:nvSpPr>
          <p:cNvPr id="3" name="TextBox 2"/>
          <p:cNvSpPr txBox="1"/>
          <p:nvPr/>
        </p:nvSpPr>
        <p:spPr>
          <a:xfrm>
            <a:off x="914400" y="1143000"/>
            <a:ext cx="10332720" cy="365760"/>
          </a:xfrm>
          <a:prstGeom prst="rect">
            <a:avLst/>
          </a:prstGeom>
          <a:noFill/>
        </p:spPr>
        <p:txBody>
          <a:bodyPr wrap="square" anchor="t" lIns="36576" rIns="36576" tIns="27432" bIns="27432"/>
          <a:lstStyle/>
          <a:p>
            <a:pPr algn="l">
              <a:lnSpc>
                <a:spcPct val="115000"/>
              </a:lnSpc>
              <a:spcAft>
                <a:spcPts val="600"/>
              </a:spcAft>
            </a:pPr>
            <a:r>
              <a:rPr sz="1300" b="1" i="0">
                <a:solidFill>
                  <a:srgbClr val="1B5E7A"/>
                </a:solidFill>
                <a:latin typeface="Calibri"/>
                <a:ea typeface="Microsoft JhengHei"/>
                <a:cs typeface="Microsoft JhengHei"/>
              </a:rPr>
              <a:t>Speech · 語碼轉換資料集</a:t>
            </a:r>
          </a:p>
        </p:txBody>
      </p:sp>
      <p:sp>
        <p:nvSpPr>
          <p:cNvPr id="4" name="TextBox 3"/>
          <p:cNvSpPr txBox="1"/>
          <p:nvPr/>
        </p:nvSpPr>
        <p:spPr>
          <a:xfrm>
            <a:off x="914400" y="1600200"/>
            <a:ext cx="10332720" cy="1737360"/>
          </a:xfrm>
          <a:prstGeom prst="rect">
            <a:avLst/>
          </a:prstGeom>
          <a:noFill/>
        </p:spPr>
        <p:txBody>
          <a:bodyPr wrap="square" anchor="t" lIns="36576" rIns="36576" tIns="27432" bIns="27432"/>
          <a:lstStyle/>
          <a:p>
            <a:pPr algn="l">
              <a:lnSpc>
                <a:spcPct val="105000"/>
              </a:lnSpc>
              <a:spcAft>
                <a:spcPts val="600"/>
              </a:spcAft>
            </a:pPr>
            <a:r>
              <a:rPr sz="3600" b="1" i="0">
                <a:solidFill>
                  <a:srgbClr val="1F2933"/>
                </a:solidFill>
                <a:latin typeface="Calibri"/>
                <a:ea typeface="Microsoft JhengHei"/>
                <a:cs typeface="Microsoft JhengHei"/>
              </a:rPr>
              <a:t>ASCEND：自發性中英語碼轉換</a:t>
            </a:r>
          </a:p>
          <a:p>
            <a:pPr algn="l">
              <a:lnSpc>
                <a:spcPct val="105000"/>
              </a:lnSpc>
              <a:spcAft>
                <a:spcPts val="600"/>
              </a:spcAft>
            </a:pPr>
            <a:r>
              <a:rPr sz="3600" b="1" i="0">
                <a:solidFill>
                  <a:srgbClr val="1F2933"/>
                </a:solidFill>
                <a:latin typeface="Calibri"/>
                <a:ea typeface="Microsoft JhengHei"/>
                <a:cs typeface="Microsoft JhengHei"/>
              </a:rPr>
              <a:t>對話語音資料集</a:t>
            </a:r>
          </a:p>
        </p:txBody>
      </p:sp>
      <p:sp>
        <p:nvSpPr>
          <p:cNvPr id="5" name="TextBox 4"/>
          <p:cNvSpPr txBox="1"/>
          <p:nvPr/>
        </p:nvSpPr>
        <p:spPr>
          <a:xfrm>
            <a:off x="914400" y="3429000"/>
            <a:ext cx="10332720" cy="914400"/>
          </a:xfrm>
          <a:prstGeom prst="rect">
            <a:avLst/>
          </a:prstGeom>
          <a:noFill/>
        </p:spPr>
        <p:txBody>
          <a:bodyPr wrap="square" anchor="t" lIns="36576" rIns="36576" tIns="27432" bIns="27432"/>
          <a:lstStyle/>
          <a:p>
            <a:pPr algn="l">
              <a:lnSpc>
                <a:spcPct val="115000"/>
              </a:lnSpc>
              <a:spcAft>
                <a:spcPts val="600"/>
              </a:spcAft>
            </a:pPr>
            <a:r>
              <a:rPr sz="1800" b="0" i="0">
                <a:solidFill>
                  <a:srgbClr val="4B5563"/>
                </a:solidFill>
                <a:latin typeface="Calibri"/>
                <a:ea typeface="Microsoft JhengHei"/>
                <a:cs typeface="Microsoft JhengHei"/>
              </a:rPr>
              <a:t>23 位雙語說話者、49 場一對一對話、10.62 小時、約 12.3K 句，並提供 wav2vec 2.0 基線</a:t>
            </a:r>
          </a:p>
        </p:txBody>
      </p:sp>
      <p:cxnSp>
        <p:nvCxnSpPr>
          <p:cNvPr id="6" name="Connector 5"/>
          <p:cNvCxnSpPr/>
          <p:nvPr/>
        </p:nvCxnSpPr>
        <p:spPr>
          <a:xfrm>
            <a:off x="914400" y="4617720"/>
            <a:ext cx="10332720" cy="0"/>
          </a:xfrm>
          <a:prstGeom prst="line">
            <a:avLst/>
          </a:prstGeom>
          <a:ln w="12700">
            <a:solidFill>
              <a:srgbClr val="D5DBE1"/>
            </a:solidFill>
          </a:ln>
        </p:spPr>
      </p:cxnSp>
      <p:sp>
        <p:nvSpPr>
          <p:cNvPr id="7" name="TextBox 6"/>
          <p:cNvSpPr txBox="1"/>
          <p:nvPr/>
        </p:nvSpPr>
        <p:spPr>
          <a:xfrm>
            <a:off x="914400" y="4754880"/>
            <a:ext cx="10332720" cy="640080"/>
          </a:xfrm>
          <a:prstGeom prst="rect">
            <a:avLst/>
          </a:prstGeom>
          <a:noFill/>
        </p:spPr>
        <p:txBody>
          <a:bodyPr wrap="square" anchor="t" lIns="36576" rIns="36576" tIns="27432" bIns="27432"/>
          <a:lstStyle/>
          <a:p>
            <a:pPr algn="l">
              <a:lnSpc>
                <a:spcPct val="115000"/>
              </a:lnSpc>
              <a:spcAft>
                <a:spcPts val="600"/>
              </a:spcAft>
            </a:pPr>
            <a:r>
              <a:rPr sz="1200" b="0" i="0">
                <a:solidFill>
                  <a:srgbClr val="4B5563"/>
                </a:solidFill>
                <a:latin typeface="Calibri"/>
                <a:ea typeface="Microsoft JhengHei"/>
                <a:cs typeface="Microsoft JhengHei"/>
              </a:rPr>
              <a:t>Holy Lovenia, Samuel Cahyawijaya, Genta Indra Winata, Peng Xu, Xu Yan, Zihan Liu, Rita Frieske, Tiezheng Yu, Wenliang Dai, Elham J. Barezi, Qifeng Chen, Xiaojuan Ma, Bertram E. Shi, Pascale Fung｜香港科技大學</a:t>
            </a:r>
          </a:p>
        </p:txBody>
      </p:sp>
      <p:sp>
        <p:nvSpPr>
          <p:cNvPr id="8" name="TextBox 7"/>
          <p:cNvSpPr txBox="1"/>
          <p:nvPr/>
        </p:nvSpPr>
        <p:spPr>
          <a:xfrm>
            <a:off x="914400" y="5440680"/>
            <a:ext cx="10332720" cy="365760"/>
          </a:xfrm>
          <a:prstGeom prst="rect">
            <a:avLst/>
          </a:prstGeom>
          <a:noFill/>
        </p:spPr>
        <p:txBody>
          <a:bodyPr wrap="square" anchor="t" lIns="36576" rIns="36576" tIns="27432" bIns="27432"/>
          <a:lstStyle/>
          <a:p>
            <a:pPr algn="l">
              <a:lnSpc>
                <a:spcPct val="115000"/>
              </a:lnSpc>
              <a:spcAft>
                <a:spcPts val="600"/>
              </a:spcAft>
            </a:pPr>
            <a:r>
              <a:rPr sz="1200" b="1" i="0">
                <a:solidFill>
                  <a:srgbClr val="1B5E7A"/>
                </a:solidFill>
                <a:latin typeface="Calibri"/>
                <a:ea typeface="Microsoft JhengHei"/>
                <a:cs typeface="Microsoft JhengHei"/>
              </a:rPr>
              <a:t>LREC 2022, pp. 7259–7268 · 程式：github.com/HLTCHKUST/ASCEND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研究背景</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語碼轉換多發生在自發對話，但既有語料多為朗讀語音</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TextBox 4"/>
          <p:cNvSpPr txBox="1"/>
          <p:nvPr/>
        </p:nvSpPr>
        <p:spPr>
          <a:xfrm>
            <a:off x="548640" y="1508760"/>
            <a:ext cx="5852160" cy="411480"/>
          </a:xfrm>
          <a:prstGeom prst="rect">
            <a:avLst/>
          </a:prstGeom>
          <a:noFill/>
        </p:spPr>
        <p:txBody>
          <a:bodyPr wrap="square" anchor="t" lIns="36576" rIns="36576" tIns="27432" bIns="27432"/>
          <a:lstStyle/>
          <a:p>
            <a:pPr algn="l">
              <a:lnSpc>
                <a:spcPct val="115000"/>
              </a:lnSpc>
              <a:spcAft>
                <a:spcPts val="600"/>
              </a:spcAft>
            </a:pPr>
            <a:r>
              <a:rPr sz="1700" b="1" i="0">
                <a:solidFill>
                  <a:srgbClr val="1B5E7A"/>
                </a:solidFill>
                <a:latin typeface="Calibri"/>
                <a:ea typeface="Microsoft JhengHei"/>
                <a:cs typeface="Microsoft JhengHei"/>
              </a:rPr>
              <a:t>兩種語碼轉換</a:t>
            </a:r>
          </a:p>
        </p:txBody>
      </p:sp>
      <p:sp>
        <p:nvSpPr>
          <p:cNvPr id="6" name="TextBox 5"/>
          <p:cNvSpPr txBox="1"/>
          <p:nvPr/>
        </p:nvSpPr>
        <p:spPr>
          <a:xfrm>
            <a:off x="548640" y="2057400"/>
            <a:ext cx="5852160" cy="3108960"/>
          </a:xfrm>
          <a:prstGeom prst="rect">
            <a:avLst/>
          </a:prstGeom>
          <a:noFill/>
        </p:spPr>
        <p:txBody>
          <a:bodyPr wrap="square" anchor="t" lIns="36576" rIns="36576" tIns="27432" bIns="27432"/>
          <a:lstStyle/>
          <a:p>
            <a:pPr algn="l">
              <a:lnSpc>
                <a:spcPct val="125000"/>
              </a:lnSpc>
              <a:spcAft>
                <a:spcPts val="1400"/>
              </a:spcAft>
            </a:pPr>
            <a:r>
              <a:rPr sz="1500" b="1" i="0">
                <a:solidFill>
                  <a:srgbClr val="1B5E7A"/>
                </a:solidFill>
                <a:latin typeface="Calibri"/>
                <a:ea typeface="Microsoft JhengHei"/>
                <a:cs typeface="Microsoft JhengHei"/>
              </a:rPr>
              <a:t>• </a:t>
            </a:r>
            <a:r>
              <a:rPr sz="1500" b="1" i="0">
                <a:solidFill>
                  <a:srgbClr val="1F2933"/>
                </a:solidFill>
                <a:latin typeface="Calibri"/>
                <a:ea typeface="Microsoft JhengHei"/>
                <a:cs typeface="Microsoft JhengHei"/>
              </a:rPr>
              <a:t>句間（inter-sentential）</a:t>
            </a:r>
            <a:r>
              <a:rPr sz="1500" b="0" i="0">
                <a:solidFill>
                  <a:srgbClr val="1F2933"/>
                </a:solidFill>
                <a:latin typeface="Calibri"/>
                <a:ea typeface="Microsoft JhengHei"/>
                <a:cs typeface="Microsoft JhengHei"/>
              </a:rPr>
              <a:t>：在語句邊界切換，每一句仍是單一語言</a:t>
            </a:r>
          </a:p>
          <a:p>
            <a:pPr algn="l">
              <a:lnSpc>
                <a:spcPct val="125000"/>
              </a:lnSpc>
              <a:spcAft>
                <a:spcPts val="1400"/>
              </a:spcAft>
            </a:pPr>
            <a:r>
              <a:rPr sz="1500" b="1" i="0">
                <a:solidFill>
                  <a:srgbClr val="1B5E7A"/>
                </a:solidFill>
                <a:latin typeface="Calibri"/>
                <a:ea typeface="Microsoft JhengHei"/>
                <a:cs typeface="Microsoft JhengHei"/>
              </a:rPr>
              <a:t>• </a:t>
            </a:r>
            <a:r>
              <a:rPr sz="1500" b="1" i="0">
                <a:solidFill>
                  <a:srgbClr val="1F2933"/>
                </a:solidFill>
                <a:latin typeface="Calibri"/>
                <a:ea typeface="Microsoft JhengHei"/>
                <a:cs typeface="Microsoft JhengHei"/>
              </a:rPr>
              <a:t>句內（intra-sentential）</a:t>
            </a:r>
            <a:r>
              <a:rPr sz="1500" b="0" i="0">
                <a:solidFill>
                  <a:srgbClr val="1F2933"/>
                </a:solidFill>
                <a:latin typeface="Calibri"/>
                <a:ea typeface="Microsoft JhengHei"/>
                <a:cs typeface="Microsoft JhengHei"/>
              </a:rPr>
              <a:t>：同一句中至少切換一次，例如「你們的 course project 是什麼？」</a:t>
            </a:r>
          </a:p>
          <a:p>
            <a:pPr algn="l">
              <a:lnSpc>
                <a:spcPct val="125000"/>
              </a:lnSpc>
              <a:spcAft>
                <a:spcPts val="14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朗讀語音可控性高，但缺少自發對話的停頓、重複與自然切換</a:t>
            </a:r>
          </a:p>
        </p:txBody>
      </p:sp>
      <p:sp>
        <p:nvSpPr>
          <p:cNvPr id="7" name="Rectangle 6"/>
          <p:cNvSpPr/>
          <p:nvPr/>
        </p:nvSpPr>
        <p:spPr>
          <a:xfrm>
            <a:off x="6949440" y="1508760"/>
            <a:ext cx="4693615" cy="3840480"/>
          </a:xfrm>
          <a:prstGeom prst="rect">
            <a:avLst/>
          </a:prstGeom>
          <a:solidFill>
            <a:srgbClr val="F2F5F7"/>
          </a:solidFill>
          <a:ln>
            <a:noFill/>
          </a:ln>
        </p:spPr>
        <p:txBody>
          <a:bodyPr rtlCol="0" anchor="ctr"/>
          <a:lstStyle/>
          <a:p>
            <a:pPr algn="ctr"/>
          </a:p>
        </p:txBody>
      </p:sp>
      <p:sp>
        <p:nvSpPr>
          <p:cNvPr id="8" name="TextBox 7"/>
          <p:cNvSpPr txBox="1"/>
          <p:nvPr/>
        </p:nvSpPr>
        <p:spPr>
          <a:xfrm>
            <a:off x="7223759" y="1691640"/>
            <a:ext cx="4144975" cy="411480"/>
          </a:xfrm>
          <a:prstGeom prst="rect">
            <a:avLst/>
          </a:prstGeom>
          <a:noFill/>
        </p:spPr>
        <p:txBody>
          <a:bodyPr wrap="square" anchor="t" lIns="36576" rIns="36576" tIns="27432" bIns="27432"/>
          <a:lstStyle/>
          <a:p>
            <a:pPr algn="l">
              <a:lnSpc>
                <a:spcPct val="115000"/>
              </a:lnSpc>
              <a:spcAft>
                <a:spcPts val="600"/>
              </a:spcAft>
            </a:pPr>
            <a:r>
              <a:rPr sz="1600" b="1" i="0">
                <a:solidFill>
                  <a:srgbClr val="C2662D"/>
                </a:solidFill>
                <a:latin typeface="Calibri"/>
                <a:ea typeface="Microsoft JhengHei"/>
                <a:cs typeface="Microsoft JhengHei"/>
              </a:rPr>
              <a:t>語碼轉換 ASR 明顯落後單語</a:t>
            </a:r>
          </a:p>
        </p:txBody>
      </p:sp>
      <p:graphicFrame>
        <p:nvGraphicFramePr>
          <p:cNvPr id="9" name="Table 8"/>
          <p:cNvGraphicFramePr>
            <a:graphicFrameLocks noGrp="1"/>
          </p:cNvGraphicFramePr>
          <p:nvPr/>
        </p:nvGraphicFramePr>
        <p:xfrm>
          <a:off x="7223759" y="2286000"/>
          <a:ext cx="4144975" cy="1828800"/>
        </p:xfrm>
        <a:graphic>
          <a:graphicData uri="http://schemas.openxmlformats.org/drawingml/2006/table">
            <a:tbl>
              <a:tblPr firstRow="1" bandRow="1">
                <a:tableStyleId>{5940675A-B579-460E-94D1-54222C63F5DA}</a:tableStyleId>
              </a:tblPr>
              <a:tblGrid>
                <a:gridCol w="2103120"/>
                <a:gridCol w="2041855"/>
              </a:tblGrid>
              <a:tr h="457200">
                <a:tc>
                  <a:txBody>
                    <a:bodyPr wrap="square"/>
                    <a:lstStyle/>
                    <a:p>
                      <a:pPr algn="l"/>
                      <a:r>
                        <a:rPr sz="1300" b="1" i="0">
                          <a:solidFill>
                            <a:srgbClr val="FFFFFF"/>
                          </a:solidFill>
                          <a:latin typeface="Calibri"/>
                          <a:ea typeface="Microsoft JhengHei"/>
                          <a:cs typeface="Microsoft JhengHei"/>
                        </a:rPr>
                        <a:t>任務</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作者引用的錯誤率</a:t>
                      </a:r>
                    </a:p>
                  </a:txBody>
                  <a:tcPr marL="54864" marR="54864" marT="18288" marB="18288" anchor="ctr">
                    <a:solidFill>
                      <a:srgbClr val="1B5E7A"/>
                    </a:solidFill>
                  </a:tcPr>
                </a:tc>
              </a:tr>
              <a:tr h="457200">
                <a:tc>
                  <a:txBody>
                    <a:bodyPr wrap="square"/>
                    <a:lstStyle/>
                    <a:p>
                      <a:pPr algn="l"/>
                      <a:r>
                        <a:rPr sz="1300" b="0" i="0">
                          <a:solidFill>
                            <a:srgbClr val="1F2933"/>
                          </a:solidFill>
                          <a:latin typeface="Calibri"/>
                          <a:ea typeface="Microsoft JhengHei"/>
                          <a:cs typeface="Microsoft JhengHei"/>
                        </a:rPr>
                        <a:t>英文 LibriSpeech</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WER 約 2%</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中文 AISHELL-1</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CER 約 5%</a:t>
                      </a:r>
                    </a:p>
                  </a:txBody>
                  <a:tcPr marL="54864" marR="54864" marT="18288" marB="18288" anchor="ctr">
                    <a:solidFill>
                      <a:srgbClr val="F2F5F7"/>
                    </a:solidFill>
                  </a:tcPr>
                </a:tc>
              </a:tr>
              <a:tr h="457200">
                <a:tc>
                  <a:txBody>
                    <a:bodyPr wrap="square"/>
                    <a:lstStyle/>
                    <a:p>
                      <a:pPr algn="l"/>
                      <a:r>
                        <a:rPr sz="1300" b="0" i="0">
                          <a:solidFill>
                            <a:srgbClr val="1F2933"/>
                          </a:solidFill>
                          <a:latin typeface="Calibri"/>
                          <a:ea typeface="Microsoft JhengHei"/>
                          <a:cs typeface="Microsoft JhengHei"/>
                        </a:rPr>
                        <a:t>中英語碼轉換</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MER 24.2%、CER 29.30%</a:t>
                      </a:r>
                    </a:p>
                  </a:txBody>
                  <a:tcPr marL="54864" marR="54864" marT="18288" marB="18288" anchor="ctr">
                    <a:solidFill>
                      <a:srgbClr val="FFFFFF"/>
                    </a:solidFill>
                  </a:tcPr>
                </a:tc>
              </a:tr>
            </a:tbl>
          </a:graphicData>
        </a:graphic>
      </p:graphicFrame>
      <p:sp>
        <p:nvSpPr>
          <p:cNvPr id="10" name="TextBox 9"/>
          <p:cNvSpPr txBox="1"/>
          <p:nvPr/>
        </p:nvSpPr>
        <p:spPr>
          <a:xfrm>
            <a:off x="7223759" y="4297680"/>
            <a:ext cx="4144975" cy="914400"/>
          </a:xfrm>
          <a:prstGeom prst="rect">
            <a:avLst/>
          </a:prstGeom>
          <a:noFill/>
        </p:spPr>
        <p:txBody>
          <a:bodyPr wrap="square" anchor="t" lIns="36576" rIns="36576" tIns="27432" bIns="27432"/>
          <a:lstStyle/>
          <a:p>
            <a:pPr algn="l">
              <a:lnSpc>
                <a:spcPct val="115000"/>
              </a:lnSpc>
              <a:spcAft>
                <a:spcPts val="600"/>
              </a:spcAft>
            </a:pPr>
            <a:r>
              <a:rPr sz="1400" b="0" i="0">
                <a:solidFill>
                  <a:srgbClr val="1F2933"/>
                </a:solidFill>
                <a:latin typeface="Calibri"/>
                <a:ea typeface="Microsoft JhengHei"/>
                <a:cs typeface="Microsoft JhengHei"/>
              </a:rPr>
              <a:t>作者認為差距主要來自語碼轉換語料不足</a:t>
            </a:r>
          </a:p>
        </p:txBody>
      </p:sp>
      <p:cxnSp>
        <p:nvCxnSpPr>
          <p:cNvPr id="11" name="Connector 10"/>
          <p:cNvCxnSpPr/>
          <p:nvPr/>
        </p:nvCxnSpPr>
        <p:spPr>
          <a:xfrm>
            <a:off x="548640" y="5870448"/>
            <a:ext cx="0" cy="384048"/>
          </a:xfrm>
          <a:prstGeom prst="line">
            <a:avLst/>
          </a:prstGeom>
          <a:ln w="38100">
            <a:solidFill>
              <a:srgbClr val="1B5E7A"/>
            </a:solidFill>
          </a:ln>
        </p:spPr>
      </p:cxnSp>
      <p:sp>
        <p:nvSpPr>
          <p:cNvPr id="12" name="TextBox 11"/>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作者的定位：收集自發、多輪對話的中英語碼轉換語音，並公開釋出。</a:t>
            </a:r>
          </a:p>
        </p:txBody>
      </p:sp>
      <p:sp>
        <p:nvSpPr>
          <p:cNvPr id="13" name="TextBox 12"/>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§1–2</a:t>
            </a:r>
          </a:p>
        </p:txBody>
      </p:sp>
      <p:sp>
        <p:nvSpPr>
          <p:cNvPr id="14" name="TextBox 13"/>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既有語料比較</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公開可取得的中英語碼轉換語料，在此之前只剩 SEAME</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11094415" cy="3017520"/>
        </p:xfrm>
        <a:graphic>
          <a:graphicData uri="http://schemas.openxmlformats.org/drawingml/2006/table">
            <a:tbl>
              <a:tblPr firstRow="1" bandRow="1">
                <a:tableStyleId>{5940675A-B579-460E-94D1-54222C63F5DA}</a:tableStyleId>
              </a:tblPr>
              <a:tblGrid>
                <a:gridCol w="1828800"/>
                <a:gridCol w="3657600"/>
                <a:gridCol w="2926080"/>
                <a:gridCol w="2681935"/>
              </a:tblGrid>
              <a:tr h="502920">
                <a:tc>
                  <a:txBody>
                    <a:bodyPr wrap="square"/>
                    <a:lstStyle/>
                    <a:p>
                      <a:pPr algn="l"/>
                      <a:r>
                        <a:rPr sz="1300" b="1" i="0">
                          <a:solidFill>
                            <a:srgbClr val="FFFFFF"/>
                          </a:solidFill>
                          <a:latin typeface="Calibri"/>
                          <a:ea typeface="Microsoft JhengHei"/>
                          <a:cs typeface="Microsoft JhengHei"/>
                        </a:rPr>
                        <a:t>語料</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規模與類型</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來源</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目前可取得性（作者查證）</a:t>
                      </a:r>
                    </a:p>
                  </a:txBody>
                  <a:tcPr marL="54864" marR="54864" marT="18288" marB="18288" anchor="ctr">
                    <a:solidFill>
                      <a:srgbClr val="1B5E7A"/>
                    </a:solidFill>
                  </a:tcPr>
                </a:tc>
              </a:tr>
              <a:tr h="502920">
                <a:tc>
                  <a:txBody>
                    <a:bodyPr wrap="square"/>
                    <a:lstStyle/>
                    <a:p>
                      <a:pPr algn="l"/>
                      <a:r>
                        <a:rPr sz="1300" b="0" i="0">
                          <a:solidFill>
                            <a:srgbClr val="1F2933"/>
                          </a:solidFill>
                          <a:latin typeface="Calibri"/>
                          <a:ea typeface="Microsoft JhengHei"/>
                          <a:cs typeface="Microsoft JhengHei"/>
                        </a:rPr>
                        <a:t>CECOS</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12.1 小時，朗讀</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台灣說話者</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已無法公開取得</a:t>
                      </a:r>
                    </a:p>
                  </a:txBody>
                  <a:tcPr marL="54864" marR="54864" marT="18288" marB="18288" anchor="ctr">
                    <a:solidFill>
                      <a:srgbClr val="FFFFFF"/>
                    </a:solidFill>
                  </a:tcPr>
                </a:tc>
              </a:tr>
              <a:tr h="502920">
                <a:tc>
                  <a:txBody>
                    <a:bodyPr wrap="square"/>
                    <a:lstStyle/>
                    <a:p>
                      <a:pPr algn="l"/>
                      <a:r>
                        <a:rPr sz="1300" b="0" i="0">
                          <a:solidFill>
                            <a:srgbClr val="1F2933"/>
                          </a:solidFill>
                          <a:latin typeface="Calibri"/>
                          <a:ea typeface="Microsoft JhengHei"/>
                          <a:cs typeface="Microsoft JhengHei"/>
                        </a:rPr>
                        <a:t>SEAME</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30 小時，自發、句內為主</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新加坡、馬來西亞，92 人</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可取得</a:t>
                      </a:r>
                    </a:p>
                  </a:txBody>
                  <a:tcPr marL="54864" marR="54864" marT="18288" marB="18288" anchor="ctr">
                    <a:solidFill>
                      <a:srgbClr val="F2F5F7"/>
                    </a:solidFill>
                  </a:tcPr>
                </a:tc>
              </a:tr>
              <a:tr h="502920">
                <a:tc>
                  <a:txBody>
                    <a:bodyPr wrap="square"/>
                    <a:lstStyle/>
                    <a:p>
                      <a:pPr algn="l"/>
                      <a:r>
                        <a:rPr sz="1300" b="0" i="0">
                          <a:solidFill>
                            <a:srgbClr val="1F2933"/>
                          </a:solidFill>
                          <a:latin typeface="Calibri"/>
                          <a:ea typeface="Microsoft JhengHei"/>
                          <a:cs typeface="Microsoft JhengHei"/>
                        </a:rPr>
                        <a:t>OC16-CE80</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80 小時，朗讀</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中國大陸，逾 1,400 人</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僅供競賽使用</a:t>
                      </a:r>
                    </a:p>
                  </a:txBody>
                  <a:tcPr marL="54864" marR="54864" marT="18288" marB="18288" anchor="ctr">
                    <a:solidFill>
                      <a:srgbClr val="FFFFFF"/>
                    </a:solidFill>
                  </a:tcPr>
                </a:tc>
              </a:tr>
              <a:tr h="502920">
                <a:tc>
                  <a:txBody>
                    <a:bodyPr wrap="square"/>
                    <a:lstStyle/>
                    <a:p>
                      <a:pPr algn="l"/>
                      <a:r>
                        <a:rPr sz="1300" b="0" i="0">
                          <a:solidFill>
                            <a:srgbClr val="1F2933"/>
                          </a:solidFill>
                          <a:latin typeface="Calibri"/>
                          <a:ea typeface="Microsoft JhengHei"/>
                          <a:cs typeface="Microsoft JhengHei"/>
                        </a:rPr>
                        <a:t>ASRU 2019</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740 小時（語碼轉換朗讀 240 + 中文 500）</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中國大陸 30 省</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僅供競賽使用</a:t>
                      </a:r>
                    </a:p>
                  </a:txBody>
                  <a:tcPr marL="54864" marR="54864" marT="18288" marB="18288" anchor="ctr">
                    <a:solidFill>
                      <a:srgbClr val="F2F5F7"/>
                    </a:solidFill>
                  </a:tcPr>
                </a:tc>
              </a:tr>
              <a:tr h="502920">
                <a:tc>
                  <a:txBody>
                    <a:bodyPr wrap="square"/>
                    <a:lstStyle/>
                    <a:p>
                      <a:pPr algn="l"/>
                      <a:r>
                        <a:rPr sz="1300" b="0" i="0">
                          <a:solidFill>
                            <a:srgbClr val="1F2933"/>
                          </a:solidFill>
                          <a:latin typeface="Calibri"/>
                          <a:ea typeface="Microsoft JhengHei"/>
                          <a:cs typeface="Microsoft JhengHei"/>
                        </a:rPr>
                        <a:t>Li et al. (2012)</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36 小時，自發</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中、英、粵為主</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只轉寫一部分；已無法公開取得</a:t>
                      </a:r>
                    </a:p>
                  </a:txBody>
                  <a:tcPr marL="54864" marR="54864" marT="18288" marB="18288" anchor="ctr">
                    <a:solidFill>
                      <a:srgbClr val="FFFFFF"/>
                    </a:solidFill>
                  </a:tcPr>
                </a:tc>
              </a:tr>
            </a:tbl>
          </a:graphicData>
        </a:graphic>
      </p:graphicFrame>
      <p:cxnSp>
        <p:nvCxnSpPr>
          <p:cNvPr id="6" name="Connector 5"/>
          <p:cNvCxnSpPr/>
          <p:nvPr/>
        </p:nvCxnSpPr>
        <p:spPr>
          <a:xfrm>
            <a:off x="548640" y="5870448"/>
            <a:ext cx="0" cy="384048"/>
          </a:xfrm>
          <a:prstGeom prst="line">
            <a:avLst/>
          </a:prstGeom>
          <a:ln w="38100">
            <a:solidFill>
              <a:srgbClr val="1B5E7A"/>
            </a:solidFill>
          </a:ln>
        </p:spPr>
      </p:cxnSp>
      <p:sp>
        <p:nvSpPr>
          <p:cNvPr id="7" name="TextBox 6"/>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ASCEND 收集於香港，說話者來自台灣、香港與中國大陸多個省份。</a:t>
            </a:r>
          </a:p>
        </p:txBody>
      </p:sp>
      <p:sp>
        <p:nvSpPr>
          <p:cNvPr id="8" name="TextBox 7"/>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§2</a:t>
            </a:r>
          </a:p>
        </p:txBody>
      </p:sp>
      <p:sp>
        <p:nvSpPr>
          <p:cNvPr id="9" name="TextBox 8"/>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錄音設定與流程</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錄音設計：兩人一組的自由對話，首場自我介紹，之後自選主題</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TextBox 4"/>
          <p:cNvSpPr txBox="1"/>
          <p:nvPr/>
        </p:nvSpPr>
        <p:spPr>
          <a:xfrm>
            <a:off x="548640" y="1463040"/>
            <a:ext cx="5669280" cy="411480"/>
          </a:xfrm>
          <a:prstGeom prst="rect">
            <a:avLst/>
          </a:prstGeom>
          <a:noFill/>
        </p:spPr>
        <p:txBody>
          <a:bodyPr wrap="square" anchor="t" lIns="36576" rIns="36576" tIns="27432" bIns="27432"/>
          <a:lstStyle/>
          <a:p>
            <a:pPr algn="l">
              <a:lnSpc>
                <a:spcPct val="115000"/>
              </a:lnSpc>
              <a:spcAft>
                <a:spcPts val="600"/>
              </a:spcAft>
            </a:pPr>
            <a:r>
              <a:rPr sz="1700" b="1" i="0">
                <a:solidFill>
                  <a:srgbClr val="1B5E7A"/>
                </a:solidFill>
                <a:latin typeface="Calibri"/>
                <a:ea typeface="Microsoft JhengHei"/>
                <a:cs typeface="Microsoft JhengHei"/>
              </a:rPr>
              <a:t>錄音設定</a:t>
            </a:r>
          </a:p>
        </p:txBody>
      </p:sp>
      <p:sp>
        <p:nvSpPr>
          <p:cNvPr id="6" name="TextBox 5"/>
          <p:cNvSpPr txBox="1"/>
          <p:nvPr/>
        </p:nvSpPr>
        <p:spPr>
          <a:xfrm>
            <a:off x="548640" y="1965960"/>
            <a:ext cx="5669280" cy="2194560"/>
          </a:xfrm>
          <a:prstGeom prst="rect">
            <a:avLst/>
          </a:prstGeom>
          <a:noFill/>
        </p:spPr>
        <p:txBody>
          <a:bodyPr wrap="square" anchor="t" lIns="36576" rIns="36576" tIns="27432" bIns="27432"/>
          <a:lstStyle/>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安靜教室，兩人相距約 1 公尺對坐</a:t>
            </a:r>
          </a:p>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每人配戴 RODE SmartLav+ 領夾式麥克風</a:t>
            </a:r>
          </a:p>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單聲道、16 kHz、16-bit PCM，存為 WAV</a:t>
            </a:r>
          </a:p>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每次約 1 小時：5 分鐘說明 + 40–55 分鐘對話與休息</a:t>
            </a:r>
          </a:p>
        </p:txBody>
      </p:sp>
      <p:sp>
        <p:nvSpPr>
          <p:cNvPr id="7" name="TextBox 6"/>
          <p:cNvSpPr txBox="1"/>
          <p:nvPr/>
        </p:nvSpPr>
        <p:spPr>
          <a:xfrm>
            <a:off x="548640" y="4206240"/>
            <a:ext cx="5669280" cy="1188720"/>
          </a:xfrm>
          <a:prstGeom prst="rect">
            <a:avLst/>
          </a:prstGeom>
          <a:noFill/>
        </p:spPr>
        <p:txBody>
          <a:bodyPr wrap="square" anchor="t" lIns="36576" rIns="36576" tIns="27432" bIns="27432"/>
          <a:lstStyle/>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4B5563"/>
                </a:solidFill>
                <a:latin typeface="Calibri"/>
                <a:ea typeface="Microsoft JhengHei"/>
                <a:cs typeface="Microsoft JhengHei"/>
              </a:rPr>
              <a:t>鼓勵隨時使用語碼轉換，只要說話者覺得自然</a:t>
            </a:r>
          </a:p>
          <a:p>
            <a:pPr algn="l">
              <a:lnSpc>
                <a:spcPct val="120000"/>
              </a:lnSpc>
              <a:spcAft>
                <a:spcPts val="800"/>
              </a:spcAft>
            </a:pPr>
            <a:r>
              <a:rPr sz="1450" b="1" i="0">
                <a:solidFill>
                  <a:srgbClr val="1B5E7A"/>
                </a:solidFill>
                <a:latin typeface="Calibri"/>
                <a:ea typeface="Microsoft JhengHei"/>
                <a:cs typeface="Microsoft JhengHei"/>
              </a:rPr>
              <a:t>• </a:t>
            </a:r>
            <a:r>
              <a:rPr sz="1450" b="0" i="0">
                <a:solidFill>
                  <a:srgbClr val="4B5563"/>
                </a:solidFill>
                <a:latin typeface="Calibri"/>
                <a:ea typeface="Microsoft JhengHei"/>
                <a:cs typeface="Microsoft JhengHei"/>
              </a:rPr>
              <a:t>不要求緊扣主題，停頓、咳嗽、笑聲都保留</a:t>
            </a:r>
          </a:p>
        </p:txBody>
      </p:sp>
      <p:graphicFrame>
        <p:nvGraphicFramePr>
          <p:cNvPr id="8" name="Table 7"/>
          <p:cNvGraphicFramePr>
            <a:graphicFrameLocks noGrp="1"/>
          </p:cNvGraphicFramePr>
          <p:nvPr/>
        </p:nvGraphicFramePr>
        <p:xfrm>
          <a:off x="6766559" y="1463040"/>
          <a:ext cx="4876495" cy="2286000"/>
        </p:xfrm>
        <a:graphic>
          <a:graphicData uri="http://schemas.openxmlformats.org/drawingml/2006/table">
            <a:tbl>
              <a:tblPr firstRow="1" bandRow="1">
                <a:tableStyleId>{5940675A-B579-460E-94D1-54222C63F5DA}</a:tableStyleId>
              </a:tblPr>
              <a:tblGrid>
                <a:gridCol w="731520"/>
                <a:gridCol w="2377440"/>
                <a:gridCol w="1188720"/>
                <a:gridCol w="578815"/>
              </a:tblGrid>
              <a:tr h="457200">
                <a:tc>
                  <a:txBody>
                    <a:bodyPr wrap="square"/>
                    <a:lstStyle/>
                    <a:p>
                      <a:pPr algn="l"/>
                      <a:r>
                        <a:rPr sz="1300" b="1" i="0">
                          <a:solidFill>
                            <a:srgbClr val="FFFFFF"/>
                          </a:solidFill>
                          <a:latin typeface="Calibri"/>
                          <a:ea typeface="Microsoft JhengHei"/>
                          <a:cs typeface="Microsoft JhengHei"/>
                        </a:rPr>
                        <a:t>場次</a:t>
                      </a:r>
                    </a:p>
                  </a:txBody>
                  <a:tcPr marL="54864" marR="54864" marT="18288" marB="18288" anchor="ctr">
                    <a:solidFill>
                      <a:srgbClr val="1B5E7A"/>
                    </a:solidFill>
                  </a:tcPr>
                </a:tc>
                <a:tc>
                  <a:txBody>
                    <a:bodyPr wrap="square"/>
                    <a:lstStyle/>
                    <a:p>
                      <a:pPr algn="l"/>
                      <a:r>
                        <a:rPr sz="1300" b="1" i="0">
                          <a:solidFill>
                            <a:srgbClr val="FFFFFF"/>
                          </a:solidFill>
                          <a:latin typeface="Calibri"/>
                          <a:ea typeface="Microsoft JhengHei"/>
                          <a:cs typeface="Microsoft JhengHei"/>
                        </a:rPr>
                        <a:t>主題</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平均長度</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組數</a:t>
                      </a:r>
                    </a:p>
                  </a:txBody>
                  <a:tcPr marL="54864" marR="54864" marT="18288" marB="18288" anchor="ctr">
                    <a:solidFill>
                      <a:srgbClr val="1B5E7A"/>
                    </a:solidFill>
                  </a:tcPr>
                </a:tc>
              </a:tr>
              <a:tr h="457200">
                <a:tc>
                  <a:txBody>
                    <a:bodyPr wrap="square"/>
                    <a:lstStyle/>
                    <a:p>
                      <a:pPr algn="l"/>
                      <a:r>
                        <a:rPr sz="1300" b="0" i="0">
                          <a:solidFill>
                            <a:srgbClr val="1F2933"/>
                          </a:solidFill>
                          <a:latin typeface="Calibri"/>
                          <a:ea typeface="Microsoft JhengHei"/>
                          <a:cs typeface="Microsoft JhengHei"/>
                        </a:rPr>
                        <a:t>1</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個人背景（persona）</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11.07 分</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13 組</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2</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自選：教育、哲學、</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13.78 分</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13 組</a:t>
                      </a:r>
                    </a:p>
                  </a:txBody>
                  <a:tcPr marL="54864" marR="54864" marT="18288" marB="18288" anchor="ctr">
                    <a:solidFill>
                      <a:srgbClr val="F2F5F7"/>
                    </a:solidFill>
                  </a:tcPr>
                </a:tc>
              </a:tr>
              <a:tr h="457200">
                <a:tc>
                  <a:txBody>
                    <a:bodyPr wrap="square"/>
                    <a:lstStyle/>
                    <a:p>
                      <a:pPr algn="l"/>
                      <a:r>
                        <a:rPr sz="1300" b="0" i="0">
                          <a:solidFill>
                            <a:srgbClr val="1F2933"/>
                          </a:solidFill>
                          <a:latin typeface="Calibri"/>
                          <a:ea typeface="Microsoft JhengHei"/>
                          <a:cs typeface="Microsoft JhengHei"/>
                        </a:rPr>
                        <a:t>3</a:t>
                      </a:r>
                    </a:p>
                  </a:txBody>
                  <a:tcPr marL="54864" marR="54864" marT="18288" marB="18288" anchor="ctr">
                    <a:solidFill>
                      <a:srgbClr val="FFFFFF"/>
                    </a:solidFill>
                  </a:tcPr>
                </a:tc>
                <a:tc>
                  <a:txBody>
                    <a:bodyPr wrap="square"/>
                    <a:lstStyle/>
                    <a:p>
                      <a:pPr algn="l"/>
                      <a:r>
                        <a:rPr sz="1300" b="0" i="0">
                          <a:solidFill>
                            <a:srgbClr val="1F2933"/>
                          </a:solidFill>
                          <a:latin typeface="Calibri"/>
                          <a:ea typeface="Microsoft JhengHei"/>
                          <a:cs typeface="Microsoft JhengHei"/>
                        </a:rPr>
                        <a:t>運動、科技</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14.45 分</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13 組</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4</a:t>
                      </a:r>
                    </a:p>
                  </a:txBody>
                  <a:tcPr marL="54864" marR="54864" marT="18288" marB="18288" anchor="ctr">
                    <a:solidFill>
                      <a:srgbClr val="F2F5F7"/>
                    </a:solidFill>
                  </a:tcPr>
                </a:tc>
                <a:tc>
                  <a:txBody>
                    <a:bodyPr wrap="square"/>
                    <a:lstStyle/>
                    <a:p>
                      <a:pPr algn="l"/>
                      <a:r>
                        <a:rPr sz="1300" b="0" i="0">
                          <a:solidFill>
                            <a:srgbClr val="1F2933"/>
                          </a:solidFill>
                          <a:latin typeface="Calibri"/>
                          <a:ea typeface="Microsoft JhengHei"/>
                          <a:cs typeface="Microsoft JhengHei"/>
                        </a:rPr>
                        <a:t>（同上）</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13.85 分</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10 組</a:t>
                      </a:r>
                    </a:p>
                  </a:txBody>
                  <a:tcPr marL="54864" marR="54864" marT="18288" marB="18288" anchor="ctr">
                    <a:solidFill>
                      <a:srgbClr val="F2F5F7"/>
                    </a:solidFill>
                  </a:tcPr>
                </a:tc>
              </a:tr>
            </a:tbl>
          </a:graphicData>
        </a:graphic>
      </p:graphicFrame>
      <p:sp>
        <p:nvSpPr>
          <p:cNvPr id="9" name="TextBox 8"/>
          <p:cNvSpPr txBox="1"/>
          <p:nvPr/>
        </p:nvSpPr>
        <p:spPr>
          <a:xfrm>
            <a:off x="6766559" y="3931920"/>
            <a:ext cx="4876495" cy="1371600"/>
          </a:xfrm>
          <a:prstGeom prst="rect">
            <a:avLst/>
          </a:prstGeom>
          <a:noFill/>
        </p:spPr>
        <p:txBody>
          <a:bodyPr wrap="square" anchor="t" lIns="36576" rIns="36576" tIns="27432" bIns="27432"/>
          <a:lstStyle/>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13 組說話者，共 49 場、98 個原始音檔（每場每人一個）</a:t>
            </a:r>
          </a:p>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3 位說話者參加兩次，搭配不同對象</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§3、Table 1–2</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標註規範</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標註：外包切句與轉寫，再以 7 條規則統一格式</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TextBox 4"/>
          <p:cNvSpPr txBox="1"/>
          <p:nvPr/>
        </p:nvSpPr>
        <p:spPr>
          <a:xfrm>
            <a:off x="548640" y="1463040"/>
            <a:ext cx="4572000" cy="411480"/>
          </a:xfrm>
          <a:prstGeom prst="rect">
            <a:avLst/>
          </a:prstGeom>
          <a:noFill/>
        </p:spPr>
        <p:txBody>
          <a:bodyPr wrap="square" anchor="t" lIns="36576" rIns="36576" tIns="27432" bIns="27432"/>
          <a:lstStyle/>
          <a:p>
            <a:pPr algn="l">
              <a:lnSpc>
                <a:spcPct val="115000"/>
              </a:lnSpc>
              <a:spcAft>
                <a:spcPts val="600"/>
              </a:spcAft>
            </a:pPr>
            <a:r>
              <a:rPr sz="1700" b="1" i="0">
                <a:solidFill>
                  <a:srgbClr val="1B5E7A"/>
                </a:solidFill>
                <a:latin typeface="Calibri"/>
                <a:ea typeface="Microsoft JhengHei"/>
                <a:cs typeface="Microsoft JhengHei"/>
              </a:rPr>
              <a:t>流程</a:t>
            </a:r>
          </a:p>
        </p:txBody>
      </p:sp>
      <p:sp>
        <p:nvSpPr>
          <p:cNvPr id="6" name="TextBox 5"/>
          <p:cNvSpPr txBox="1"/>
          <p:nvPr/>
        </p:nvSpPr>
        <p:spPr>
          <a:xfrm>
            <a:off x="548640" y="1965960"/>
            <a:ext cx="4572000" cy="3291840"/>
          </a:xfrm>
          <a:prstGeom prst="rect">
            <a:avLst/>
          </a:prstGeom>
          <a:noFill/>
        </p:spPr>
        <p:txBody>
          <a:bodyPr wrap="square" anchor="t" lIns="36576" rIns="36576" tIns="27432" bIns="27432"/>
          <a:lstStyle/>
          <a:p>
            <a:pPr algn="l">
              <a:lnSpc>
                <a:spcPct val="120000"/>
              </a:lnSpc>
              <a:spcAft>
                <a:spcPts val="10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專業標註公司依語意邊界或長停頓切句</a:t>
            </a:r>
          </a:p>
          <a:p>
            <a:pPr algn="l">
              <a:lnSpc>
                <a:spcPct val="120000"/>
              </a:lnSpc>
              <a:spcAft>
                <a:spcPts val="10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依各說話者自己的麥克風取得其語句</a:t>
            </a:r>
          </a:p>
          <a:p>
            <a:pPr algn="l">
              <a:lnSpc>
                <a:spcPct val="120000"/>
              </a:lnSpc>
              <a:spcAft>
                <a:spcPts val="10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以中文字、英文字母或兩者混合人工轉寫</a:t>
            </a:r>
          </a:p>
          <a:p>
            <a:pPr algn="l">
              <a:lnSpc>
                <a:spcPct val="120000"/>
              </a:lnSpc>
              <a:spcAft>
                <a:spcPts val="1000"/>
              </a:spcAft>
            </a:pPr>
            <a:r>
              <a:rPr sz="1450" b="1" i="0">
                <a:solidFill>
                  <a:srgbClr val="1B5E7A"/>
                </a:solidFill>
                <a:latin typeface="Calibri"/>
                <a:ea typeface="Microsoft JhengHei"/>
                <a:cs typeface="Microsoft JhengHei"/>
              </a:rPr>
              <a:t>• </a:t>
            </a:r>
            <a:r>
              <a:rPr sz="1450" b="0" i="0">
                <a:solidFill>
                  <a:srgbClr val="1F2933"/>
                </a:solidFill>
                <a:latin typeface="Calibri"/>
                <a:ea typeface="Microsoft JhengHei"/>
                <a:cs typeface="Microsoft JhengHei"/>
              </a:rPr>
              <a:t>二次檢查：人工 + 自動，移除多餘符號；刪除只含 [UNK] 的語句</a:t>
            </a:r>
          </a:p>
        </p:txBody>
      </p:sp>
      <p:graphicFrame>
        <p:nvGraphicFramePr>
          <p:cNvPr id="7" name="Table 6"/>
          <p:cNvGraphicFramePr>
            <a:graphicFrameLocks noGrp="1"/>
          </p:cNvGraphicFramePr>
          <p:nvPr/>
        </p:nvGraphicFramePr>
        <p:xfrm>
          <a:off x="5577840" y="1463040"/>
          <a:ext cx="6065215" cy="3657600"/>
        </p:xfrm>
        <a:graphic>
          <a:graphicData uri="http://schemas.openxmlformats.org/drawingml/2006/table">
            <a:tbl>
              <a:tblPr firstRow="1" bandRow="1">
                <a:tableStyleId>{5940675A-B579-460E-94D1-54222C63F5DA}</a:tableStyleId>
              </a:tblPr>
              <a:tblGrid>
                <a:gridCol w="457200"/>
                <a:gridCol w="2743200"/>
                <a:gridCol w="2864815"/>
              </a:tblGrid>
              <a:tr h="457200">
                <a:tc>
                  <a:txBody>
                    <a:bodyPr wrap="square"/>
                    <a:lstStyle/>
                    <a:p>
                      <a:pPr algn="l"/>
                      <a:r>
                        <a:rPr sz="1250" b="1" i="0">
                          <a:solidFill>
                            <a:srgbClr val="FFFFFF"/>
                          </a:solidFill>
                          <a:latin typeface="Calibri"/>
                          <a:ea typeface="Microsoft JhengHei"/>
                          <a:cs typeface="Microsoft JhengHei"/>
                        </a:rPr>
                        <a:t>#</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規則</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例子</a:t>
                      </a:r>
                    </a:p>
                  </a:txBody>
                  <a:tcPr marL="54864" marR="54864" marT="18288" marB="18288" anchor="ctr">
                    <a:solidFill>
                      <a:srgbClr val="1B5E7A"/>
                    </a:solidFill>
                  </a:tcPr>
                </a:tc>
              </a:tr>
              <a:tr h="457200">
                <a:tc>
                  <a:txBody>
                    <a:bodyPr wrap="square"/>
                    <a:lstStyle/>
                    <a:p>
                      <a:pPr algn="l"/>
                      <a:r>
                        <a:rPr sz="1250" b="0" i="0">
                          <a:solidFill>
                            <a:srgbClr val="1F2933"/>
                          </a:solidFill>
                          <a:latin typeface="Calibri"/>
                          <a:ea typeface="Microsoft JhengHei"/>
                          <a:cs typeface="Microsoft JhengHei"/>
                        </a:rPr>
                        <a:t>1</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數字寫成文字</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24 hours → twenty four hours</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2</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縮寫用大寫或空格分開</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
                      </a:r>
                    </a:p>
                  </a:txBody>
                  <a:tcPr marL="54864" marR="54864" marT="18288" marB="18288" anchor="ctr">
                    <a:solidFill>
                      <a:srgbClr val="F2F5F7"/>
                    </a:solidFill>
                  </a:tcPr>
                </a:tc>
              </a:tr>
              <a:tr h="457200">
                <a:tc>
                  <a:txBody>
                    <a:bodyPr wrap="square"/>
                    <a:lstStyle/>
                    <a:p>
                      <a:pPr algn="l"/>
                      <a:r>
                        <a:rPr sz="1250" b="0" i="0">
                          <a:solidFill>
                            <a:srgbClr val="1F2933"/>
                          </a:solidFill>
                          <a:latin typeface="Calibri"/>
                          <a:ea typeface="Microsoft JhengHei"/>
                          <a:cs typeface="Microsoft JhengHei"/>
                        </a:rPr>
                        <a:t>3</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縮約形保留原樣</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can't、won't 不展開</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4</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填充詞統一</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ah、oh、um</a:t>
                      </a:r>
                    </a:p>
                  </a:txBody>
                  <a:tcPr marL="54864" marR="54864" marT="18288" marB="18288" anchor="ctr">
                    <a:solidFill>
                      <a:srgbClr val="F2F5F7"/>
                    </a:solidFill>
                  </a:tcPr>
                </a:tc>
              </a:tr>
              <a:tr h="457200">
                <a:tc>
                  <a:txBody>
                    <a:bodyPr wrap="square"/>
                    <a:lstStyle/>
                    <a:p>
                      <a:pPr algn="l"/>
                      <a:r>
                        <a:rPr sz="1250" b="0" i="0">
                          <a:solidFill>
                            <a:srgbClr val="1F2933"/>
                          </a:solidFill>
                          <a:latin typeface="Calibri"/>
                          <a:ea typeface="Microsoft JhengHei"/>
                          <a:cs typeface="Microsoft JhengHei"/>
                        </a:rPr>
                        <a:t>5</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不加標點</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句號、逗號、問號、驚嘆號皆不標</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6</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聽不清楚</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以 [UNK] 標記</a:t>
                      </a:r>
                    </a:p>
                  </a:txBody>
                  <a:tcPr marL="54864" marR="54864" marT="18288" marB="18288" anchor="ctr">
                    <a:solidFill>
                      <a:srgbClr val="F2F5F7"/>
                    </a:solidFill>
                  </a:tcPr>
                </a:tc>
              </a:tr>
              <a:tr h="457200">
                <a:tc>
                  <a:txBody>
                    <a:bodyPr wrap="square"/>
                    <a:lstStyle/>
                    <a:p>
                      <a:pPr algn="l"/>
                      <a:r>
                        <a:rPr sz="1250" b="0" i="0">
                          <a:solidFill>
                            <a:srgbClr val="1F2933"/>
                          </a:solidFill>
                          <a:latin typeface="Calibri"/>
                          <a:ea typeface="Microsoft JhengHei"/>
                          <a:cs typeface="Microsoft JhengHei"/>
                        </a:rPr>
                        <a:t>7</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重複照實保留</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I don't I don't think …</a:t>
                      </a:r>
                    </a:p>
                  </a:txBody>
                  <a:tcPr marL="54864" marR="54864" marT="18288" marB="18288" anchor="ctr">
                    <a:solidFill>
                      <a:srgbClr val="FFFFFF"/>
                    </a:solidFill>
                  </a:tcPr>
                </a:tc>
              </a:tr>
            </a:tbl>
          </a:graphicData>
        </a:graphic>
      </p:graphicFrame>
      <p:sp>
        <p:nvSpPr>
          <p:cNvPr id="8" name="TextBox 7"/>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§4</a:t>
            </a:r>
          </a:p>
        </p:txBody>
      </p:sp>
      <p:sp>
        <p:nvSpPr>
          <p:cNvPr id="9" name="TextBox 8"/>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資料切分</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依說話者切分 8:1:1，三個子集的說話者互不重疊</a:t>
            </a:r>
          </a:p>
        </p:txBody>
      </p:sp>
      <p:cxnSp>
        <p:nvCxnSpPr>
          <p:cNvPr id="4" name="Connector 3"/>
          <p:cNvCxnSpPr/>
          <p:nvPr/>
        </p:nvCxnSpPr>
        <p:spPr>
          <a:xfrm>
            <a:off x="548640" y="1216152"/>
            <a:ext cx="11094415" cy="0"/>
          </a:xfrm>
          <a:prstGeom prst="line">
            <a:avLst/>
          </a:prstGeom>
          <a:ln w="9525">
            <a:solidFill>
              <a:srgbClr val="D5DBE1"/>
            </a:solidFill>
          </a:ln>
        </p:spPr>
      </p:cxnSp>
      <p:pic>
        <p:nvPicPr>
          <p:cNvPr id="5" name="Picture 4" descr="fig1_speaker_split.png"/>
          <p:cNvPicPr>
            <a:picLocks noChangeAspect="1"/>
          </p:cNvPicPr>
          <p:nvPr/>
        </p:nvPicPr>
        <p:blipFill>
          <a:blip r:embed="rId2"/>
          <a:stretch>
            <a:fillRect/>
          </a:stretch>
        </p:blipFill>
        <p:spPr>
          <a:xfrm>
            <a:off x="548640" y="1371600"/>
            <a:ext cx="4206240" cy="2764100"/>
          </a:xfrm>
          <a:prstGeom prst="rect">
            <a:avLst/>
          </a:prstGeom>
        </p:spPr>
      </p:pic>
      <p:sp>
        <p:nvSpPr>
          <p:cNvPr id="6" name="TextBox 5"/>
          <p:cNvSpPr txBox="1"/>
          <p:nvPr/>
        </p:nvSpPr>
        <p:spPr>
          <a:xfrm>
            <a:off x="548640" y="4163132"/>
            <a:ext cx="4206240"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Figure 1：各子集的說話者人數（男／女）。</a:t>
            </a:r>
          </a:p>
        </p:txBody>
      </p:sp>
      <p:graphicFrame>
        <p:nvGraphicFramePr>
          <p:cNvPr id="7" name="Table 6"/>
          <p:cNvGraphicFramePr>
            <a:graphicFrameLocks noGrp="1"/>
          </p:cNvGraphicFramePr>
          <p:nvPr/>
        </p:nvGraphicFramePr>
        <p:xfrm>
          <a:off x="5120640" y="1463040"/>
          <a:ext cx="6522412" cy="2286000"/>
        </p:xfrm>
        <a:graphic>
          <a:graphicData uri="http://schemas.openxmlformats.org/drawingml/2006/table">
            <a:tbl>
              <a:tblPr firstRow="1" bandRow="1">
                <a:tableStyleId>{5940675A-B579-460E-94D1-54222C63F5DA}</a:tableStyleId>
              </a:tblPr>
              <a:tblGrid>
                <a:gridCol w="1737360"/>
                <a:gridCol w="1196263"/>
                <a:gridCol w="1196263"/>
                <a:gridCol w="1196263"/>
                <a:gridCol w="1196263"/>
              </a:tblGrid>
              <a:tr h="457200">
                <a:tc>
                  <a:txBody>
                    <a:bodyPr wrap="square"/>
                    <a:lstStyle/>
                    <a:p>
                      <a:pPr algn="l"/>
                      <a:r>
                        <a:rPr sz="1300" b="1" i="0">
                          <a:solidFill>
                            <a:srgbClr val="FFFFFF"/>
                          </a:solidFill>
                          <a:latin typeface="Calibri"/>
                          <a:ea typeface="Microsoft JhengHei"/>
                          <a:cs typeface="Microsoft JhengHei"/>
                        </a:rPr>
                        <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Train</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Val</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Test</a:t>
                      </a:r>
                    </a:p>
                  </a:txBody>
                  <a:tcPr marL="54864" marR="54864" marT="18288" marB="18288" anchor="ctr">
                    <a:solidFill>
                      <a:srgbClr val="1B5E7A"/>
                    </a:solidFill>
                  </a:tcPr>
                </a:tc>
                <a:tc>
                  <a:txBody>
                    <a:bodyPr wrap="square"/>
                    <a:lstStyle/>
                    <a:p>
                      <a:pPr algn="ctr"/>
                      <a:r>
                        <a:rPr sz="1300" b="1" i="0">
                          <a:solidFill>
                            <a:srgbClr val="FFFFFF"/>
                          </a:solidFill>
                          <a:latin typeface="Calibri"/>
                          <a:ea typeface="Microsoft JhengHei"/>
                          <a:cs typeface="Microsoft JhengHei"/>
                        </a:rPr>
                        <a:t>合計</a:t>
                      </a:r>
                    </a:p>
                  </a:txBody>
                  <a:tcPr marL="54864" marR="54864" marT="18288" marB="18288" anchor="ctr">
                    <a:solidFill>
                      <a:srgbClr val="1B5E7A"/>
                    </a:solidFill>
                  </a:tcPr>
                </a:tc>
              </a:tr>
              <a:tr h="457200">
                <a:tc>
                  <a:txBody>
                    <a:bodyPr wrap="square"/>
                    <a:lstStyle/>
                    <a:p>
                      <a:pPr algn="l"/>
                      <a:r>
                        <a:rPr sz="1300" b="0" i="0">
                          <a:solidFill>
                            <a:srgbClr val="1F2933"/>
                          </a:solidFill>
                          <a:latin typeface="Calibri"/>
                          <a:ea typeface="Microsoft JhengHei"/>
                          <a:cs typeface="Microsoft JhengHei"/>
                        </a:rPr>
                        <a:t>語句數</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9,869</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1,129</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1,315</a:t>
                      </a:r>
                    </a:p>
                  </a:txBody>
                  <a:tcPr marL="54864" marR="54864" marT="18288" marB="18288" anchor="ctr">
                    <a:solidFill>
                      <a:srgbClr val="FFFFFF"/>
                    </a:solidFill>
                  </a:tcPr>
                </a:tc>
                <a:tc>
                  <a:txBody>
                    <a:bodyPr wrap="square"/>
                    <a:lstStyle/>
                    <a:p>
                      <a:pPr algn="ctr"/>
                      <a:r>
                        <a:rPr sz="1300" b="1" i="0">
                          <a:solidFill>
                            <a:srgbClr val="1F2933"/>
                          </a:solidFill>
                          <a:latin typeface="Calibri"/>
                          <a:ea typeface="Microsoft JhengHei"/>
                          <a:cs typeface="Microsoft JhengHei"/>
                        </a:rPr>
                        <a:t>12,314</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時數（小時）</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8.78</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0.92</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0.92</a:t>
                      </a:r>
                    </a:p>
                  </a:txBody>
                  <a:tcPr marL="54864" marR="54864" marT="18288" marB="18288" anchor="ctr">
                    <a:solidFill>
                      <a:srgbClr val="F2F5F7"/>
                    </a:solidFill>
                  </a:tcPr>
                </a:tc>
                <a:tc>
                  <a:txBody>
                    <a:bodyPr wrap="square"/>
                    <a:lstStyle/>
                    <a:p>
                      <a:pPr algn="ctr"/>
                      <a:r>
                        <a:rPr sz="1300" b="1" i="0">
                          <a:solidFill>
                            <a:srgbClr val="1F2933"/>
                          </a:solidFill>
                          <a:latin typeface="Calibri"/>
                          <a:ea typeface="Microsoft JhengHei"/>
                          <a:cs typeface="Microsoft JhengHei"/>
                        </a:rPr>
                        <a:t>10.62</a:t>
                      </a:r>
                    </a:p>
                  </a:txBody>
                  <a:tcPr marL="54864" marR="54864" marT="18288" marB="18288" anchor="ctr">
                    <a:solidFill>
                      <a:srgbClr val="F2F5F7"/>
                    </a:solidFill>
                  </a:tcPr>
                </a:tc>
              </a:tr>
              <a:tr h="457200">
                <a:tc>
                  <a:txBody>
                    <a:bodyPr wrap="square"/>
                    <a:lstStyle/>
                    <a:p>
                      <a:pPr algn="l"/>
                      <a:r>
                        <a:rPr sz="1300" b="0" i="0">
                          <a:solidFill>
                            <a:srgbClr val="1F2933"/>
                          </a:solidFill>
                          <a:latin typeface="Calibri"/>
                          <a:ea typeface="Microsoft JhengHei"/>
                          <a:cs typeface="Microsoft JhengHei"/>
                        </a:rPr>
                        <a:t>女性時數</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4.04</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0.46</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0.48</a:t>
                      </a:r>
                    </a:p>
                  </a:txBody>
                  <a:tcPr marL="54864" marR="54864" marT="18288" marB="18288" anchor="ctr">
                    <a:solidFill>
                      <a:srgbClr val="FFFFFF"/>
                    </a:solidFill>
                  </a:tcPr>
                </a:tc>
                <a:tc>
                  <a:txBody>
                    <a:bodyPr wrap="square"/>
                    <a:lstStyle/>
                    <a:p>
                      <a:pPr algn="ctr"/>
                      <a:r>
                        <a:rPr sz="1300" b="0" i="0">
                          <a:solidFill>
                            <a:srgbClr val="1F2933"/>
                          </a:solidFill>
                          <a:latin typeface="Calibri"/>
                          <a:ea typeface="Microsoft JhengHei"/>
                          <a:cs typeface="Microsoft JhengHei"/>
                        </a:rPr>
                        <a:t>4.98</a:t>
                      </a:r>
                    </a:p>
                  </a:txBody>
                  <a:tcPr marL="54864" marR="54864" marT="18288" marB="18288" anchor="ctr">
                    <a:solidFill>
                      <a:srgbClr val="FFFFFF"/>
                    </a:solidFill>
                  </a:tcPr>
                </a:tc>
              </a:tr>
              <a:tr h="457200">
                <a:tc>
                  <a:txBody>
                    <a:bodyPr wrap="square"/>
                    <a:lstStyle/>
                    <a:p>
                      <a:pPr algn="l"/>
                      <a:r>
                        <a:rPr sz="1300" b="0" i="0">
                          <a:solidFill>
                            <a:srgbClr val="1F2933"/>
                          </a:solidFill>
                          <a:latin typeface="Calibri"/>
                          <a:ea typeface="Microsoft JhengHei"/>
                          <a:cs typeface="Microsoft JhengHei"/>
                        </a:rPr>
                        <a:t>男性時數</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4.74</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0.46</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0.44</a:t>
                      </a:r>
                    </a:p>
                  </a:txBody>
                  <a:tcPr marL="54864" marR="54864" marT="18288" marB="18288" anchor="ctr">
                    <a:solidFill>
                      <a:srgbClr val="F2F5F7"/>
                    </a:solidFill>
                  </a:tcPr>
                </a:tc>
                <a:tc>
                  <a:txBody>
                    <a:bodyPr wrap="square"/>
                    <a:lstStyle/>
                    <a:p>
                      <a:pPr algn="ctr"/>
                      <a:r>
                        <a:rPr sz="1300" b="0" i="0">
                          <a:solidFill>
                            <a:srgbClr val="1F2933"/>
                          </a:solidFill>
                          <a:latin typeface="Calibri"/>
                          <a:ea typeface="Microsoft JhengHei"/>
                          <a:cs typeface="Microsoft JhengHei"/>
                        </a:rPr>
                        <a:t>5.63</a:t>
                      </a:r>
                    </a:p>
                  </a:txBody>
                  <a:tcPr marL="54864" marR="54864" marT="18288" marB="18288" anchor="ctr">
                    <a:solidFill>
                      <a:srgbClr val="F2F5F7"/>
                    </a:solidFill>
                  </a:tcPr>
                </a:tc>
              </a:tr>
            </a:tbl>
          </a:graphicData>
        </a:graphic>
      </p:graphicFrame>
      <p:sp>
        <p:nvSpPr>
          <p:cNvPr id="8" name="TextBox 7"/>
          <p:cNvSpPr txBox="1"/>
          <p:nvPr/>
        </p:nvSpPr>
        <p:spPr>
          <a:xfrm>
            <a:off x="5120640" y="4023360"/>
            <a:ext cx="6522415" cy="1280160"/>
          </a:xfrm>
          <a:prstGeom prst="rect">
            <a:avLst/>
          </a:prstGeom>
          <a:noFill/>
        </p:spPr>
        <p:txBody>
          <a:bodyPr wrap="square" anchor="t" lIns="36576" rIns="36576" tIns="27432" bIns="27432"/>
          <a:lstStyle/>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子集之間的說話者組合不重疊，可評估不依賴說話者（speaker-independent）的辨識</a:t>
            </a:r>
          </a:p>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每個子集內盡量平衡男女時數</a:t>
            </a:r>
          </a:p>
        </p:txBody>
      </p:sp>
      <p:cxnSp>
        <p:nvCxnSpPr>
          <p:cNvPr id="9" name="Connector 8"/>
          <p:cNvCxnSpPr/>
          <p:nvPr/>
        </p:nvCxnSpPr>
        <p:spPr>
          <a:xfrm>
            <a:off x="548640" y="5870448"/>
            <a:ext cx="0" cy="384048"/>
          </a:xfrm>
          <a:prstGeom prst="line">
            <a:avLst/>
          </a:prstGeom>
          <a:ln w="38100">
            <a:solidFill>
              <a:srgbClr val="1B5E7A"/>
            </a:solidFill>
          </a:ln>
        </p:spPr>
      </p:cxnSp>
      <p:sp>
        <p:nvSpPr>
          <p:cNvPr id="10" name="TextBox 9"/>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依 Figure 1，驗證與測試集各只有 2–3 位說話者，評估結果受個人差異影響可能較大。</a:t>
            </a:r>
          </a:p>
        </p:txBody>
      </p:sp>
      <p:sp>
        <p:nvSpPr>
          <p:cNvPr id="11" name="TextBox 10"/>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§4、Figure 1、Table 4</a:t>
            </a:r>
          </a:p>
        </p:txBody>
      </p:sp>
      <p:sp>
        <p:nvSpPr>
          <p:cNvPr id="12" name="TextBox 11"/>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語料概況</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約一半是中文單語，句內混用佔 27%，英文單語佔 23%</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Chart 4"/>
          <p:cNvGraphicFramePr>
            <a:graphicFrameLocks noGrp="1"/>
          </p:cNvGraphicFramePr>
          <p:nvPr/>
        </p:nvGraphicFramePr>
        <p:xfrm>
          <a:off x="548640" y="1371600"/>
          <a:ext cx="6035040" cy="4023360"/>
        </p:xfrm>
        <a:graphic>
          <a:graphicData uri="http://schemas.openxmlformats.org/drawingml/2006/chart">
            <c:chart xmlns:c="http://schemas.openxmlformats.org/drawingml/2006/chart" r:id="rId2"/>
          </a:graphicData>
        </a:graphic>
      </p:graphicFrame>
      <p:graphicFrame>
        <p:nvGraphicFramePr>
          <p:cNvPr id="6" name="Table 5"/>
          <p:cNvGraphicFramePr>
            <a:graphicFrameLocks noGrp="1"/>
          </p:cNvGraphicFramePr>
          <p:nvPr/>
        </p:nvGraphicFramePr>
        <p:xfrm>
          <a:off x="6949440" y="1463040"/>
          <a:ext cx="4693615" cy="3200400"/>
        </p:xfrm>
        <a:graphic>
          <a:graphicData uri="http://schemas.openxmlformats.org/drawingml/2006/table">
            <a:tbl>
              <a:tblPr firstRow="1" bandRow="1">
                <a:tableStyleId>{5940675A-B579-460E-94D1-54222C63F5DA}</a:tableStyleId>
              </a:tblPr>
              <a:tblGrid>
                <a:gridCol w="1463040"/>
                <a:gridCol w="3230575"/>
              </a:tblGrid>
              <a:tr h="457200">
                <a:tc>
                  <a:txBody>
                    <a:bodyPr wrap="square"/>
                    <a:lstStyle/>
                    <a:p>
                      <a:pPr algn="l"/>
                      <a:r>
                        <a:rPr sz="1250" b="1" i="0">
                          <a:solidFill>
                            <a:srgbClr val="FFFFFF"/>
                          </a:solidFill>
                          <a:latin typeface="Calibri"/>
                          <a:ea typeface="Microsoft JhengHei"/>
                          <a:cs typeface="Microsoft JhengHei"/>
                        </a:rPr>
                        <a:t>項目</a:t>
                      </a:r>
                    </a:p>
                  </a:txBody>
                  <a:tcPr marL="54864" marR="54864" marT="18288" marB="18288" anchor="ctr">
                    <a:solidFill>
                      <a:srgbClr val="1B5E7A"/>
                    </a:solidFill>
                  </a:tcPr>
                </a:tc>
                <a:tc>
                  <a:txBody>
                    <a:bodyPr wrap="square"/>
                    <a:lstStyle/>
                    <a:p>
                      <a:pPr algn="l"/>
                      <a:r>
                        <a:rPr sz="1250" b="1" i="0">
                          <a:solidFill>
                            <a:srgbClr val="FFFFFF"/>
                          </a:solidFill>
                          <a:latin typeface="Calibri"/>
                          <a:ea typeface="Microsoft JhengHei"/>
                          <a:cs typeface="Microsoft JhengHei"/>
                        </a:rPr>
                        <a:t>數值</a:t>
                      </a:r>
                    </a:p>
                  </a:txBody>
                  <a:tcPr marL="54864" marR="54864" marT="18288" marB="18288" anchor="ctr">
                    <a:solidFill>
                      <a:srgbClr val="1B5E7A"/>
                    </a:solidFill>
                  </a:tcPr>
                </a:tc>
              </a:tr>
              <a:tr h="457200">
                <a:tc>
                  <a:txBody>
                    <a:bodyPr wrap="square"/>
                    <a:lstStyle/>
                    <a:p>
                      <a:pPr algn="l"/>
                      <a:r>
                        <a:rPr sz="1250" b="0" i="0">
                          <a:solidFill>
                            <a:srgbClr val="1F2933"/>
                          </a:solidFill>
                          <a:latin typeface="Calibri"/>
                          <a:ea typeface="Microsoft JhengHei"/>
                          <a:cs typeface="Microsoft JhengHei"/>
                        </a:rPr>
                        <a:t>說話者</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23 人（女 13、男 10），19–30 歲，平均 24</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平均句長</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3.10 秒；11.78 tokens</a:t>
                      </a:r>
                    </a:p>
                  </a:txBody>
                  <a:tcPr marL="54864" marR="54864" marT="18288" marB="18288" anchor="ctr">
                    <a:solidFill>
                      <a:srgbClr val="F2F5F7"/>
                    </a:solidFill>
                  </a:tcPr>
                </a:tc>
              </a:tr>
              <a:tr h="457200">
                <a:tc>
                  <a:txBody>
                    <a:bodyPr wrap="square"/>
                    <a:lstStyle/>
                    <a:p>
                      <a:pPr algn="l"/>
                      <a:r>
                        <a:rPr sz="1250" b="0" i="0">
                          <a:solidFill>
                            <a:srgbClr val="1F2933"/>
                          </a:solidFill>
                          <a:latin typeface="Calibri"/>
                          <a:ea typeface="Microsoft JhengHei"/>
                          <a:cs typeface="Microsoft JhengHei"/>
                        </a:rPr>
                        <a:t>總 tokens</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145,146（中文以字、英文以詞計）</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詞彙</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中文 1,795 字；英文 2,860 詞</a:t>
                      </a:r>
                    </a:p>
                  </a:txBody>
                  <a:tcPr marL="54864" marR="54864" marT="18288" marB="18288" anchor="ctr">
                    <a:solidFill>
                      <a:srgbClr val="F2F5F7"/>
                    </a:solidFill>
                  </a:tcPr>
                </a:tc>
              </a:tr>
              <a:tr h="457200">
                <a:tc>
                  <a:txBody>
                    <a:bodyPr wrap="square"/>
                    <a:lstStyle/>
                    <a:p>
                      <a:pPr algn="l"/>
                      <a:r>
                        <a:rPr sz="1250" b="0" i="0">
                          <a:solidFill>
                            <a:srgbClr val="1F2933"/>
                          </a:solidFill>
                          <a:latin typeface="Calibri"/>
                          <a:ea typeface="Microsoft JhengHei"/>
                          <a:cs typeface="Microsoft JhengHei"/>
                        </a:rPr>
                        <a:t>說話速率</a:t>
                      </a:r>
                    </a:p>
                  </a:txBody>
                  <a:tcPr marL="54864" marR="54864" marT="18288" marB="18288" anchor="ctr">
                    <a:solidFill>
                      <a:srgbClr val="FFFFFF"/>
                    </a:solidFill>
                  </a:tcPr>
                </a:tc>
                <a:tc>
                  <a:txBody>
                    <a:bodyPr wrap="square"/>
                    <a:lstStyle/>
                    <a:p>
                      <a:pPr algn="l"/>
                      <a:r>
                        <a:rPr sz="1250" b="0" i="0">
                          <a:solidFill>
                            <a:srgbClr val="1F2933"/>
                          </a:solidFill>
                          <a:latin typeface="Calibri"/>
                          <a:ea typeface="Microsoft JhengHei"/>
                          <a:cs typeface="Microsoft JhengHei"/>
                        </a:rPr>
                        <a:t>中文 262.33 字／分；英文 152.31 詞／分</a:t>
                      </a:r>
                    </a:p>
                  </a:txBody>
                  <a:tcPr marL="54864" marR="54864" marT="18288" marB="18288" anchor="ctr">
                    <a:solidFill>
                      <a:srgbClr val="FFFFFF"/>
                    </a:solidFill>
                  </a:tcPr>
                </a:tc>
              </a:tr>
              <a:tr h="457200">
                <a:tc>
                  <a:txBody>
                    <a:bodyPr wrap="square"/>
                    <a:lstStyle/>
                    <a:p>
                      <a:pPr algn="l"/>
                      <a:r>
                        <a:rPr sz="1250" b="0" i="0">
                          <a:solidFill>
                            <a:srgbClr val="1F2933"/>
                          </a:solidFill>
                          <a:latin typeface="Calibri"/>
                          <a:ea typeface="Microsoft JhengHei"/>
                          <a:cs typeface="Microsoft JhengHei"/>
                        </a:rPr>
                        <a:t>英語口說</a:t>
                      </a:r>
                    </a:p>
                  </a:txBody>
                  <a:tcPr marL="54864" marR="54864" marT="18288" marB="18288" anchor="ctr">
                    <a:solidFill>
                      <a:srgbClr val="F2F5F7"/>
                    </a:solidFill>
                  </a:tcPr>
                </a:tc>
                <a:tc>
                  <a:txBody>
                    <a:bodyPr wrap="square"/>
                    <a:lstStyle/>
                    <a:p>
                      <a:pPr algn="l"/>
                      <a:r>
                        <a:rPr sz="1250" b="0" i="0">
                          <a:solidFill>
                            <a:srgbClr val="1F2933"/>
                          </a:solidFill>
                          <a:latin typeface="Calibri"/>
                          <a:ea typeface="Microsoft JhengHei"/>
                          <a:cs typeface="Microsoft JhengHei"/>
                        </a:rPr>
                        <a:t>全員 IELTS 5.5 以上，平均 6.5</a:t>
                      </a:r>
                    </a:p>
                  </a:txBody>
                  <a:tcPr marL="54864" marR="54864" marT="18288" marB="18288" anchor="ctr">
                    <a:solidFill>
                      <a:srgbClr val="F2F5F7"/>
                    </a:solidFill>
                  </a:tcPr>
                </a:tc>
              </a:tr>
            </a:tbl>
          </a:graphicData>
        </a:graphic>
      </p:graphicFrame>
      <p:sp>
        <p:nvSpPr>
          <p:cNvPr id="7" name="TextBox 6"/>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§5.1–5.2、Table 3、Table 5</a:t>
            </a:r>
          </a:p>
        </p:txBody>
      </p:sp>
      <p:sp>
        <p:nvSpPr>
          <p:cNvPr id="8" name="TextBox 7"/>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主題與語碼轉換</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主題會影響語碼轉換：科技類句內混用最多，哲學類整體轉換最多</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Chart 4"/>
          <p:cNvGraphicFramePr>
            <a:graphicFrameLocks noGrp="1"/>
          </p:cNvGraphicFramePr>
          <p:nvPr/>
        </p:nvGraphicFramePr>
        <p:xfrm>
          <a:off x="548640" y="1371600"/>
          <a:ext cx="7498079" cy="4023360"/>
        </p:xfrm>
        <a:graphic>
          <a:graphicData uri="http://schemas.openxmlformats.org/drawingml/2006/chart">
            <c:chart xmlns:c="http://schemas.openxmlformats.org/drawingml/2006/chart" r:id="rId2"/>
          </a:graphicData>
        </a:graphic>
      </p:graphicFrame>
      <p:cxnSp>
        <p:nvCxnSpPr>
          <p:cNvPr id="6" name="Connector 5"/>
          <p:cNvCxnSpPr/>
          <p:nvPr/>
        </p:nvCxnSpPr>
        <p:spPr>
          <a:xfrm>
            <a:off x="8412480" y="1463040"/>
            <a:ext cx="0" cy="3657600"/>
          </a:xfrm>
          <a:prstGeom prst="line">
            <a:avLst/>
          </a:prstGeom>
          <a:ln w="28575">
            <a:solidFill>
              <a:srgbClr val="1B5E7A"/>
            </a:solidFill>
          </a:ln>
        </p:spPr>
      </p:cxnSp>
      <p:sp>
        <p:nvSpPr>
          <p:cNvPr id="7" name="TextBox 6"/>
          <p:cNvSpPr txBox="1"/>
          <p:nvPr/>
        </p:nvSpPr>
        <p:spPr>
          <a:xfrm>
            <a:off x="8595359" y="1417320"/>
            <a:ext cx="3047695" cy="3931920"/>
          </a:xfrm>
          <a:prstGeom prst="rect">
            <a:avLst/>
          </a:prstGeom>
          <a:noFill/>
        </p:spPr>
        <p:txBody>
          <a:bodyPr wrap="square" anchor="t" lIns="36576" rIns="36576" tIns="27432" bIns="27432"/>
          <a:lstStyle/>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各主題約 45–55% 的語句含語碼轉換</a:t>
            </a:r>
          </a:p>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科技類句內混用 31.93%，常見英文術語較多</a:t>
            </a:r>
          </a:p>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49 場中：個人背景 13、科技 13、教育 12、運動 7、哲學 4</a:t>
            </a:r>
          </a:p>
        </p:txBody>
      </p:sp>
      <p:cxnSp>
        <p:nvCxnSpPr>
          <p:cNvPr id="8" name="Connector 7"/>
          <p:cNvCxnSpPr/>
          <p:nvPr/>
        </p:nvCxnSpPr>
        <p:spPr>
          <a:xfrm>
            <a:off x="548640" y="5870448"/>
            <a:ext cx="0" cy="384048"/>
          </a:xfrm>
          <a:prstGeom prst="line">
            <a:avLst/>
          </a:prstGeom>
          <a:ln w="38100">
            <a:solidFill>
              <a:srgbClr val="1B5E7A"/>
            </a:solidFill>
          </a:ln>
        </p:spPr>
      </p:cxnSp>
      <p:sp>
        <p:nvSpPr>
          <p:cNvPr id="9" name="TextBox 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常見英文片語多與提問或回應有關，例如 do you think、how to say、you know。</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§5.3–5.4、Table 7–8（各主題語句比例 %）</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句內語碼轉換分析</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句內混用：以較長的中文片段為主，穿插 1–2 個英文詞</a:t>
            </a:r>
          </a:p>
        </p:txBody>
      </p:sp>
      <p:cxnSp>
        <p:nvCxnSpPr>
          <p:cNvPr id="4" name="Connector 3"/>
          <p:cNvCxnSpPr/>
          <p:nvPr/>
        </p:nvCxnSpPr>
        <p:spPr>
          <a:xfrm>
            <a:off x="548640" y="1216152"/>
            <a:ext cx="11094415" cy="0"/>
          </a:xfrm>
          <a:prstGeom prst="line">
            <a:avLst/>
          </a:prstGeom>
          <a:ln w="9525">
            <a:solidFill>
              <a:srgbClr val="D5DBE1"/>
            </a:solidFill>
          </a:ln>
        </p:spPr>
      </p:cxnSp>
      <p:pic>
        <p:nvPicPr>
          <p:cNvPr id="5" name="Picture 4" descr="fig7_intra_sentential.png"/>
          <p:cNvPicPr>
            <a:picLocks noChangeAspect="1"/>
          </p:cNvPicPr>
          <p:nvPr/>
        </p:nvPicPr>
        <p:blipFill>
          <a:blip r:embed="rId2"/>
          <a:stretch>
            <a:fillRect/>
          </a:stretch>
        </p:blipFill>
        <p:spPr>
          <a:xfrm>
            <a:off x="548640" y="1371600"/>
            <a:ext cx="8536233" cy="1463040"/>
          </a:xfrm>
          <a:prstGeom prst="rect">
            <a:avLst/>
          </a:prstGeom>
        </p:spPr>
      </p:pic>
      <p:sp>
        <p:nvSpPr>
          <p:cNvPr id="6" name="TextBox 5"/>
          <p:cNvSpPr txBox="1"/>
          <p:nvPr/>
        </p:nvSpPr>
        <p:spPr>
          <a:xfrm>
            <a:off x="548640" y="2862072"/>
            <a:ext cx="8536233"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Figure 7：一句含 6 次語言切換（language turn）的句內混用語句。</a:t>
            </a:r>
          </a:p>
        </p:txBody>
      </p:sp>
      <p:pic>
        <p:nvPicPr>
          <p:cNvPr id="7" name="Picture 6" descr="fig8_zh_segment_len.png"/>
          <p:cNvPicPr>
            <a:picLocks noChangeAspect="1"/>
          </p:cNvPicPr>
          <p:nvPr/>
        </p:nvPicPr>
        <p:blipFill>
          <a:blip r:embed="rId3"/>
          <a:stretch>
            <a:fillRect/>
          </a:stretch>
        </p:blipFill>
        <p:spPr>
          <a:xfrm>
            <a:off x="548640" y="3200400"/>
            <a:ext cx="2958388" cy="2103120"/>
          </a:xfrm>
          <a:prstGeom prst="rect">
            <a:avLst/>
          </a:prstGeom>
        </p:spPr>
      </p:pic>
      <p:pic>
        <p:nvPicPr>
          <p:cNvPr id="8" name="Picture 7" descr="fig9_en_segment_len.png"/>
          <p:cNvPicPr>
            <a:picLocks noChangeAspect="1"/>
          </p:cNvPicPr>
          <p:nvPr/>
        </p:nvPicPr>
        <p:blipFill>
          <a:blip r:embed="rId4"/>
          <a:stretch>
            <a:fillRect/>
          </a:stretch>
        </p:blipFill>
        <p:spPr>
          <a:xfrm>
            <a:off x="3931920" y="3200400"/>
            <a:ext cx="3004457" cy="2103120"/>
          </a:xfrm>
          <a:prstGeom prst="rect">
            <a:avLst/>
          </a:prstGeom>
        </p:spPr>
      </p:pic>
      <p:sp>
        <p:nvSpPr>
          <p:cNvPr id="9" name="TextBox 8"/>
          <p:cNvSpPr txBox="1"/>
          <p:nvPr/>
        </p:nvSpPr>
        <p:spPr>
          <a:xfrm>
            <a:off x="548640" y="5321807"/>
            <a:ext cx="6583680"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Figure 8–9：中文片段字數（左）與英文片段詞數（右）的分布。</a:t>
            </a:r>
          </a:p>
        </p:txBody>
      </p:sp>
      <p:sp>
        <p:nvSpPr>
          <p:cNvPr id="10" name="TextBox 9"/>
          <p:cNvSpPr txBox="1"/>
          <p:nvPr/>
        </p:nvSpPr>
        <p:spPr>
          <a:xfrm>
            <a:off x="7498079" y="3246120"/>
            <a:ext cx="4144975" cy="2286000"/>
          </a:xfrm>
          <a:prstGeom prst="rect">
            <a:avLst/>
          </a:prstGeom>
          <a:noFill/>
        </p:spPr>
        <p:txBody>
          <a:bodyPr wrap="square" anchor="t" lIns="36576" rIns="36576" tIns="27432" bIns="27432"/>
          <a:lstStyle/>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每句平均 2.18 次語言切換，最多 14 次</a:t>
            </a:r>
          </a:p>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每句平均 1.75 個中文片段、1.38 個英文片段</a:t>
            </a:r>
          </a:p>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中文片段平均 7.96 字；英文片段平均 2.96 詞</a:t>
            </a:r>
          </a:p>
          <a:p>
            <a:pPr algn="l">
              <a:lnSpc>
                <a:spcPct val="120000"/>
              </a:lnSpc>
              <a:spcAft>
                <a:spcPts val="8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約 70% 的英文片段只有 1–2 個詞</a:t>
            </a:r>
          </a:p>
        </p:txBody>
      </p:sp>
      <p:cxnSp>
        <p:nvCxnSpPr>
          <p:cNvPr id="11" name="Connector 10"/>
          <p:cNvCxnSpPr/>
          <p:nvPr/>
        </p:nvCxnSpPr>
        <p:spPr>
          <a:xfrm>
            <a:off x="548640" y="5870448"/>
            <a:ext cx="0" cy="384048"/>
          </a:xfrm>
          <a:prstGeom prst="line">
            <a:avLst/>
          </a:prstGeom>
          <a:ln w="38100">
            <a:solidFill>
              <a:srgbClr val="1B5E7A"/>
            </a:solidFill>
          </a:ln>
        </p:spPr>
      </p:cxnSp>
      <p:sp>
        <p:nvSpPr>
          <p:cNvPr id="12" name="TextBox 11"/>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作者認為這符合母語為中文者的說話方式，與香港、台灣、新馬的既有觀察一致。</a:t>
            </a:r>
          </a:p>
        </p:txBody>
      </p:sp>
      <p:sp>
        <p:nvSpPr>
          <p:cNvPr id="13" name="TextBox 12"/>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§5.5–5.6、Figure 7–9</a:t>
            </a:r>
          </a:p>
        </p:txBody>
      </p:sp>
      <p:sp>
        <p:nvSpPr>
          <p:cNvPr id="14" name="TextBox 13"/>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基線實驗設定</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400" b="1" i="0">
                <a:solidFill>
                  <a:srgbClr val="1F2933"/>
                </a:solidFill>
                <a:latin typeface="Calibri"/>
                <a:ea typeface="Microsoft JhengHei"/>
                <a:cs typeface="Microsoft JhengHei"/>
              </a:rPr>
              <a:t>基線：三種預訓練初始化的 wav2vec 2.0，各自擴充 ASCEND 詞彙後微調</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Table 4"/>
          <p:cNvGraphicFramePr>
            <a:graphicFrameLocks noGrp="1"/>
          </p:cNvGraphicFramePr>
          <p:nvPr/>
        </p:nvGraphicFramePr>
        <p:xfrm>
          <a:off x="548640" y="1463040"/>
          <a:ext cx="5852160" cy="2011680"/>
        </p:xfrm>
        <a:graphic>
          <a:graphicData uri="http://schemas.openxmlformats.org/drawingml/2006/table">
            <a:tbl>
              <a:tblPr firstRow="1" bandRow="1">
                <a:tableStyleId>{5940675A-B579-460E-94D1-54222C63F5DA}</a:tableStyleId>
              </a:tblPr>
              <a:tblGrid>
                <a:gridCol w="2377440"/>
                <a:gridCol w="1463040"/>
                <a:gridCol w="2011680"/>
              </a:tblGrid>
              <a:tr h="502920">
                <a:tc>
                  <a:txBody>
                    <a:bodyPr wrap="square"/>
                    <a:lstStyle/>
                    <a:p>
                      <a:pPr algn="l"/>
                      <a:r>
                        <a:rPr sz="1350" b="1" i="0">
                          <a:solidFill>
                            <a:srgbClr val="FFFFFF"/>
                          </a:solidFill>
                          <a:latin typeface="Calibri"/>
                          <a:ea typeface="Microsoft JhengHei"/>
                          <a:cs typeface="Microsoft JhengHei"/>
                        </a:rPr>
                        <a:t>預訓練語言</a:t>
                      </a:r>
                    </a:p>
                  </a:txBody>
                  <a:tcPr marL="54864" marR="54864" marT="18288" marB="18288" anchor="ctr">
                    <a:solidFill>
                      <a:srgbClr val="1B5E7A"/>
                    </a:solidFill>
                  </a:tcPr>
                </a:tc>
                <a:tc>
                  <a:txBody>
                    <a:bodyPr wrap="square"/>
                    <a:lstStyle/>
                    <a:p>
                      <a:pPr algn="ctr"/>
                      <a:r>
                        <a:rPr sz="1350" b="1" i="0">
                          <a:solidFill>
                            <a:srgbClr val="FFFFFF"/>
                          </a:solidFill>
                          <a:latin typeface="Calibri"/>
                          <a:ea typeface="Microsoft JhengHei"/>
                          <a:cs typeface="Microsoft JhengHei"/>
                        </a:rPr>
                        <a:t>原詞彙</a:t>
                      </a:r>
                    </a:p>
                  </a:txBody>
                  <a:tcPr marL="54864" marR="54864" marT="18288" marB="18288" anchor="ctr">
                    <a:solidFill>
                      <a:srgbClr val="1B5E7A"/>
                    </a:solidFill>
                  </a:tcPr>
                </a:tc>
                <a:tc>
                  <a:txBody>
                    <a:bodyPr wrap="square"/>
                    <a:lstStyle/>
                    <a:p>
                      <a:pPr algn="ctr"/>
                      <a:r>
                        <a:rPr sz="1350" b="1" i="0">
                          <a:solidFill>
                            <a:srgbClr val="FFFFFF"/>
                          </a:solidFill>
                          <a:latin typeface="Calibri"/>
                          <a:ea typeface="Microsoft JhengHei"/>
                          <a:cs typeface="Microsoft JhengHei"/>
                        </a:rPr>
                        <a:t>加入 ASCEND 後</a:t>
                      </a:r>
                    </a:p>
                  </a:txBody>
                  <a:tcPr marL="54864" marR="54864" marT="18288" marB="18288" anchor="ctr">
                    <a:solidFill>
                      <a:srgbClr val="1B5E7A"/>
                    </a:solidFill>
                  </a:tcPr>
                </a:tc>
              </a:tr>
              <a:tr h="502920">
                <a:tc>
                  <a:txBody>
                    <a:bodyPr wrap="square"/>
                    <a:lstStyle/>
                    <a:p>
                      <a:pPr algn="l"/>
                      <a:r>
                        <a:rPr sz="1350" b="0" i="0">
                          <a:solidFill>
                            <a:srgbClr val="1F2933"/>
                          </a:solidFill>
                          <a:latin typeface="Calibri"/>
                          <a:ea typeface="Microsoft JhengHei"/>
                          <a:cs typeface="Microsoft JhengHei"/>
                        </a:rPr>
                        <a:t>中文（Common Voice）</a:t>
                      </a:r>
                    </a:p>
                  </a:txBody>
                  <a:tcPr marL="54864" marR="54864" marT="18288" marB="18288" anchor="ctr">
                    <a:solidFill>
                      <a:srgbClr val="FFFFFF"/>
                    </a:solidFill>
                  </a:tcPr>
                </a:tc>
                <a:tc>
                  <a:txBody>
                    <a:bodyPr wrap="square"/>
                    <a:lstStyle/>
                    <a:p>
                      <a:pPr algn="ctr"/>
                      <a:r>
                        <a:rPr sz="1350" b="0" i="0">
                          <a:solidFill>
                            <a:srgbClr val="1F2933"/>
                          </a:solidFill>
                          <a:latin typeface="Calibri"/>
                          <a:ea typeface="Microsoft JhengHei"/>
                          <a:cs typeface="Microsoft JhengHei"/>
                        </a:rPr>
                        <a:t>3,503</a:t>
                      </a:r>
                    </a:p>
                  </a:txBody>
                  <a:tcPr marL="54864" marR="54864" marT="18288" marB="18288" anchor="ctr">
                    <a:solidFill>
                      <a:srgbClr val="FFFFFF"/>
                    </a:solidFill>
                  </a:tcPr>
                </a:tc>
                <a:tc>
                  <a:txBody>
                    <a:bodyPr wrap="square"/>
                    <a:lstStyle/>
                    <a:p>
                      <a:pPr algn="ctr"/>
                      <a:r>
                        <a:rPr sz="1350" b="0" i="0">
                          <a:solidFill>
                            <a:srgbClr val="1F2933"/>
                          </a:solidFill>
                          <a:latin typeface="Calibri"/>
                          <a:ea typeface="Microsoft JhengHei"/>
                          <a:cs typeface="Microsoft JhengHei"/>
                        </a:rPr>
                        <a:t>3,593（+90）</a:t>
                      </a:r>
                    </a:p>
                  </a:txBody>
                  <a:tcPr marL="54864" marR="54864" marT="18288" marB="18288" anchor="ctr">
                    <a:solidFill>
                      <a:srgbClr val="FFFFFF"/>
                    </a:solidFill>
                  </a:tcPr>
                </a:tc>
              </a:tr>
              <a:tr h="502920">
                <a:tc>
                  <a:txBody>
                    <a:bodyPr wrap="square"/>
                    <a:lstStyle/>
                    <a:p>
                      <a:pPr algn="l"/>
                      <a:r>
                        <a:rPr sz="1350" b="0" i="0">
                          <a:solidFill>
                            <a:srgbClr val="1F2933"/>
                          </a:solidFill>
                          <a:latin typeface="Calibri"/>
                          <a:ea typeface="Microsoft JhengHei"/>
                          <a:cs typeface="Microsoft JhengHei"/>
                        </a:rPr>
                        <a:t>英文（Common Voice）</a:t>
                      </a:r>
                    </a:p>
                  </a:txBody>
                  <a:tcPr marL="54864" marR="54864" marT="18288" marB="18288" anchor="ctr">
                    <a:solidFill>
                      <a:srgbClr val="F2F5F7"/>
                    </a:solidFill>
                  </a:tcPr>
                </a:tc>
                <a:tc>
                  <a:txBody>
                    <a:bodyPr wrap="square"/>
                    <a:lstStyle/>
                    <a:p>
                      <a:pPr algn="ctr"/>
                      <a:r>
                        <a:rPr sz="1350" b="0" i="0">
                          <a:solidFill>
                            <a:srgbClr val="1F2933"/>
                          </a:solidFill>
                          <a:latin typeface="Calibri"/>
                          <a:ea typeface="Microsoft JhengHei"/>
                          <a:cs typeface="Microsoft JhengHei"/>
                        </a:rPr>
                        <a:t>33</a:t>
                      </a:r>
                    </a:p>
                  </a:txBody>
                  <a:tcPr marL="54864" marR="54864" marT="18288" marB="18288" anchor="ctr">
                    <a:solidFill>
                      <a:srgbClr val="F2F5F7"/>
                    </a:solidFill>
                  </a:tcPr>
                </a:tc>
                <a:tc>
                  <a:txBody>
                    <a:bodyPr wrap="square"/>
                    <a:lstStyle/>
                    <a:p>
                      <a:pPr algn="ctr"/>
                      <a:r>
                        <a:rPr sz="1350" b="0" i="0">
                          <a:solidFill>
                            <a:srgbClr val="1F2933"/>
                          </a:solidFill>
                          <a:latin typeface="Calibri"/>
                          <a:ea typeface="Microsoft JhengHei"/>
                          <a:cs typeface="Microsoft JhengHei"/>
                        </a:rPr>
                        <a:t>1,833（+1,800）</a:t>
                      </a:r>
                    </a:p>
                  </a:txBody>
                  <a:tcPr marL="54864" marR="54864" marT="18288" marB="18288" anchor="ctr">
                    <a:solidFill>
                      <a:srgbClr val="F2F5F7"/>
                    </a:solidFill>
                  </a:tcPr>
                </a:tc>
              </a:tr>
              <a:tr h="502920">
                <a:tc>
                  <a:txBody>
                    <a:bodyPr wrap="square"/>
                    <a:lstStyle/>
                    <a:p>
                      <a:pPr algn="l"/>
                      <a:r>
                        <a:rPr sz="1350" b="0" i="0">
                          <a:solidFill>
                            <a:srgbClr val="1F2933"/>
                          </a:solidFill>
                          <a:latin typeface="Calibri"/>
                          <a:ea typeface="Microsoft JhengHei"/>
                          <a:cs typeface="Microsoft JhengHei"/>
                        </a:rPr>
                        <a:t>多語（53 種語言）</a:t>
                      </a:r>
                    </a:p>
                  </a:txBody>
                  <a:tcPr marL="54864" marR="54864" marT="18288" marB="18288" anchor="ctr">
                    <a:solidFill>
                      <a:srgbClr val="FFFFFF"/>
                    </a:solidFill>
                  </a:tcPr>
                </a:tc>
                <a:tc>
                  <a:txBody>
                    <a:bodyPr wrap="square"/>
                    <a:lstStyle/>
                    <a:p>
                      <a:pPr algn="ctr"/>
                      <a:r>
                        <a:rPr sz="1350" b="0" i="0">
                          <a:solidFill>
                            <a:srgbClr val="1F2933"/>
                          </a:solidFill>
                          <a:latin typeface="Calibri"/>
                          <a:ea typeface="Microsoft JhengHei"/>
                          <a:cs typeface="Microsoft JhengHei"/>
                        </a:rPr>
                        <a:t>9,913</a:t>
                      </a:r>
                    </a:p>
                  </a:txBody>
                  <a:tcPr marL="54864" marR="54864" marT="18288" marB="18288" anchor="ctr">
                    <a:solidFill>
                      <a:srgbClr val="FFFFFF"/>
                    </a:solidFill>
                  </a:tcPr>
                </a:tc>
                <a:tc>
                  <a:txBody>
                    <a:bodyPr wrap="square"/>
                    <a:lstStyle/>
                    <a:p>
                      <a:pPr algn="ctr"/>
                      <a:r>
                        <a:rPr sz="1350" b="0" i="0">
                          <a:solidFill>
                            <a:srgbClr val="1F2933"/>
                          </a:solidFill>
                          <a:latin typeface="Calibri"/>
                          <a:ea typeface="Microsoft JhengHei"/>
                          <a:cs typeface="Microsoft JhengHei"/>
                        </a:rPr>
                        <a:t>9,920（+7）</a:t>
                      </a:r>
                    </a:p>
                  </a:txBody>
                  <a:tcPr marL="54864" marR="54864" marT="18288" marB="18288" anchor="ctr">
                    <a:solidFill>
                      <a:srgbClr val="FFFFFF"/>
                    </a:solidFill>
                  </a:tcPr>
                </a:tc>
              </a:tr>
            </a:tbl>
          </a:graphicData>
        </a:graphic>
      </p:graphicFrame>
      <p:sp>
        <p:nvSpPr>
          <p:cNvPr id="6" name="TextBox 5"/>
          <p:cNvSpPr txBox="1"/>
          <p:nvPr/>
        </p:nvSpPr>
        <p:spPr>
          <a:xfrm>
            <a:off x="548640" y="3520439"/>
            <a:ext cx="5852160" cy="274320"/>
          </a:xfrm>
          <a:prstGeom prst="rect">
            <a:avLst/>
          </a:prstGeom>
          <a:noFill/>
        </p:spPr>
        <p:txBody>
          <a:bodyPr wrap="square" anchor="t" lIns="36576" rIns="36576" tIns="27432" bIns="27432"/>
          <a:lstStyle/>
          <a:p>
            <a:pPr algn="l">
              <a:lnSpc>
                <a:spcPct val="115000"/>
              </a:lnSpc>
              <a:spcAft>
                <a:spcPts val="600"/>
              </a:spcAft>
            </a:pPr>
            <a:r>
              <a:rPr sz="900" b="0" i="0">
                <a:solidFill>
                  <a:srgbClr val="8A939E"/>
                </a:solidFill>
                <a:latin typeface="Calibri"/>
                <a:ea typeface="Microsoft JhengHei"/>
                <a:cs typeface="Microsoft JhengHei"/>
              </a:rPr>
              <a:t>原文 Table 11：各模型的詞彙大小。</a:t>
            </a:r>
          </a:p>
        </p:txBody>
      </p:sp>
      <p:sp>
        <p:nvSpPr>
          <p:cNvPr id="7" name="TextBox 6"/>
          <p:cNvSpPr txBox="1"/>
          <p:nvPr/>
        </p:nvSpPr>
        <p:spPr>
          <a:xfrm>
            <a:off x="6949440" y="1463040"/>
            <a:ext cx="4693615" cy="3931920"/>
          </a:xfrm>
          <a:prstGeom prst="rect">
            <a:avLst/>
          </a:prstGeom>
          <a:noFill/>
        </p:spPr>
        <p:txBody>
          <a:bodyPr wrap="square" anchor="t" lIns="36576" rIns="36576" tIns="27432" bIns="27432"/>
          <a:lstStyle/>
          <a:p>
            <a:pPr algn="l">
              <a:lnSpc>
                <a:spcPct val="120000"/>
              </a:lnSpc>
              <a:spcAft>
                <a:spcPts val="12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前處理</a:t>
            </a:r>
            <a:r>
              <a:rPr sz="1400" b="0" i="0">
                <a:solidFill>
                  <a:srgbClr val="1F2933"/>
                </a:solidFill>
                <a:latin typeface="Calibri"/>
                <a:ea typeface="Microsoft JhengHei"/>
                <a:cs typeface="Microsoft JhengHei"/>
              </a:rPr>
              <a:t>：移除多餘字元；音訊正規化；SpecAugment（時間與頻率遮罩，不做 time warping）</a:t>
            </a:r>
          </a:p>
          <a:p>
            <a:pPr algn="l">
              <a:lnSpc>
                <a:spcPct val="120000"/>
              </a:lnSpc>
              <a:spcAft>
                <a:spcPts val="12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訓練</a:t>
            </a:r>
            <a:r>
              <a:rPr sz="1400" b="0" i="0">
                <a:solidFill>
                  <a:srgbClr val="1F2933"/>
                </a:solidFill>
                <a:latin typeface="Calibri"/>
                <a:ea typeface="Microsoft JhengHei"/>
                <a:cs typeface="Microsoft JhengHei"/>
              </a:rPr>
              <a:t>：CTC 損失、Adam、學習率 5e-5、batch 16，最多 100 epochs，early stopping 5</a:t>
            </a:r>
          </a:p>
          <a:p>
            <a:pPr algn="l">
              <a:lnSpc>
                <a:spcPct val="120000"/>
              </a:lnSpc>
              <a:spcAft>
                <a:spcPts val="1200"/>
              </a:spcAft>
            </a:pPr>
            <a:r>
              <a:rPr sz="1400" b="1" i="0">
                <a:solidFill>
                  <a:srgbClr val="1B5E7A"/>
                </a:solidFill>
                <a:latin typeface="Calibri"/>
                <a:ea typeface="Microsoft JhengHei"/>
                <a:cs typeface="Microsoft JhengHei"/>
              </a:rPr>
              <a:t>• </a:t>
            </a:r>
            <a:r>
              <a:rPr sz="1400" b="1" i="0">
                <a:solidFill>
                  <a:srgbClr val="1F2933"/>
                </a:solidFill>
                <a:latin typeface="Calibri"/>
                <a:ea typeface="Microsoft JhengHei"/>
                <a:cs typeface="Microsoft JhengHei"/>
              </a:rPr>
              <a:t>評估</a:t>
            </a:r>
            <a:r>
              <a:rPr sz="1400" b="0" i="0">
                <a:solidFill>
                  <a:srgbClr val="1F2933"/>
                </a:solidFill>
                <a:latin typeface="Calibri"/>
                <a:ea typeface="Microsoft JhengHei"/>
                <a:cs typeface="Microsoft JhengHei"/>
              </a:rPr>
              <a:t>：CTC 解碼；CER 與混合錯誤率 MER（中文算字錯率、英文算詞錯率）</a:t>
            </a:r>
          </a:p>
        </p:txBody>
      </p:sp>
      <p:cxnSp>
        <p:nvCxnSpPr>
          <p:cNvPr id="8" name="Connector 7"/>
          <p:cNvCxnSpPr/>
          <p:nvPr/>
        </p:nvCxnSpPr>
        <p:spPr>
          <a:xfrm>
            <a:off x="548640" y="5870448"/>
            <a:ext cx="0" cy="384048"/>
          </a:xfrm>
          <a:prstGeom prst="line">
            <a:avLst/>
          </a:prstGeom>
          <a:ln w="38100">
            <a:solidFill>
              <a:srgbClr val="1B5E7A"/>
            </a:solidFill>
          </a:ln>
        </p:spPr>
      </p:cxnSp>
      <p:sp>
        <p:nvSpPr>
          <p:cNvPr id="9" name="TextBox 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中文預訓練模型的詞彙與 ASCEND 重疊最多，只需補 90 個字詞。</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§6、Table 11</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基線結果</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800" b="1" i="0">
                <a:solidFill>
                  <a:srgbClr val="1F2933"/>
                </a:solidFill>
                <a:latin typeface="Calibri"/>
                <a:ea typeface="Microsoft JhengHei"/>
                <a:cs typeface="Microsoft JhengHei"/>
              </a:rPr>
              <a:t>中文預訓練模型最佳：測試集 CER 22.69%、MER 27.05%</a:t>
            </a:r>
          </a:p>
        </p:txBody>
      </p:sp>
      <p:cxnSp>
        <p:nvCxnSpPr>
          <p:cNvPr id="4" name="Connector 3"/>
          <p:cNvCxnSpPr/>
          <p:nvPr/>
        </p:nvCxnSpPr>
        <p:spPr>
          <a:xfrm>
            <a:off x="548640" y="1216152"/>
            <a:ext cx="11094415" cy="0"/>
          </a:xfrm>
          <a:prstGeom prst="line">
            <a:avLst/>
          </a:prstGeom>
          <a:ln w="9525">
            <a:solidFill>
              <a:srgbClr val="D5DBE1"/>
            </a:solidFill>
          </a:ln>
        </p:spPr>
      </p:cxnSp>
      <p:graphicFrame>
        <p:nvGraphicFramePr>
          <p:cNvPr id="5" name="Chart 4"/>
          <p:cNvGraphicFramePr>
            <a:graphicFrameLocks noGrp="1"/>
          </p:cNvGraphicFramePr>
          <p:nvPr/>
        </p:nvGraphicFramePr>
        <p:xfrm>
          <a:off x="548640" y="1371600"/>
          <a:ext cx="6766560" cy="4023360"/>
        </p:xfrm>
        <a:graphic>
          <a:graphicData uri="http://schemas.openxmlformats.org/drawingml/2006/chart">
            <c:chart xmlns:c="http://schemas.openxmlformats.org/drawingml/2006/chart" r:id="rId2"/>
          </a:graphicData>
        </a:graphic>
      </p:graphicFrame>
      <p:cxnSp>
        <p:nvCxnSpPr>
          <p:cNvPr id="6" name="Connector 5"/>
          <p:cNvCxnSpPr/>
          <p:nvPr/>
        </p:nvCxnSpPr>
        <p:spPr>
          <a:xfrm>
            <a:off x="7680960" y="1463040"/>
            <a:ext cx="0" cy="3657600"/>
          </a:xfrm>
          <a:prstGeom prst="line">
            <a:avLst/>
          </a:prstGeom>
          <a:ln w="28575">
            <a:solidFill>
              <a:srgbClr val="1B5E7A"/>
            </a:solidFill>
          </a:ln>
        </p:spPr>
      </p:cxnSp>
      <p:sp>
        <p:nvSpPr>
          <p:cNvPr id="7" name="TextBox 6"/>
          <p:cNvSpPr txBox="1"/>
          <p:nvPr/>
        </p:nvSpPr>
        <p:spPr>
          <a:xfrm>
            <a:off x="7863840" y="1417320"/>
            <a:ext cx="3779215" cy="3931920"/>
          </a:xfrm>
          <a:prstGeom prst="rect">
            <a:avLst/>
          </a:prstGeom>
          <a:noFill/>
        </p:spPr>
        <p:txBody>
          <a:bodyPr wrap="square" anchor="t" lIns="36576" rIns="36576" tIns="27432" bIns="27432"/>
          <a:lstStyle/>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作者的解釋：資料約一半是中文、詞彙重疊最多、預訓練專注單一語言</a:t>
            </a:r>
          </a:p>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多語模型在驗證集最早收斂，但最終表現較差</a:t>
            </a:r>
          </a:p>
          <a:p>
            <a:pPr algn="l">
              <a:lnSpc>
                <a:spcPct val="125000"/>
              </a:lnSpc>
              <a:spcAft>
                <a:spcPts val="1200"/>
              </a:spcAft>
            </a:pPr>
            <a:r>
              <a:rPr sz="1400" b="1" i="0">
                <a:solidFill>
                  <a:srgbClr val="1B5E7A"/>
                </a:solidFill>
                <a:latin typeface="Calibri"/>
                <a:ea typeface="Microsoft JhengHei"/>
                <a:cs typeface="Microsoft JhengHei"/>
              </a:rPr>
              <a:t>• </a:t>
            </a:r>
            <a:r>
              <a:rPr sz="1400" b="0" i="0">
                <a:solidFill>
                  <a:srgbClr val="1F2933"/>
                </a:solidFill>
                <a:latin typeface="Calibri"/>
                <a:ea typeface="Microsoft JhengHei"/>
                <a:cs typeface="Microsoft JhengHei"/>
              </a:rPr>
              <a:t>測試集 CER 三者差距小：中文 22.69% vs 英文 22.78%</a:t>
            </a:r>
          </a:p>
        </p:txBody>
      </p:sp>
      <p:cxnSp>
        <p:nvCxnSpPr>
          <p:cNvPr id="8" name="Connector 7"/>
          <p:cNvCxnSpPr/>
          <p:nvPr/>
        </p:nvCxnSpPr>
        <p:spPr>
          <a:xfrm>
            <a:off x="548640" y="5870448"/>
            <a:ext cx="0" cy="384048"/>
          </a:xfrm>
          <a:prstGeom prst="line">
            <a:avLst/>
          </a:prstGeom>
          <a:ln w="38100">
            <a:solidFill>
              <a:srgbClr val="1B5E7A"/>
            </a:solidFill>
          </a:ln>
        </p:spPr>
      </p:cxnSp>
      <p:sp>
        <p:nvSpPr>
          <p:cNvPr id="9" name="TextBox 8"/>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重點｜</a:t>
            </a:r>
            <a:r>
              <a:rPr sz="1500" b="0" i="0">
                <a:solidFill>
                  <a:srgbClr val="1F2933"/>
                </a:solidFill>
                <a:latin typeface="Calibri"/>
                <a:ea typeface="Microsoft JhengHei"/>
                <a:cs typeface="Microsoft JhengHei"/>
              </a:rPr>
              <a:t>作者據此認為 ASCEND 的表現與既有中英語碼轉換語料相當，可用於訓練與評估。</a:t>
            </a:r>
          </a:p>
        </p:txBody>
      </p:sp>
      <p:sp>
        <p:nvSpPr>
          <p:cNvPr id="10" name="TextBox 9"/>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§6.1、Table 12（錯誤率 %，越低越好）</a:t>
            </a:r>
          </a:p>
        </p:txBody>
      </p:sp>
      <p:sp>
        <p:nvSpPr>
          <p:cNvPr id="11" name="TextBox 10"/>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38328"/>
            <a:ext cx="11094415" cy="292608"/>
          </a:xfrm>
          <a:prstGeom prst="rect">
            <a:avLst/>
          </a:prstGeom>
          <a:noFill/>
        </p:spPr>
        <p:txBody>
          <a:bodyPr wrap="square" anchor="t" lIns="36576" rIns="36576" tIns="27432" bIns="27432"/>
          <a:lstStyle/>
          <a:p>
            <a:pPr algn="l">
              <a:lnSpc>
                <a:spcPct val="115000"/>
              </a:lnSpc>
              <a:spcAft>
                <a:spcPts val="600"/>
              </a:spcAft>
            </a:pPr>
            <a:r>
              <a:rPr sz="1100" b="1" i="0">
                <a:solidFill>
                  <a:srgbClr val="1B5E7A"/>
                </a:solidFill>
                <a:latin typeface="Calibri"/>
                <a:ea typeface="Microsoft JhengHei"/>
                <a:cs typeface="Microsoft JhengHei"/>
              </a:rPr>
              <a:t>限制與結論</a:t>
            </a:r>
          </a:p>
        </p:txBody>
      </p:sp>
      <p:sp>
        <p:nvSpPr>
          <p:cNvPr id="3" name="TextBox 2"/>
          <p:cNvSpPr txBox="1"/>
          <p:nvPr/>
        </p:nvSpPr>
        <p:spPr>
          <a:xfrm>
            <a:off x="548640" y="612647"/>
            <a:ext cx="11094415" cy="685800"/>
          </a:xfrm>
          <a:prstGeom prst="rect">
            <a:avLst/>
          </a:prstGeom>
          <a:noFill/>
        </p:spPr>
        <p:txBody>
          <a:bodyPr wrap="square" anchor="t" lIns="36576" rIns="36576" tIns="27432" bIns="27432"/>
          <a:lstStyle/>
          <a:p>
            <a:pPr algn="l">
              <a:lnSpc>
                <a:spcPct val="115000"/>
              </a:lnSpc>
              <a:spcAft>
                <a:spcPts val="600"/>
              </a:spcAft>
            </a:pPr>
            <a:r>
              <a:rPr sz="2400" b="1" i="0">
                <a:solidFill>
                  <a:srgbClr val="1F2933"/>
                </a:solidFill>
                <a:latin typeface="Calibri"/>
                <a:ea typeface="Microsoft JhengHei"/>
                <a:cs typeface="Microsoft JhengHei"/>
              </a:rPr>
              <a:t>ASCEND 提供少見的公開自發中英混用語料，但規模與說話者背景有限</a:t>
            </a:r>
          </a:p>
        </p:txBody>
      </p:sp>
      <p:cxnSp>
        <p:nvCxnSpPr>
          <p:cNvPr id="4" name="Connector 3"/>
          <p:cNvCxnSpPr/>
          <p:nvPr/>
        </p:nvCxnSpPr>
        <p:spPr>
          <a:xfrm>
            <a:off x="548640" y="1216152"/>
            <a:ext cx="11094415" cy="0"/>
          </a:xfrm>
          <a:prstGeom prst="line">
            <a:avLst/>
          </a:prstGeom>
          <a:ln w="9525">
            <a:solidFill>
              <a:srgbClr val="D5DBE1"/>
            </a:solidFill>
          </a:ln>
        </p:spPr>
      </p:cxnSp>
      <p:sp>
        <p:nvSpPr>
          <p:cNvPr id="5" name="TextBox 4"/>
          <p:cNvSpPr txBox="1"/>
          <p:nvPr/>
        </p:nvSpPr>
        <p:spPr>
          <a:xfrm>
            <a:off x="548640" y="1463040"/>
            <a:ext cx="5486400" cy="411480"/>
          </a:xfrm>
          <a:prstGeom prst="rect">
            <a:avLst/>
          </a:prstGeom>
          <a:noFill/>
        </p:spPr>
        <p:txBody>
          <a:bodyPr wrap="square" anchor="t" lIns="36576" rIns="36576" tIns="27432" bIns="27432"/>
          <a:lstStyle/>
          <a:p>
            <a:pPr algn="l">
              <a:lnSpc>
                <a:spcPct val="115000"/>
              </a:lnSpc>
              <a:spcAft>
                <a:spcPts val="600"/>
              </a:spcAft>
            </a:pPr>
            <a:r>
              <a:rPr sz="1700" b="1" i="0">
                <a:solidFill>
                  <a:srgbClr val="1B5E7A"/>
                </a:solidFill>
                <a:latin typeface="Calibri"/>
                <a:ea typeface="Microsoft JhengHei"/>
                <a:cs typeface="Microsoft JhengHei"/>
              </a:rPr>
              <a:t>可帶走的資源</a:t>
            </a:r>
          </a:p>
        </p:txBody>
      </p:sp>
      <p:sp>
        <p:nvSpPr>
          <p:cNvPr id="6" name="TextBox 5"/>
          <p:cNvSpPr txBox="1"/>
          <p:nvPr/>
        </p:nvSpPr>
        <p:spPr>
          <a:xfrm>
            <a:off x="548640" y="2011680"/>
            <a:ext cx="5486400" cy="3291840"/>
          </a:xfrm>
          <a:prstGeom prst="rect">
            <a:avLst/>
          </a:prstGeom>
          <a:noFill/>
        </p:spPr>
        <p:txBody>
          <a:bodyPr wrap="square" anchor="t" lIns="36576" rIns="36576" tIns="27432" bIns="27432"/>
          <a:lstStyle/>
          <a:p>
            <a:pPr algn="l">
              <a:lnSpc>
                <a:spcPct val="125000"/>
              </a:lnSpc>
              <a:spcAft>
                <a:spcPts val="1600"/>
              </a:spcAft>
            </a:pPr>
            <a:r>
              <a:rPr sz="1550" b="1" i="0">
                <a:solidFill>
                  <a:srgbClr val="1B5E7A"/>
                </a:solidFill>
                <a:latin typeface="Calibri"/>
                <a:ea typeface="Microsoft JhengHei"/>
                <a:cs typeface="Microsoft JhengHei"/>
              </a:rPr>
              <a:t>• </a:t>
            </a:r>
            <a:r>
              <a:rPr sz="1550" b="0" i="0">
                <a:solidFill>
                  <a:srgbClr val="1F2933"/>
                </a:solidFill>
                <a:latin typeface="Calibri"/>
                <a:ea typeface="Microsoft JhengHei"/>
                <a:cs typeface="Microsoft JhengHei"/>
              </a:rPr>
              <a:t>10.62 小時自發多輪對話，含句間與句內語碼轉換</a:t>
            </a:r>
          </a:p>
          <a:p>
            <a:pPr algn="l">
              <a:lnSpc>
                <a:spcPct val="125000"/>
              </a:lnSpc>
              <a:spcAft>
                <a:spcPts val="1600"/>
              </a:spcAft>
            </a:pPr>
            <a:r>
              <a:rPr sz="1550" b="1" i="0">
                <a:solidFill>
                  <a:srgbClr val="1B5E7A"/>
                </a:solidFill>
                <a:latin typeface="Calibri"/>
                <a:ea typeface="Microsoft JhengHei"/>
                <a:cs typeface="Microsoft JhengHei"/>
              </a:rPr>
              <a:t>• </a:t>
            </a:r>
            <a:r>
              <a:rPr sz="1550" b="0" i="0">
                <a:solidFill>
                  <a:srgbClr val="1F2933"/>
                </a:solidFill>
                <a:latin typeface="Calibri"/>
                <a:ea typeface="Microsoft JhengHei"/>
                <a:cs typeface="Microsoft JhengHei"/>
              </a:rPr>
              <a:t>依說話者切分的 train／val／test，附性別與主題資訊</a:t>
            </a:r>
          </a:p>
          <a:p>
            <a:pPr algn="l">
              <a:lnSpc>
                <a:spcPct val="125000"/>
              </a:lnSpc>
              <a:spcAft>
                <a:spcPts val="1600"/>
              </a:spcAft>
            </a:pPr>
            <a:r>
              <a:rPr sz="1550" b="1" i="0">
                <a:solidFill>
                  <a:srgbClr val="1B5E7A"/>
                </a:solidFill>
                <a:latin typeface="Calibri"/>
                <a:ea typeface="Microsoft JhengHei"/>
                <a:cs typeface="Microsoft JhengHei"/>
              </a:rPr>
              <a:t>• </a:t>
            </a:r>
            <a:r>
              <a:rPr sz="1550" b="0" i="0">
                <a:solidFill>
                  <a:srgbClr val="1F2933"/>
                </a:solidFill>
                <a:latin typeface="Calibri"/>
                <a:ea typeface="Microsoft JhengHei"/>
                <a:cs typeface="Microsoft JhengHei"/>
              </a:rPr>
              <a:t>wav2vec 2.0 基線與程式碼</a:t>
            </a:r>
          </a:p>
        </p:txBody>
      </p:sp>
      <p:sp>
        <p:nvSpPr>
          <p:cNvPr id="7" name="TextBox 6"/>
          <p:cNvSpPr txBox="1"/>
          <p:nvPr/>
        </p:nvSpPr>
        <p:spPr>
          <a:xfrm>
            <a:off x="6583679" y="1463040"/>
            <a:ext cx="5059375" cy="411480"/>
          </a:xfrm>
          <a:prstGeom prst="rect">
            <a:avLst/>
          </a:prstGeom>
          <a:noFill/>
        </p:spPr>
        <p:txBody>
          <a:bodyPr wrap="square" anchor="t" lIns="36576" rIns="36576" tIns="27432" bIns="27432"/>
          <a:lstStyle/>
          <a:p>
            <a:pPr algn="l">
              <a:lnSpc>
                <a:spcPct val="115000"/>
              </a:lnSpc>
              <a:spcAft>
                <a:spcPts val="600"/>
              </a:spcAft>
            </a:pPr>
            <a:r>
              <a:rPr sz="1700" b="1" i="0">
                <a:solidFill>
                  <a:srgbClr val="C2662D"/>
                </a:solidFill>
                <a:latin typeface="Calibri"/>
                <a:ea typeface="Microsoft JhengHei"/>
                <a:cs typeface="Microsoft JhengHei"/>
              </a:rPr>
              <a:t>需留意的限制</a:t>
            </a:r>
          </a:p>
        </p:txBody>
      </p:sp>
      <p:sp>
        <p:nvSpPr>
          <p:cNvPr id="8" name="TextBox 7"/>
          <p:cNvSpPr txBox="1"/>
          <p:nvPr/>
        </p:nvSpPr>
        <p:spPr>
          <a:xfrm>
            <a:off x="6583679" y="2011680"/>
            <a:ext cx="5059375" cy="3291840"/>
          </a:xfrm>
          <a:prstGeom prst="rect">
            <a:avLst/>
          </a:prstGeom>
          <a:noFill/>
        </p:spPr>
        <p:txBody>
          <a:bodyPr wrap="square" anchor="t" lIns="36576" rIns="36576" tIns="27432" bIns="27432"/>
          <a:lstStyle/>
          <a:p>
            <a:pPr algn="l">
              <a:lnSpc>
                <a:spcPct val="120000"/>
              </a:lnSpc>
              <a:spcAft>
                <a:spcPts val="12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規模小：約 10 小時，遠小於單語語料</a:t>
            </a:r>
          </a:p>
          <a:p>
            <a:pPr algn="l">
              <a:lnSpc>
                <a:spcPct val="120000"/>
              </a:lnSpc>
              <a:spcAft>
                <a:spcPts val="12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說話者皆為 19–30 歲大學生，母語為中文</a:t>
            </a:r>
          </a:p>
          <a:p>
            <a:pPr algn="l">
              <a:lnSpc>
                <a:spcPct val="120000"/>
              </a:lnSpc>
              <a:spcAft>
                <a:spcPts val="12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安靜教室、領夾麥克風，錄音條件乾淨</a:t>
            </a:r>
          </a:p>
          <a:p>
            <a:pPr algn="l">
              <a:lnSpc>
                <a:spcPct val="120000"/>
              </a:lnSpc>
              <a:spcAft>
                <a:spcPts val="12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驗證與測試集各僅 2–3 位說話者</a:t>
            </a:r>
          </a:p>
          <a:p>
            <a:pPr algn="l">
              <a:lnSpc>
                <a:spcPct val="120000"/>
              </a:lnSpc>
              <a:spcAft>
                <a:spcPts val="1200"/>
              </a:spcAft>
            </a:pPr>
            <a:r>
              <a:rPr sz="1500" b="1" i="0">
                <a:solidFill>
                  <a:srgbClr val="1B5E7A"/>
                </a:solidFill>
                <a:latin typeface="Calibri"/>
                <a:ea typeface="Microsoft JhengHei"/>
                <a:cs typeface="Microsoft JhengHei"/>
              </a:rPr>
              <a:t>• </a:t>
            </a:r>
            <a:r>
              <a:rPr sz="1500" b="0" i="0">
                <a:solidFill>
                  <a:srgbClr val="1F2933"/>
                </a:solidFill>
                <a:latin typeface="Calibri"/>
                <a:ea typeface="Microsoft JhengHei"/>
                <a:cs typeface="Microsoft JhengHei"/>
              </a:rPr>
              <a:t>前言「26 場」與 Table 2「49 場」不一致</a:t>
            </a:r>
          </a:p>
        </p:txBody>
      </p:sp>
      <p:cxnSp>
        <p:nvCxnSpPr>
          <p:cNvPr id="9" name="Connector 8"/>
          <p:cNvCxnSpPr/>
          <p:nvPr/>
        </p:nvCxnSpPr>
        <p:spPr>
          <a:xfrm>
            <a:off x="548640" y="5870448"/>
            <a:ext cx="0" cy="384048"/>
          </a:xfrm>
          <a:prstGeom prst="line">
            <a:avLst/>
          </a:prstGeom>
          <a:ln w="38100">
            <a:solidFill>
              <a:srgbClr val="1B5E7A"/>
            </a:solidFill>
          </a:ln>
        </p:spPr>
      </p:cxnSp>
      <p:sp>
        <p:nvSpPr>
          <p:cNvPr id="10" name="TextBox 9"/>
          <p:cNvSpPr txBox="1"/>
          <p:nvPr/>
        </p:nvSpPr>
        <p:spPr>
          <a:xfrm>
            <a:off x="713232" y="5833872"/>
            <a:ext cx="10911535" cy="457200"/>
          </a:xfrm>
          <a:prstGeom prst="rect">
            <a:avLst/>
          </a:prstGeom>
          <a:noFill/>
        </p:spPr>
        <p:txBody>
          <a:bodyPr wrap="square" anchor="ctr" lIns="36576" rIns="36576" tIns="27432" bIns="27432"/>
          <a:lstStyle/>
          <a:p>
            <a:pPr algn="l">
              <a:lnSpc>
                <a:spcPct val="115000"/>
              </a:lnSpc>
              <a:spcAft>
                <a:spcPts val="600"/>
              </a:spcAft>
            </a:pPr>
            <a:r>
              <a:rPr sz="1500" b="1" i="0">
                <a:solidFill>
                  <a:srgbClr val="1B5E7A"/>
                </a:solidFill>
                <a:latin typeface="Calibri"/>
                <a:ea typeface="Microsoft JhengHei"/>
                <a:cs typeface="Microsoft JhengHei"/>
              </a:rPr>
              <a:t>結論｜</a:t>
            </a:r>
            <a:r>
              <a:rPr sz="1500" b="0" i="0">
                <a:solidFill>
                  <a:srgbClr val="1F2933"/>
                </a:solidFill>
                <a:latin typeface="Calibri"/>
                <a:ea typeface="Microsoft JhengHei"/>
                <a:cs typeface="Microsoft JhengHei"/>
              </a:rPr>
              <a:t>適合作為中英語碼轉換 ASR 的評測或微調資料；應用到吵雜或多人場景時需另行驗證。</a:t>
            </a:r>
          </a:p>
        </p:txBody>
      </p:sp>
      <p:sp>
        <p:nvSpPr>
          <p:cNvPr id="11" name="TextBox 10"/>
          <p:cNvSpPr txBox="1"/>
          <p:nvPr/>
        </p:nvSpPr>
        <p:spPr>
          <a:xfrm>
            <a:off x="548640" y="6419088"/>
            <a:ext cx="7863840" cy="274320"/>
          </a:xfrm>
          <a:prstGeom prst="rect">
            <a:avLst/>
          </a:prstGeom>
          <a:noFill/>
        </p:spPr>
        <p:txBody>
          <a:bodyPr wrap="square" anchor="t" lIns="36576" rIns="36576" tIns="27432" bIns="27432"/>
          <a:lstStyle/>
          <a:p>
            <a:pPr algn="l">
              <a:lnSpc>
                <a:spcPct val="115000"/>
              </a:lnSpc>
              <a:spcAft>
                <a:spcPts val="600"/>
              </a:spcAft>
            </a:pPr>
            <a:r>
              <a:rPr sz="850" b="0" i="0">
                <a:solidFill>
                  <a:srgbClr val="8A939E"/>
                </a:solidFill>
                <a:latin typeface="Calibri"/>
                <a:ea typeface="Microsoft JhengHei"/>
                <a:cs typeface="Microsoft JhengHei"/>
              </a:rPr>
              <a:t>Lovenia, Cahyawijaya, Winata et al. · ASCEND · LREC 2022, pp. 7259–7268 · §7</a:t>
            </a:r>
          </a:p>
        </p:txBody>
      </p:sp>
      <p:sp>
        <p:nvSpPr>
          <p:cNvPr id="12" name="TextBox 11"/>
          <p:cNvSpPr txBox="1"/>
          <p:nvPr/>
        </p:nvSpPr>
        <p:spPr>
          <a:xfrm>
            <a:off x="10728655" y="6419088"/>
            <a:ext cx="914400" cy="274320"/>
          </a:xfrm>
          <a:prstGeom prst="rect">
            <a:avLst/>
          </a:prstGeom>
          <a:noFill/>
        </p:spPr>
        <p:txBody>
          <a:bodyPr wrap="square" anchor="t" lIns="36576" rIns="36576" tIns="27432" bIns="27432"/>
          <a:lstStyle/>
          <a:p>
            <a:pPr algn="r">
              <a:lnSpc>
                <a:spcPct val="115000"/>
              </a:lnSpc>
              <a:spcAft>
                <a:spcPts val="600"/>
              </a:spcAft>
            </a:pPr>
            <a:r>
              <a:rPr sz="850" b="0" i="0">
                <a:solidFill>
                  <a:srgbClr val="8A939E"/>
                </a:solidFill>
                <a:latin typeface="Calibri"/>
                <a:ea typeface="Microsoft JhengHei"/>
                <a:cs typeface="Microsoft JhengHe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