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Training（191 場）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Sheet1!$A$2:$A$6</c:f>
              <c:strCache>
                <c:ptCount val="5"/>
                <c:pt idx="0">
                  <c:v>0–10%</c:v>
                </c:pt>
                <c:pt idx="1">
                  <c:v>10–20%</c:v>
                </c:pt>
                <c:pt idx="2">
                  <c:v>20–30%</c:v>
                </c:pt>
                <c:pt idx="3">
                  <c:v>30–40%</c:v>
                </c:pt>
                <c:pt idx="4">
                  <c:v>40–100%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76</c:v>
                </c:pt>
                <c:pt idx="2">
                  <c:v>44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Evaluation（20 場）</c:v>
                </c:pt>
              </c:strCache>
            </c:strRef>
          </c:tx>
          <c:spPr>
            <a:solidFill>
              <a:srgbClr val="C2662D"/>
            </a:solidFill>
          </c:spPr>
          <c:cat>
            <c:strRef>
              <c:f>Sheet1!$A$2:$A$6</c:f>
              <c:strCache>
                <c:ptCount val="5"/>
                <c:pt idx="0">
                  <c:v>0–10%</c:v>
                </c:pt>
                <c:pt idx="1">
                  <c:v>10–20%</c:v>
                </c:pt>
                <c:pt idx="2">
                  <c:v>20–30%</c:v>
                </c:pt>
                <c:pt idx="3">
                  <c:v>30–40%</c:v>
                </c:pt>
                <c:pt idx="4">
                  <c:v>40–100%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6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5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1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50"/>
          </a:pPr>
        </a:p>
      </c:txPr>
    </c:legend>
    <c:dispBlanksAs val="gap"/>
  </c:chart>
  <c:txPr>
    <a:bodyPr/>
    <a:lstStyle/>
    <a:p>
      <a:pPr>
        <a:defRPr sz="115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無前端處理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Sheet1!$A$2:$A$3</c:f>
              <c:strCache>
                <c:ptCount val="2"/>
                <c:pt idx="0">
                  <c:v>Speaker Independent</c:v>
                </c:pt>
                <c:pt idx="1">
                  <c:v>Speaker Dependent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32.56</c:v>
                </c:pt>
                <c:pt idx="1">
                  <c:v>41.55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有前端處理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Sheet1!$A$2:$A$3</c:f>
              <c:strCache>
                <c:ptCount val="2"/>
                <c:pt idx="0">
                  <c:v>Speaker Independent</c:v>
                </c:pt>
                <c:pt idx="1">
                  <c:v>Speaker Dependent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30.49</c:v>
                </c:pt>
                <c:pt idx="1">
                  <c:v>39.86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AISHELL-4 是西北工業大學 ASLP 實驗室與 Microsoft、希爾貝殼等單位合作釋出的資料集，定位是第一個公開的中文真實會議語音資料集。這份報告的重點是資料集本身怎麼設計、標註怎麼做，以及作者提供的基線系統告訴我們這個任務有多難。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會議轉寫通常被描述成估計『誰在什麼時候說了什麼』，它把語音增強、分離、語音活動偵測、語音辨識、說話者分段標記等任務串在一起，是語音處理中最困難的問題之一。作者認為主要瓶頸是資料：要同時標註內容、說話者身分和時間，重疊段落還得反覆聽，成本很高。所以過去很多研究用合成資料，而真實的公開會議語料又幾乎都是英文。AISHELL-4 就是要補上中文真實會議資料這一塊。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這張表是我整理第二節相關研究的內容。英文電話對話語料取樣率只有 8 kHz，而且是單人錄音，沒有重疊。語音分離常用的 WSJ0-2mix、LibriMix 是人工混合，而且是完全重疊的短句，和真實對話差很多，真實對話的重疊率通常低於 20%。LibriCSS 是把朗讀語料播放後再錄，說話風格不自然；CHiME-6 錄音品質偏低、每場固定四人；AMI 等是實驗室環境。中文方面，AISHELL-1、2 都是近場、沒有重疊。這些就是作者要補的缺口。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 是資料集的基本數字。訓練集 107.5 小時、191 場，評估集 12.72 小時、20 場，合計約 120 小時。每場是約 30 分鐘的小組討論，4 到 8 人，性別大致平衡。錄音用 8 通道圓形麥克風陣列放在桌子中央，每位與會者另外戴頭戴麥克風錄近場訊號，用來輔助標註。訓練與評估使用不同的會議室，只有一位與會者重疊，所以評估比較能反映泛化能力。值得注意的是兩個子集的重疊率差很多：訓練 19.04%，評估只有 9.31%。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錄音在 10 間真實會議室進行，分成小、中、大三種，尺寸從 7×3×3 到 15×7×3 立方公尺。房間裡有沙發、電視、白板、冷氣等一般陳設。麥克風陣列放在桌子中央，與會者距離 0.6 到 6 公尺。雜訊不是後製加上去的，而是與會者在會議中自然產生的，例如敲鍵盤、開關門。一個細節：訓練集要求與會者坐在固定位置，評估集則允許在小範圍內移動，這讓評估更接近真實情況。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 是每場會議的重疊率分布。訓練集分布比較廣，10 到 20% 的最多，有 76 場，超過 30% 的也有 30 場。評估集則明顯偏向低重疊：20 場中 12 場在 10% 以下，沒有任何一場超過 30%。這是我自己的觀察，論文沒有討論：如果要用評估集來衡量重疊語音分離的效果，高重疊的情境其實沒有被測到。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註流程分四步。第一，把頭戴麥克風的近場訊號和陣列第一通道對齊，選比較清楚的那一路來標註。第二，先跑語音辨識產生初稿。第三，專業標註員人工轉寫，作者特別提到有注意標點符號。第四，檢查員逐場驗收，再用 Praat 校正說話者分布，避免漏切語音片段。平均每場有三位標註員參與。最後輸出 TextGrid 格式，包含說話者資訊、時間戳、轉寫，連笑聲、咳嗽這些非語音事件也有標，重疊段落也有標記。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基線系統是三段式串接，三個模組分開訓練。第一段說話者分段標記，直接沿用 Kaldi 的 CHiME-6 方案：TDNN 做語音活動偵測，ResNet 抽說話者嵌入，先用 AHC 預分群，再用 VBx 細分群。第二段語音分離：三層 LSTM 估計兩個說話者的遮罩，再用 MVDR 波束成形輸出分離後的語音，從兩路中取能量較大的一路。第三段是 Transformer 端對端語音辨識。作者也承認兩個簡化：分段標記假設沒有重疊，分離模組最多只處理兩位說話者。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這頁整理各模組的訓練資料。說話者嵌入用 VoxCeleb 和 CN-Celeb。語音分離完全用模擬資料：拿 LibriSpeech 460 小時英文乾淨語音，加上雜訊與模擬房間響應，依 8 麥克風陣列的拓撲生成訓練 364 小時。語音辨識用了中文模擬資料 768 小時，加上 AISHELL-4 訓練集中的非重疊段落 63 小時。我的觀察是：分離模組沒有用到 AISHELL-4 本身的真實重疊語音，這也許能解釋下一頁前端處理的增益為什麼有限。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3 是基線結果，指標是字錯率。Speaker Independent 任務使用標準答案的語句邊界，只看前端處理加語音辨識；Speaker Dependent 任務包含整個系統，連說話者分段標記也要自己做，最後用 Asclite 做多說話者對齊。沒有前端處理時分別是 32.56% 和 41.55%，加上前端處理降到 30.49% 和 39.86%，只改善約 2 個百分點。從 Independent 到 Dependent 多了約 9 個百分點，代表說話者分段標記是主要的誤差來源之一。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總結：AISHELL-4 的價值在於它是真實錄製、標註完整的中文會議語料，並附有可重現的基線。限制方面，前三點有些是作者自己提到的：分段標記不處理重疊、Speaker Independent 任務使用了標準答案資訊，作者說之後會改成連續式前端處理、減少對標準答案的依賴。評估集重疊率偏低、評估規模只有 20 場，則是我從表格觀察到的。如果要用在我們的研究，例如中文會議摘要或說話者辨識，這是少數可用的真實中文資料。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Speech · 會議語音資料集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AISHELL-4：真實會議場景的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中文多通道語音資料集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211 場會議、120 小時、8 通道圓形麥克風陣列，涵蓋語音增強、分離、辨識與說話者分段標記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617720"/>
            <a:ext cx="10332720" cy="0"/>
          </a:xfrm>
          <a:prstGeom prst="line">
            <a:avLst/>
          </a:prstGeom>
          <a:ln w="12700">
            <a:solidFill>
              <a:srgbClr val="D5DB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Yihui Fu, Luyao Cheng, Shubo Lv, Yukai Jv, Yuxiang Kong, Zhuo Chen, Yanxin Hu, Lei Xie, Jian Wu, Hui Bu, Xin Xu, Jun Du, Jingdong Chen｜西北工業大學、Microsoft、希爾貝殼、中國科學技術大學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arXiv:2104.03603v4（2021）· 資料：aishelltech.com/aishell_4 · 基線：github.com/felixfuyihui/AISHELL-4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會議轉寫要回答「誰在何時說了什麼」，難在重疊語音與資料稀缺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08760"/>
            <a:ext cx="603504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會議轉寫結合多項語音任務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603504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語音前端處理（增強、分離）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語音活動偵測（SAD, speech activity detection）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自動語音辨識（ASR, automatic speech recognition）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說話者辨識與分段標記（speaker diarization）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508760"/>
            <a:ext cx="4510735" cy="3840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91640"/>
            <a:ext cx="396209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為什麼資料難取得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286000"/>
            <a:ext cx="3962095" cy="2926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需同時標註內容、說話者與起訖時間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重疊語音段落需反覆聆聽才能轉寫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既有研究多用合成資料；公開會議語料幾乎都是英文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作者的定位：釋出真實錄製、標註完整的中文會議語料，並附上可重現的基線系統。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Fu, Cheng et al. · AISHELL-4 · arXiv:2104.03603v4 (2021) · §1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相關資料集比較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既有資料集各有缺口：合成、單人、取樣率低，或只有英文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352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1840"/>
                <a:gridCol w="2194560"/>
                <a:gridCol w="5608015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資料集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類型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主要限制（作者整理）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Switchboard、Fisher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英文電話對話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 kHz 取樣、單人錄音，無重疊語音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WSJ0-2mix、WHAM!、WHAMR!、LibriMix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人工混合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短句完全重疊，與真實對話（重疊率多低於 20%）不符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LibriCSS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播放朗讀語料再錄製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朗讀語速穩定，與自然對話不符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CHiME-6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晚宴對話、多陣列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錄音品質較低（削波、笑聲多）；每場固定 4 人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ICSI、CHIL、AMI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實驗室會議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非商用麥克風、說話者多樣性有限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AISHELL-1、AISHELL-2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中文 ASR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近場錄音，無重疊、雜訊與殘響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作者表示據其所知，在此之前沒有公開的中文會議語音資料集。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Fu, Cheng et al. · AISHELL-4 · arXiv:2104.03603v4 (2021) · §2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資料集概覽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資料規模：訓練 191 場、評估 20 場，總長約 120 小時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5852160" cy="3328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/>
                <a:gridCol w="1828800"/>
                <a:gridCol w="182880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Training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Evaluation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時長（小時）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107.50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12.72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會議場次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191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會議室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參與者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男／女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16 / 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11 / 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平均重疊率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19.04%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9.31%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6949440" y="1508760"/>
            <a:ext cx="0" cy="329184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132320" y="1463040"/>
            <a:ext cx="4510735" cy="34747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每場約 30 分鐘，4–8 位與會者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8 通道圓形麥克風陣列置於桌面中央，另以頭戴麥克風錄近場訊號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主題涵蓋醫療、教育、商務、組織管理、工業生產等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訓練與評估的會議室不重疊，與會者僅 1 人重疊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評估集的平均重疊率（9.31%）只有訓練集（19.04%）的一半左右。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Fu, Cheng et al. · AISHELL-4 · arXiv:2104.03603v4 (2021) · §3、Table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錄音設計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錄音環境：10 間真實會議室，與會者距麥克風 0.6–6.0 公尺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1_venue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65678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96712"/>
            <a:ext cx="6656788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1：訓練集會議室範例（MR001）與 8 麥克風圓形陣列的拓撲（半徑 5 cm）。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08" y="1417320"/>
            <a:ext cx="4026146" cy="42062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房間：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小、中、大三種，7×3×3 到 15×7×3 m³；牆面含水泥、玻璃等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陳設：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沙發、電視、白板、電扇、冷氣、植物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雜訊：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點擊、鍵盤、開關門、電扇、人聲等，由與會者自然產生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位置：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訓練集與會者固定座位；評估集可在小範圍內移動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Fu, Cheng et al. · AISHELL-4 · arXiv:2104.03603v4 (2021) · §3、Figure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重疊率分布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訓練集涵蓋各種重疊程度；評估集集中在低重疊場次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229600" y="1463040"/>
            <a:ext cx="0" cy="365760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412480" y="1417320"/>
            <a:ext cx="3230575" cy="3931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訓練集有 30 場重疊率超過 30%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評估集 20 場中有 18 場重疊率低於 20%，沒有超過 30% 的場次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作者以多樣的會議主題來涵蓋不同重疊程度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評估集偏向低重疊，用它評估重疊語音處理能力時需留意。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Fu, Cheng et al. · AISHELL-4 · arXiv:2104.03603v4 (2021) · Table 2（每個區間的會議場次數）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標註流程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標註流程：近場訊號輔助、ASR 預標、人工複查，平均每場 3 位標註員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對齊與選訊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499283" cy="13258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224963" cy="11430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頭戴麥克風與陣列第 1 通道對齊，選品質較佳者標註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23" y="233172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3683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ASR 預標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683" y="2011680"/>
            <a:ext cx="2499283" cy="13258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0843" y="2148840"/>
            <a:ext cx="2224963" cy="11430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先用語音辨識產生初稿，協助標註員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2967" y="233172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人工轉寫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2011680"/>
            <a:ext cx="2499283" cy="13258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2148840"/>
            <a:ext cx="2224963" cy="11430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專業標註員轉寫，並特別注意標點符號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011" y="233172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3771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71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檢查與校正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3771" y="2011680"/>
            <a:ext cx="2499283" cy="13258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148840"/>
            <a:ext cx="2224963" cy="11430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檢查員逐場驗收；以 Praat 校正說話者分布與切分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TextGrid 標註內容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11094415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場次長度、說話者資訊（人數、ID、性別）、各說話者的片段數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每個片段的時間戳與轉寫；非語音事件（停頓、笑聲、咳嗽、呼吸）；重疊與非重疊片段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Fu, Cheng et al. · AISHELL-4 · arXiv:2104.03603v4 (2021) · §3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基線系統架構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基線系統：先做說話者分段，再分離重疊語音，最後辨識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3393338" cy="54864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3393338" cy="50292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1 說話者分段標記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393338" cy="1600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119018" cy="1417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Kaldi CHiME-6 方案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SAD（TDNN）→ ResNet 說話者嵌入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→ AHC 預分群 → VBx 分群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1978" y="2560320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9178" y="1508760"/>
            <a:ext cx="3393338" cy="54864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9178" y="1536192"/>
            <a:ext cx="3393338" cy="50292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 語音分離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9178" y="2057400"/>
            <a:ext cx="3393338" cy="1600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6338" y="2194560"/>
            <a:ext cx="3119018" cy="1417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多通道遮罩估計網路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（3 層 LSTM）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+ mask-based MVDR 波束成形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2516" y="2560320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49716" y="1508760"/>
            <a:ext cx="3393338" cy="54864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9716" y="1536192"/>
            <a:ext cx="3393338" cy="50292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3 語音辨識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9716" y="2057400"/>
            <a:ext cx="3393338" cy="1600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194560"/>
            <a:ext cx="3119018" cy="1417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Transformer 端對端 ASR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8 層編碼器、6 層解碼器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CTC + 交叉熵聯合訓練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11094415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各模組分開訓練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；評估時依序串接，輸出附說話者標記的轉寫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分段標記不處理重疊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：假設每個音框只屬於一位說話者；分離模組最多處理 2 位說話者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Fu, Cheng et al. · AISHELL-4 · arXiv:2104.03603v4 (2021) · §4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訓練資料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分離與辨識模組大量依賴模擬資料，真實資料只用 63 小時非重疊段落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/>
                <a:gridCol w="5120640"/>
                <a:gridCol w="4327855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模組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訓練資料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關鍵設定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說話者嵌入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VoxCeleb1、VoxCeleb2、CN-Celeb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加性角度邊界損失（m = 0.2），PLDA 後處理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語音分離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以 LibriSpeech 460 小時乾淨語音 + MUSAN、AudioSet 雜訊模擬：訓練 364 h、開發 10 h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RT60 0.2–0.8 s；SNR 5–20 dB；重疊率三等分（無、0–20%、20–80%）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語音辨識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模擬：AISHELL-1、aidatatang_200zh、Primewords 合計訓練 768 h；真實：AISHELL-4 訓練集非重疊段 63 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80 維 log-fbank、SpecAugment、beam size 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分離模組完全以英文模擬資料訓練，未使用 AISHELL-4 的真實重疊語音。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Fu, Cheng et al. · AISHELL-4 · arXiv:2104.03603v4 (2021) · §4.1–4.3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基線結果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基線字錯率 30–42%：前端處理只降低約 2 個百分點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65836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589520" y="1463040"/>
            <a:ext cx="0" cy="365760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772400" y="1417320"/>
            <a:ext cx="3870655" cy="3931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Speaker Independent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：使用標準答案的語句邊界，只評估前端與 ASR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Speaker Dependent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：包含 SAD 與說話者分段標記，以 Asclite 對齊多說話者轉寫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加入分段標記後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字錯率再增加約 9 個百分點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即使給定正確語句邊界，字錯率仍有 30.49%，顯示真實會議語音的困難度。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Fu, Cheng et al. · AISHELL-4 · arXiv:2104.03603v4 (2021) · §4.4、Table 3（字錯率 CER 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限制與結論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AISHELL-4 補上中文真實會議資料的空缺，基線仍有很大改進空間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63040"/>
            <a:ext cx="548640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可帶走的資源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120 小時真實錄製的中文會議語音，8 通道 + 近場訊號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完整標註：轉寫、說話者、時間戳、非語音事件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PyTorch 基線系統，可重現評估流程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1463040"/>
            <a:ext cx="505937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需留意的限制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2011680"/>
            <a:ext cx="5059375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評估集重疊率偏低，沒有超過 30% 的場次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基線的分段標記不處理重疊，分離最多 2 人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Speaker Independent 任務使用標準答案的語句邊界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只有 20 場評估會議，說話者 25 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後續｜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作者後續方向：連續式前端處理、減少對標準答案資訊的依賴、整合能處理重疊的分段標記。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Fu, Cheng et al. · AISHELL-4 · arXiv:2104.03603v4 (2021) · §5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