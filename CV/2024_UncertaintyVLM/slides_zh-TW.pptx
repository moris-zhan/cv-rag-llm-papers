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 %</c:v>
                </c:pt>
              </c:strCache>
            </c:strRef>
          </c:tx>
          <c:spPr>
            <a:solidFill>
              <a:srgbClr val="B8C4CE"/>
            </a:solidFill>
          </c:spPr>
          <c:cat>
            <c:strRef>
              <c:f>Sheet1!$A$2:$A$11</c:f>
              <c:strCache>
                <c:ptCount val="10"/>
                <c:pt idx="0">
                  <c:v>LLaVA-1.6-13B</c:v>
                </c:pt>
                <c:pt idx="1">
                  <c:v>Monkey-Chat</c:v>
                </c:pt>
                <c:pt idx="2">
                  <c:v>LLaVA-1.6-7B</c:v>
                </c:pt>
                <c:pt idx="3">
                  <c:v>InternLM-XC2</c:v>
                </c:pt>
                <c:pt idx="4">
                  <c:v>Yi-VL-6B</c:v>
                </c:pt>
                <c:pt idx="5">
                  <c:v>CogAgent</c:v>
                </c:pt>
                <c:pt idx="6">
                  <c:v>MobileVLMV2</c:v>
                </c:pt>
                <c:pt idx="7">
                  <c:v>MoE-LLaVA</c:v>
                </c:pt>
                <c:pt idx="8">
                  <c:v>mPLUG-Owl2</c:v>
                </c:pt>
                <c:pt idx="9">
                  <c:v>Qwen-VL-Chat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72.85</c:v>
                </c:pt>
                <c:pt idx="1">
                  <c:v>71.26</c:v>
                </c:pt>
                <c:pt idx="2">
                  <c:v>70.78</c:v>
                </c:pt>
                <c:pt idx="3">
                  <c:v>70.07</c:v>
                </c:pt>
                <c:pt idx="4">
                  <c:v>68.19</c:v>
                </c:pt>
                <c:pt idx="5">
                  <c:v>67.34</c:v>
                </c:pt>
                <c:pt idx="6">
                  <c:v>67.02</c:v>
                </c:pt>
                <c:pt idx="7">
                  <c:v>66.95</c:v>
                </c:pt>
                <c:pt idx="8">
                  <c:v>65.58</c:v>
                </c:pt>
                <c:pt idx="9">
                  <c:v>62.74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UAcc %</c:v>
                </c:pt>
              </c:strCache>
            </c:strRef>
          </c:tx>
          <c:spPr>
            <a:solidFill>
              <a:srgbClr val="1B5E7A"/>
            </a:solidFill>
          </c:spPr>
          <c:cat>
            <c:strRef>
              <c:f>Sheet1!$A$2:$A$11</c:f>
              <c:strCache>
                <c:ptCount val="10"/>
                <c:pt idx="0">
                  <c:v>LLaVA-1.6-13B</c:v>
                </c:pt>
                <c:pt idx="1">
                  <c:v>Monkey-Chat</c:v>
                </c:pt>
                <c:pt idx="2">
                  <c:v>LLaVA-1.6-7B</c:v>
                </c:pt>
                <c:pt idx="3">
                  <c:v>InternLM-XC2</c:v>
                </c:pt>
                <c:pt idx="4">
                  <c:v>Yi-VL-6B</c:v>
                </c:pt>
                <c:pt idx="5">
                  <c:v>CogAgent</c:v>
                </c:pt>
                <c:pt idx="6">
                  <c:v>MobileVLMV2</c:v>
                </c:pt>
                <c:pt idx="7">
                  <c:v>MoE-LLaVA</c:v>
                </c:pt>
                <c:pt idx="8">
                  <c:v>mPLUG-Owl2</c:v>
                </c:pt>
                <c:pt idx="9">
                  <c:v>Qwen-VL-Chat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82.64</c:v>
                </c:pt>
                <c:pt idx="1">
                  <c:v>67.38</c:v>
                </c:pt>
                <c:pt idx="2">
                  <c:v>77.67</c:v>
                </c:pt>
                <c:pt idx="3">
                  <c:v>70.77</c:v>
                </c:pt>
                <c:pt idx="4">
                  <c:v>71.5</c:v>
                </c:pt>
                <c:pt idx="5">
                  <c:v>69.61</c:v>
                </c:pt>
                <c:pt idx="6">
                  <c:v>65.84</c:v>
                </c:pt>
                <c:pt idx="7">
                  <c:v>71.46</c:v>
                </c:pt>
                <c:pt idx="8">
                  <c:v>65.71</c:v>
                </c:pt>
                <c:pt idx="9">
                  <c:v>52.71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0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1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0.0"/>
          <c:min val="0.0"/>
        </c:scaling>
        <c:delete val="0"/>
        <c:axPos val="l"/>
        <c:majorGridlines>
          <c:spPr>
            <a:ln>
              <a:solidFill>
                <a:srgbClr val="D5DBE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solidFill>
            <a:srgbClr val="4B556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這篇是 EnSec-AI 團隊的評測論文。既有的 VLM 評測基準只看準確率，作者認為還要看模型有多確定。他們沿用 LLM 領域的做法，用共形預測給每題算出一個「預測集合」，集合越大代表模型越不確定。主要發現是：準確率和不確定性的排名並不一致，準確率很高的模型也可能很不確定。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1 的例子：同一張衝浪狗的圖，三個模型都選 B，但機率分布不一樣，有的模型把大部分機率給 B，有的只比其他選項高一點。現有基準只計分對錯，看不出這個差別。作者用考試比喻：兩個學生選同一個答案，一個很有把握，一個是猜的。所以作者把 LLM 評測中用過的共形預測方法搬到 VLM 上，一起評估準確率和不確定性。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共形預測不輸出單一答案，而是輸出一組可能的答案，並保證正確答案落在集合裡的機率至少是 1 減 α。做法是先定義分數函數，本文用兩種：LAC 是 1 減正解的機率；APS 是把機率大於等於正解的選項全部加起來。接著在校準集上算出分數的分位數當門檻，測試時把分數低於門檻的選項都放進集合。模型越不確定，需要放進集合的選項越多，所以集合大小就是不確定性的指標。作者設 α 為 0.1，校準和測試各一半。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作者沿用 Ye 等人在 LLM 上的設定，把 5 個選擇題 VQA 資料集都整理成 4 個內容選項，再加上「我不知道」和「以上皆非」，變成六選一。準確率直接看 A 到 F 六個字母 token 哪個 logit 最大，不需要模型產生文字。不確定性用預測集合的平均大小 SS 表示。UAcc 把兩者合成一個數字：準確率除以集合大小，再乘上選項數的平方根，所以理論上可以超過 100%。另外也算傳統的 ECE、MCE 校準誤差來比較。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I 是 LLM 在 2.7B 到 13B 之間的 10 個模型，數字是 5 個資料集的平均，括號是名次。首先，所有模型的涵蓋率都超過 90%，表示共形預測的保證成立，可以用集合大小來比較不確定性。LLaVA-v1.6-13B 三項都第一。但標色的兩列很有意思：Monkey-Chat 準確率第二，集合大小卻是第九；MoE-LLaVA-Phi2-2.7B 準確率第八，集合大小卻是第四。下一頁細看。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灰色是準確率，藍色是 UAcc。大部分模型兩者接近，但 Monkey-Chat 的 UAcc 明顯低於準確率，因為它的預測集合很大，排名從第二掉到第七。反過來，MoE-LLaVA 是只有 2.7B 的小模型，準確率第八，但很確定，UAcc 升到第四。作者也指出 OODCV 和 AI2D 兩個資料集最能拉開模型差距，準確率差到 20 分左右，集合大小差到 1 以上。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這張雷達圖比較不同大小語言模型的 LLaVA。左邊準確率，34B 明顯在最外圈；中間集合大小，34B 明顯在最內圈，代表最確定；右邊 UAcc 34B 遠高於其他兩個。7B 到 13B 的差距很小，13B 到 34B 才拉開。Yi-VL 從 6B 到 34B 也一樣。但 MobileVLMV2 雖然準確率有差，集合大小差不多。作者的結論是：只有語言模型大幅放大時，不確定性才會明顯下降。要注意圖例寫的是 v1.5 的 7B、13B，與圖說和正文的 LLaVA 1.6 不一致，這裡照原圖呈現。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左邊是聊天微調的影響：聊天版通常比較準，但不一定比較確定。右邊是傳統校準誤差。所有模型的 ECE 都不高，看起來都校準得不錯。但 ECE 的排名跟集合大小完全對不上：Qwen-VL-Chat 的 ECE 最好，只有 3.07%，集合大小卻是最後一名；LLaVA-v1.6-13B 集合大小第一，ECE 只排第五。作者因此主張用有統計保證的共形預測，而不是 ECE。另外，作者也測了校準集佔 10% 到 50%，結果沒有顯著變化。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總結：共形預測在 VLM 上同樣可靠，所有模型涵蓋率都超過 90%；準確率和不確定性不一致，所以評估時兩者都要報告。限制方面，作者提到只做了選擇題 VQA、只用一種提示格式。我補充兩點：這個方法需要讀取選項字母的 logits，像只提供文字輸出的 API 模型就不能直接用；另外摘要說評估了 20 多個模型，但主表只列 LLM 在 13B 以下的 10 個，其他模型散見於正文與圖表。對我們的意義是：如果要挑 VLM 做選擇題評測，可以用這個工具同時看準確率與不確定性。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0332720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CV · VLM 評測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17373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6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VLM 的不確定性感知評估：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6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準確率高不代表比較有把握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9144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以共形預測（conformal prediction）量化 20 多個 VLM 在 5 個選擇題 VQA 資料集上的不確定性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4617720"/>
            <a:ext cx="10332720" cy="0"/>
          </a:xfrm>
          <a:prstGeom prst="line">
            <a:avLst/>
          </a:prstGeom>
          <a:ln w="12700">
            <a:solidFill>
              <a:srgbClr val="D5DBE1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914400" y="4754880"/>
            <a:ext cx="10332720" cy="6400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Vasily Kostumov, Bulat Nutfullin, Oleg Pilipenko, Eugene Ilyushin｜EnSec-AI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arXiv:2402.14418v2（2024）· 程式：github.com/EnSec-AI/VLM-Uncertainty-Bench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研究動機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兩個模型答對同一題，信心可能完全不同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pic>
        <p:nvPicPr>
          <p:cNvPr id="5" name="Picture 4" descr="fig1_confidence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73202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05272"/>
            <a:ext cx="473202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原文 Figure 1：同一題，各模型對選項的機率分布不同。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59" y="1463040"/>
            <a:ext cx="5790895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只看準確率的問題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59" y="2011680"/>
            <a:ext cx="5790895" cy="32918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MMBench、MMMU、ScienceQA、SEED-Bench 等基準只計算是否答對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像考試：兩個學生選同一個答案，對題目的把握可能不同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高風險應用需要知道模型「多有把握」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作者沿用 LLM 的做法（Ye et al.），把共形預測帶到 VLM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Kostumov, Nutfullin, Pilipenko, Ilyushin · Uncertainty-Aware Evaluation for VLMs · arXiv:2402.14418v2 (2024) · §I、Figure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方法：共形預測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共形預測：輸出一組可能答案，集合大小就是不確定性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08760"/>
            <a:ext cx="2499283" cy="50292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36192"/>
            <a:ext cx="2499283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1 分數函數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2499283" cy="14630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2224963" cy="12801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LAC：1 − 正解的 softmax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APS：大於等於正解的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softmax 加總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7923" y="2377440"/>
            <a:ext cx="36576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3683" y="1508760"/>
            <a:ext cx="2499283" cy="50292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3683" y="1536192"/>
            <a:ext cx="2499283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2 校準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3683" y="2011680"/>
            <a:ext cx="2499283" cy="14630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0843" y="2148840"/>
            <a:ext cx="2224963" cy="12801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在校準集算分數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取 ⌈(n+1)(1−α)⌉/n 分位數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作為門檻 q̂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2967" y="2377440"/>
            <a:ext cx="36576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8727" y="1508760"/>
            <a:ext cx="2499283" cy="50292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1536192"/>
            <a:ext cx="2499283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3 推論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8727" y="2011680"/>
            <a:ext cx="2499283" cy="14630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5887" y="2148840"/>
            <a:ext cx="2224963" cy="12801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分數 ≤ q̂ 的選項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都放進預測集合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011" y="2377440"/>
            <a:ext cx="36576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3771" y="1508760"/>
            <a:ext cx="2499283" cy="50292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3771" y="1536192"/>
            <a:ext cx="2499283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4 保證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3771" y="2011680"/>
            <a:ext cx="2499283" cy="14630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0931" y="2148840"/>
            <a:ext cx="2224963" cy="12801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正解落在集合內的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機率至少 1 − 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49039"/>
            <a:ext cx="11094415" cy="16459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本文設定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：α = 0.1（目標涵蓋率 90%）；每個資料集 50% 當校準集、50% 當測試集；LAC 與 APS 結果取平均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優點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：不依賴模型內部結構（只需 logits）、不假設資料分布、預測集合容易解讀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Kostumov, Nutfullin, Pilipenko, Ilyushin · Uncertainty-Aware Evaluation for VLMs · arXiv:2402.14418v2 (2024) · §III-D、§V-C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資料與指標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評測設定：5 個資料集統一為六選一，計算準確率、集合大小與兩者的合成指標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6583680" cy="3017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1680"/>
                <a:gridCol w="1920240"/>
                <a:gridCol w="265176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資料集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能力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處理方式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MMBench（dev）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20 種感知與推理能力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選項不足 4 個時，從其他題補錯誤選項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OODCV-VQA（Digits）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分布外物件計數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原本 2 選項，補 2 個錯誤數字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ScienceQA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科學推理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只取含圖題；統一為 4 選項，共 3,952 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SEEDBench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影像相關維度 1–9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共 14,233 題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AI2D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圖表理解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原本即 4 選項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526280"/>
            <a:ext cx="658368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每題再加上「I don't know」與「None of the above」，共 6 個選項。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463040"/>
            <a:ext cx="4144975" cy="39319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Acc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：取 A–F 六個字母 token 中 logit 最大者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SS（Set Sizes）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：預測集合平均大小，越小越確定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UAcc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：Acc ÷ SS × √|Y|，可超過 100%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Coverage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：正解落在集合內的比例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ECE、MCE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：傳統校準誤差，作為對照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Kostumov, Nutfullin, Pilipenko, Ilyushin · Uncertainty-Aware Evaluation for VLMs · arXiv:2402.14418v2 (2024) · §IV、§V-A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主要結果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準確率最高的 LLaVA-v1.6-13B 也最確定，但其他模型的排名常常不一致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5" cy="39227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00400"/>
                <a:gridCol w="1737360"/>
                <a:gridCol w="1463040"/>
                <a:gridCol w="1645920"/>
                <a:gridCol w="1463040"/>
                <a:gridCol w="1584655"/>
              </a:tblGrid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VLM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LLM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Coverage %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Acc %（名次）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SS（名次）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UAcc %（名次）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LLaVA-v1.6-13B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Vicuna-13B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94.15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72.85（1）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2.36（1）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82.64（1）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Monkey-Chat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Qwen-7B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93.56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71.26（2）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2.93（9）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67.38（7）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LLaVA-v1.6-7B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Vicuna-7B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93.52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70.78（3）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2.41（2）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77.67（2）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InternLM-XComposer2-VL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InternLM-7B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92.60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70.07（4）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2.69（7）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70.77（5）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Yi-VL-6B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Yi-6B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93.57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68.19（5）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2.57（5）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71.50（3）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CogAgent-VQA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Vicuna-7B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93.26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67.34（6）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2.52（3）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69.61（6）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MobileVLMV2-7B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Vicuna-7B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93.61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67.02（7）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2.79（8）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65.84（8）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MoE-LLaVA-Phi2-2.7B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Phi2-2.7B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93.36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66.95（8）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2.55（4）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71.46（4）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mPLUG-Owl2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LLaMA2-7B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93.64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65.58（9）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2.65（6）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65.71（9）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Qwen-VL-Chat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Qwen-7B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91.56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62.74（10）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3.07（10）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52.71（10）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所有模型在所有資料集的涵蓋率都超過 90%，符合 α = 0.1 的保證。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Kostumov, Nutfullin, Pilipenko, Ilyushin · Uncertainty-Aware Evaluation for VLMs · arXiv:2402.14418v2 (2024) · §VI-A、Table I（5 個資料集平均）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準確率與不確定性不一致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把不確定性納入後排名洗牌：Monkey-Chat 從第 2 掉到第 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71600"/>
          <a:ext cx="76809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8595360" y="1463040"/>
            <a:ext cx="0" cy="3657600"/>
          </a:xfrm>
          <a:prstGeom prst="line">
            <a:avLst/>
          </a:prstGeom>
          <a:ln w="28575">
            <a:solidFill>
              <a:srgbClr val="1B5E7A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8778240" y="1417320"/>
            <a:ext cx="2864815" cy="39319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Monkey-Chat：Acc 第 2、UAcc 第 7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MoE-LLaVA-Phi2-2.7B：Acc 第 8、UAcc 第 4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AI2D 上 Monkey-Chat 比 MoE-LLaVA 高 12.19 分，集合卻更大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OODCV 與 AI2D 的模型間差距最大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準確率高的模型不一定比較確定，只看準確率可能選錯模型。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Kostumov, Nutfullin, Pilipenko, Ilyushin · Uncertainty-Aware Evaluation for VLMs · arXiv:2402.14418v2 (2024) · §VI-A、Table 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LLM 規模的影響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語言模型大幅放大時，準確率上升、不確定性才明顯下降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pic>
        <p:nvPicPr>
          <p:cNvPr id="5" name="Picture 4" descr="fig3_llava_scale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412" y="1371600"/>
            <a:ext cx="790687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2412" y="4599432"/>
            <a:ext cx="790687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原文 Figure 3：不同 LLM 大小的 LLaVA 在各資料集的 Acc、SS、UAcc（圖例為 v1.6-34B、v1.5-13B、v1.5-7B）。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1094415" cy="8229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LLaVA：7B → 13B 準確率小幅上升、集合大小相近；13B → 34B 準確率明顯上升、集合明顯縮小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Yi-VL 6B → 34B 也有同樣趨勢；MobileVLMV2 各尺寸的集合大小則相近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Kostumov, Nutfullin, Pilipenko, Ilyushin · Uncertainty-Aware Evaluation for VLMs · arXiv:2402.14418v2 (2024) · §VI-B、Figure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聊天微調與校準誤差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傳統校準誤差 ECE 與共形預測的結果不相關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48640" y="1463040"/>
            <a:ext cx="5120640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聊天微調（chat finetuning）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5120640" cy="32918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多數情況下，聊天版準確率高於基礎版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但不確定性不一定較低：有時基礎版集合更小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Qwen-VL 與 Qwen-VL-Chat 只有在 OODCV 的集合大小差異明顯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25135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C2662D"/>
                </a:solidFill>
                <a:latin typeface="Calibri"/>
                <a:ea typeface="Microsoft JhengHei"/>
                <a:cs typeface="Microsoft JhengHei"/>
              </a:rPr>
              <a:t>ECE 與 MCE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2011680"/>
          <a:ext cx="5425135" cy="2514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0"/>
                <a:gridCol w="3596335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觀察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數值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ECE 最佳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Qwen-VL-Chat 3.07%（SS 卻是最後一名）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ECE 最差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mPLUG-Owl2 12.35%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LLaVA-v1.6-13B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SS 第 1，ECE 僅第 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MCE 平均範圍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10.13%（Qwen-VL-Chat）至 30.41%（LLaVA-v1.6-7B）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作者認為 ECE、MCE 沒有形式保證、與共形預測也不相關，不適合用來估計不確定性。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Kostumov, Nutfullin, Pilipenko, Ilyushin · Uncertainty-Aware Evaluation for VLMs · arXiv:2402.14418v2 (2024) · §VI-C、§VI-D、Table 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結論與限制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評估 VLM 應同時報告準確率與不確定性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48640" y="1463040"/>
            <a:ext cx="5486400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主要發現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5486400" cy="32918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所有模型涵蓋率皆超過 90%，共形預測適用於 VLM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準確率與不確定性的排名不一致，可能互相矛盾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LLM 大幅放大才明顯降低不確定性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ECE 與共形預測結果不相關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79" y="1463040"/>
            <a:ext cx="5059375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C2662D"/>
                </a:solidFill>
                <a:latin typeface="Calibri"/>
                <a:ea typeface="Microsoft JhengHei"/>
                <a:cs typeface="Microsoft JhengHei"/>
              </a:rPr>
              <a:t>限制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79" y="2011680"/>
            <a:ext cx="5059375" cy="32918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只評估選擇題 VQA，未涵蓋開放式 VQA、影像描述等任務（作者自述）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只用 LLaVA 的標準提示，沒有示範例（作者自述）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需要取得 logits，無法直接用於只提供文字輸出的閉源模型（報告者補充）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摘要寫 20+ 個 VLM，主表 Table I 只列 10 個（報告者補充）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Kostumov, Nutfullin, Pilipenko, Ilyushin · Uncertainty-Aware Evaluation for VLMs · arXiv:2402.14418v2 (2024) · §VII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