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開放式 + 規則評分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Sheet1!$A$2:$A$4</c:f>
              <c:strCache>
                <c:ptCount val="3"/>
                <c:pt idx="0">
                  <c:v>VQAv2</c:v>
                </c:pt>
                <c:pt idx="1">
                  <c:v>OKVQA</c:v>
                </c:pt>
                <c:pt idx="2">
                  <c:v>VizWiz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0.09</c:v>
                </c:pt>
                <c:pt idx="1">
                  <c:v>0.19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轉為選擇題 + 規則評分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Sheet1!$A$2:$A$4</c:f>
              <c:strCache>
                <c:ptCount val="3"/>
                <c:pt idx="0">
                  <c:v>VQAv2</c:v>
                </c:pt>
                <c:pt idx="1">
                  <c:v>OKVQA</c:v>
                </c:pt>
                <c:pt idx="2">
                  <c:v>VizWiz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0.85</c:v>
                </c:pt>
                <c:pt idx="1">
                  <c:v>0.71</c:v>
                </c:pt>
                <c:pt idx="2">
                  <c:v>0.97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人工判定正確比例 (%)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Sheet1!$A$2:$A$6</c:f>
              <c:strCache>
                <c:ptCount val="5"/>
                <c:pt idx="0">
                  <c:v>1 分</c:v>
                </c:pt>
                <c:pt idx="1">
                  <c:v>2 分</c:v>
                </c:pt>
                <c:pt idx="2">
                  <c:v>3 分</c:v>
                </c:pt>
                <c:pt idx="3">
                  <c:v>4 分</c:v>
                </c:pt>
                <c:pt idx="4">
                  <c:v>5 分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</c:v>
                </c:pt>
                <c:pt idx="1">
                  <c:v>51</c:v>
                </c:pt>
                <c:pt idx="2">
                  <c:v>63</c:v>
                </c:pt>
                <c:pt idx="3">
                  <c:v>84</c:v>
                </c:pt>
                <c:pt idx="4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Qwen2-VL-72B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Sheet1!$A$2:$A$6</c:f>
              <c:strCache>
                <c:ptCount val="5"/>
                <c:pt idx="0">
                  <c:v>General</c:v>
                </c:pt>
                <c:pt idx="1">
                  <c:v>Reasoning</c:v>
                </c:pt>
                <c:pt idx="2">
                  <c:v>OCR</c:v>
                </c:pt>
                <c:pt idx="3">
                  <c:v>Doc&amp;Chart</c:v>
                </c:pt>
                <c:pt idx="4">
                  <c:v>Avg.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88.5</c:v>
                </c:pt>
                <c:pt idx="1">
                  <c:v>72.6</c:v>
                </c:pt>
                <c:pt idx="2">
                  <c:v>96.8</c:v>
                </c:pt>
                <c:pt idx="3">
                  <c:v>90.1</c:v>
                </c:pt>
                <c:pt idx="4">
                  <c:v>85.0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GPT-4o</c:v>
                </c:pt>
              </c:strCache>
            </c:strRef>
          </c:tx>
          <c:spPr>
            <a:solidFill>
              <a:srgbClr val="7A9EB1"/>
            </a:solidFill>
          </c:spPr>
          <c:cat>
            <c:strRef>
              <c:f>Sheet1!$A$2:$A$6</c:f>
              <c:strCache>
                <c:ptCount val="5"/>
                <c:pt idx="0">
                  <c:v>General</c:v>
                </c:pt>
                <c:pt idx="1">
                  <c:v>Reasoning</c:v>
                </c:pt>
                <c:pt idx="2">
                  <c:v>OCR</c:v>
                </c:pt>
                <c:pt idx="3">
                  <c:v>Doc&amp;Chart</c:v>
                </c:pt>
                <c:pt idx="4">
                  <c:v>Avg.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85.2</c:v>
                </c:pt>
                <c:pt idx="1">
                  <c:v>66.9</c:v>
                </c:pt>
                <c:pt idx="2">
                  <c:v>96.4</c:v>
                </c:pt>
                <c:pt idx="3">
                  <c:v>83.1</c:v>
                </c:pt>
                <c:pt idx="4">
                  <c:v>80.3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Phi-3-Vision</c:v>
                </c:pt>
              </c:strCache>
            </c:strRef>
          </c:tx>
          <c:spPr>
            <a:solidFill>
              <a:srgbClr val="C2662D"/>
            </a:solidFill>
          </c:spPr>
          <c:cat>
            <c:strRef>
              <c:f>Sheet1!$A$2:$A$6</c:f>
              <c:strCache>
                <c:ptCount val="5"/>
                <c:pt idx="0">
                  <c:v>General</c:v>
                </c:pt>
                <c:pt idx="1">
                  <c:v>Reasoning</c:v>
                </c:pt>
                <c:pt idx="2">
                  <c:v>OCR</c:v>
                </c:pt>
                <c:pt idx="3">
                  <c:v>Doc&amp;Chart</c:v>
                </c:pt>
                <c:pt idx="4">
                  <c:v>Avg.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74.1</c:v>
                </c:pt>
                <c:pt idx="1">
                  <c:v>56.4</c:v>
                </c:pt>
                <c:pt idx="2">
                  <c:v>90.6</c:v>
                </c:pt>
                <c:pt idx="3">
                  <c:v>73.8</c:v>
                </c:pt>
                <c:pt idx="4">
                  <c:v>70.3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Phi-3.5-Vision</c:v>
                </c:pt>
              </c:strCache>
            </c:strRef>
          </c:tx>
          <c:spPr>
            <a:solidFill>
              <a:srgbClr val="E3A57C"/>
            </a:solidFill>
          </c:spPr>
          <c:cat>
            <c:strRef>
              <c:f>Sheet1!$A$2:$A$6</c:f>
              <c:strCache>
                <c:ptCount val="5"/>
                <c:pt idx="0">
                  <c:v>General</c:v>
                </c:pt>
                <c:pt idx="1">
                  <c:v>Reasoning</c:v>
                </c:pt>
                <c:pt idx="2">
                  <c:v>OCR</c:v>
                </c:pt>
                <c:pt idx="3">
                  <c:v>Doc&amp;Chart</c:v>
                </c:pt>
                <c:pt idx="4">
                  <c:v>Avg.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71.4</c:v>
                </c:pt>
                <c:pt idx="1">
                  <c:v>55.3</c:v>
                </c:pt>
                <c:pt idx="2">
                  <c:v>87.2</c:v>
                </c:pt>
                <c:pt idx="3">
                  <c:v>68.6</c:v>
                </c:pt>
                <c:pt idx="4">
                  <c:v>67.4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InstructBLIP-7B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Sheet1!$A$2:$A$6</c:f>
              <c:strCache>
                <c:ptCount val="5"/>
                <c:pt idx="0">
                  <c:v>General</c:v>
                </c:pt>
                <c:pt idx="1">
                  <c:v>Reasoning</c:v>
                </c:pt>
                <c:pt idx="2">
                  <c:v>OCR</c:v>
                </c:pt>
                <c:pt idx="3">
                  <c:v>Doc&amp;Chart</c:v>
                </c:pt>
                <c:pt idx="4">
                  <c:v>Avg.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55.1</c:v>
                </c:pt>
                <c:pt idx="1">
                  <c:v>35.2</c:v>
                </c:pt>
                <c:pt idx="2">
                  <c:v>47.7</c:v>
                </c:pt>
                <c:pt idx="3">
                  <c:v>29.9</c:v>
                </c:pt>
                <c:pt idx="4">
                  <c:v>42.1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這篇來自 Stanford 的 Serena Yeung-Levy 與 Ludwig Schmidt 團隊。論文分三段：先證明開放式 VQA 評測有根本問題，再提出 AutoConverter 把開放式題目轉成選擇題，最後用它建立 VMCBench 並評測 33 個 VLM。雖然屬於 CV 領域，方法本身與我們看的 D-GEN、WiCkeD 是同一條線：如何自動產生高品質干擾選項。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作者先系統性地檢驗開放式 VQA 的評分方式。規則式：在 VQAv2 上測 12 個 VLM，用官方規則評分。人工檢查 GPT-4o 被扣分的題目後發現，約 66% 是評分失敗，不是模型答錯；修正後 GPT-4o 準確率從 32% 變成 88%。以 GPT-4o 評分（與人工一致度 0.95）作為代理，規則式分數的 Spearman 只有 0.09。模型式：在答案較長的 MMVet 上，用 GPT-4o-0513 和 0806 兩個版本評分。排名完全一致，但 0806 的分數一致高約 6%，因為對接近正確的答案，0806 傾向給 1.0、0513 給 0.9。舊版本被下架後，過去的數字就無法比較。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這頁來自附錄，但我認為是整篇動機的關鍵證據。作者用同一個 GPT-4o 版本評開放式答案作為『真實排名』，比較兩種便宜的評分方式與它的相關：開放式加規則評分，相關只有 0.09、0.19、0.00；轉成選擇題後只比對選項字母，相關提升到 0.85、0.71、0.97。另外附錄 C.4 也測了選項順序敏感度：把正解位置用兩個隨機種子重新洗牌，結果沒有顯著差異。結論是：選擇題同時解決了評分準確與可重現兩個問題，剩下的難題就是干擾選項怎麼做。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問題設定：給定圖片、題目、正解，生成 3 個干擾選項，組成四選一。選 4 個選項是因為最常見，也能降低語言模型對選項位置的偏誤。兩個目標：正確（只有一個正解）與困難（不能輕易排除）。提高難度的部分模仿人類出題者：五個 Proposer 各負責一種常見錯誤類型，產生大量候選與理由；Reviewer 逐一回饋，Proposer 修改；最後 Selector 挑出最難的三個。確保正確的部分：Evaluator 給 1 到 5 分的正確性分數，低於 4 分就交給 Refiner 依回饋修改，最多三輪。所有代理人都是 GPT-4o。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評估器本身可不可信？作者在建 VMCBench 時對 9,450 題全部打分，分數 1 到 5 的題數分別是 103、162、399、635、8,151。六位博士生審查了所有 5 分以下的題目，再從 5 分題目隨機抽 1,101 題，共 2,400 題。結果正確率隨分數單調上升：51、51、63、84、95%。所以分數可以當作過濾器。作者在限制段承認，即使是 5 分題目仍有 5% 有錯，其中約一半是原資料集本身的答案錯誤。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為了直接比較 AutoConverter 和人工出題，作者拿已經是四選一的 MMMU、MathVista、AI2D，只保留題目與正解，重新生成干擾選項，再讓同一批 VLM 作答。點落在對角線下方，代表 AutoConverter 的題目更難。MMMU 大致在對角線附近，MathVista 和 AI2D 多數點在下方。三個資料集的模型排名 Spearman 分別是 0.86、0.95、0.97。正確性方面，只保留 5 分題目後人工檢查錯誤率約 3%，其中 52% 的錯誤來自原題答案錯誤，48% 是 AutoConverter 造成。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Figure 3b 的消融表，我改成原生表格。正確性 C 越高越好，四個 VLM 的準確率越低代表題目越難。Naive 是只用一句『請根據題目、答案和圖片生成 3 個干擾選項』的 baseline，平均 46.0%，比人工原題 41.8% 還容易。完整 AutoConverter 平均 40.7%，比人工原題更難，正確性 4.69 也比原題 4.59 高。逐一拿掉五種錯誤類型的 Proposer 或 Reviewer，平均準確率都會上升。要特別注意 w/o Refiner 那一列：平均準確率最低（37.8%），看起來最『難』，但正確性掉到 4.28，代表很多題其實有不只一個正解或沒有正解，所以難度與正確性必須一起看。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這張圖對照三種干擾選項：原始人工版本、naive 生成、AutoConverter。最清楚的是中間的 MathVista 題：AB 是直徑，AC=8、BC=15，求半徑，答案 8.5。naive 生成的是 7.5、12、10 這類隨意數字；AutoConverter 生成的是 23（誤以為 AB=AC+BC）、17（直徑與半徑混淆）、9.5（17/2 算錯），每個都對應一種學生可能犯的錯。AI2D 食物網那題也一樣：owl（不直接受影響）、snake（看錯箭頭方向）、deer（視覺上和兔子相似）。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VMCBench 涵蓋四類能力。General：VQAv2、OKVQA、MMVet、VizWiz、A-OKVQA、MMStar、SEEDBench。Reasoning：MathVision、GQA、MMMU、RealWorldQA、MathVista、ScienceQA。OCR：OCRVQA、TextVQA。Doc &amp; Chart：DocVQA、InfoVQA、ChartQA、TableVQABench、AI2D。其中 12 個原本是開放式，轉成選擇題；8 個原本就是選擇題，用 AutoConverter 重新生成干擾選項來提高難度，作者認為這也有助偵測資料污染。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建置流程：20 個資料集各隨機抽最多 500 題（作者引用研究指出 500 題通常足以評估模型），共 9,450 題，全部經過 AutoConverter。接著依正確性分數篩選，人工審查 2,400 題，移除所有判定錯誤的題目，最後保留 9,018 題，切成 1,000 題有答案的驗證集與 8,018 題測試集，測試集透過線上伺服器評分。錯誤分析：59% 的錯誤其實是原資料集標準答案有誤。附錄還做了人類專家測試，準確率 91.7%，代表模型仍有進步空間。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 是 33 個 VLM 在測試集上的結果，我直接從 PDF 擷取數值。評測是 zero-shot，prompt 為『Question、Options A–D，直接回答選項字母』。第一名是開源的 Qwen2-VL-72B，85.0%，高於 GPT-4o 的 80.3% 和 Claude-3.5-Sonnet 的 77.8%。最後一名是 Chameleon-7B，36.4%。注意附錄 C.1 寫『目前最佳模型 GPT-4o 為 80.6%』，與主表不一致，可能是不同版本或不同切分，這裡以主表為準。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作者從排行榜歸納四點。第一，開源模型 Qwen2-VL-72B 超越最好的閉源模型 GPT-4o。第二，2023 年的 InstructBLIP-7B 只有 42.1%，一年後最好的模型到 85.0%，幾乎翻倍。第三，同家族模型隨規模提升；附錄還觀察到對數線性的趨勢。第四是我覺得最有參考價值的：論文指出 Phi-3.5-Vision 在 MMMU、MathVista 這兩個子集上比 Phi-3-Vision 好，但從 Table 1 的四類彙總看，Phi-3.5 的 Reasoning 類其實略低（55.3 對 56.4），OCR（87.2 對 90.6）與 Doc&amp;Chart（68.6 對 73.8）差距更大，總分 67.4 低於 70.3。這說明只看少數幾個推理資料集會漏掉其他能力的退步。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作者在 Limitations 只寫了兩點：5 分題目仍有約 5% 錯誤，其中一半是原資料集問題；VMCBench 覆蓋的資料集和模型不夠完整。Broader Impacts 則提醒用在教育場景時需要人工確認。右邊是我自己的補充，論文沒有討論：第一，整條流程的生成、篩選、評分都是 GPT-4o，如果被評測的是 GPT 系列，可能有自我偏好；第二，選擇題衡量的是辨認正解，不是生成能力；第三，每個資料集最多 500 題，細分能力的統計力有限。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總結：這篇先用數據說明開放式 VQA 評測的問題，再用 AutoConverter 解決干擾選項成本，最後交付 VMCBench 這個資源。和我們同一批看的論文對照：D-GEN 是微調一個專用模型來生成干擾選項；WiCkeD 是不生成新選項、改用 None of the above；AutoConverter 則用 GPT-4o 多代理人與錯誤類型提示，並把難度與正確性分成兩條路徑控制。討論點：如果要在我們自己的領域做類似的題目轉換，五種錯誤類型是否適用？需要哪些領域專屬的錯誤類型？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CV · 視覺語言模型（VLM）評測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AutoConverter：自動把開放式 VQA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轉成高難度選擇題，並建立 VMCBench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以多代理人流程同時追求「正確」與「困難」，將 20 個 VQA 資料集統一為 9,018 題選擇題基準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617720"/>
            <a:ext cx="10332720" cy="0"/>
          </a:xfrm>
          <a:prstGeom prst="line">
            <a:avLst/>
          </a:prstGeom>
          <a:ln w="12700">
            <a:solidFill>
              <a:srgbClr val="D5DB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Yuhui Zhang, Yuchang Su, Yiming Liu, Xiaohan Wang, James Burgess, Elaine Sui, Chenyu Wang, Josiah Aklilu, Alejandro Lozano, Anjiang Wei, Ludwig Schmidt, Serena Yeung-Levy｜Stanford、清華、MIT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arXiv:2501.03225v2（2025）· 程式：github.com/yuhui-zh15/AutoConverter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問題：開放式題目怎麼評分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開放式 VQA 評測的兩難：規則式不準，模型式不穩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2_openended_eval_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680960" cy="22121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675156"/>
            <a:ext cx="768096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2：左為 VQAv2 上 GPT-4o 判分 vs. 官方規則分數；右為 MMVet 上兩個 GPT-4o 版本判分的比較。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417320"/>
            <a:ext cx="304769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規則式（VQAv2，12 個 VLM）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828800"/>
            <a:ext cx="3047695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1" i="0">
                <a:solidFill>
                  <a:srgbClr val="B23A3A"/>
                </a:solidFill>
                <a:latin typeface="Calibri"/>
                <a:ea typeface="Microsoft JhengHei"/>
                <a:cs typeface="Microsoft JhengHei"/>
              </a:rPr>
              <a:t>Spearman 0.09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：與人類代理評分幾乎無關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GPT-4o 32% → 88%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：人工修正後的真實準確率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383280"/>
            <a:ext cx="304769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模型式（MMVet，平均答案 63 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94760"/>
            <a:ext cx="3047695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排名相關 1.0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，但 0806 版分數一致高約 6%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原因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：接近正確時 0806 給 1.0、0513 給 0.9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GPT-4o 的「錯誤」中約 66% 是評分失誤，而非模型答錯。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§3、Figure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動機驗證（附錄 B）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轉成選擇題後，簡單的字母比對就能貼近模型式評分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7498079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412480" y="1508760"/>
            <a:ext cx="0" cy="356616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595359" y="1463040"/>
            <a:ext cx="3047695" cy="3931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縱軸為與「同一版本 GPT-4o 對開放式答案評分」的模型排名相關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選擇題只需比對選項字母，不必判斷語意，也不受評分模型版本影響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隨機打亂正解位置兩次，VMCBench 上的結果沒有顯著差異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選擇題兼顧可重現性與鑑別力，難點只剩如何低成本生成好的干擾選項。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Figure 9、Table 2（Appendix B、C.4）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方法架構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AutoConverter：提高難度與確保正確，由多個 GPT-4o 代理人分工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3a_autoconverter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120640" cy="3845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44653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3a：左半提高難度，右半確保正確。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59" y="1417320"/>
            <a:ext cx="556229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提高難度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828800"/>
            <a:ext cx="5562295" cy="1828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Proposer ×5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：依五種錯誤類型產生候選干擾選項與理由——概念誤解、視覺誤讀、推理錯誤、資料處理錯誤、題目偏誤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Reviewer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：逐一評估可信度與難度並回饋，Proposer 據此修改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Selector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：從候選池挑出最難且正確的 3 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3931920"/>
            <a:ext cx="556229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E7D4F"/>
                </a:solidFill>
                <a:latin typeface="Calibri"/>
                <a:ea typeface="Microsoft JhengHei"/>
                <a:cs typeface="Microsoft JhengHei"/>
              </a:rPr>
              <a:t>確保正確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4343400"/>
            <a:ext cx="5562295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Evaluator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：以 1–5 Likert 分數評估是否只有一個正解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Refiner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：分數 &lt; 4 時依回饋修改干擾選項，最多 3 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§4、Figure 3a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Evaluator 的可信度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正確性評分越高，人工判定正確的比例越高：5 分題目達 95%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67665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417320"/>
            <a:ext cx="387065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9,450 題的分數分布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1874519"/>
          <a:ext cx="3870655" cy="230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1188720"/>
                <a:gridCol w="121889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正確性分數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題數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人工審查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全部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162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全部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全部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635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全部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8,151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抽 1,101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4343400"/>
            <a:ext cx="3870655" cy="8229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共 2,400 題由 6 位博士生人工審查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建議只保留 5 分題目；5 分題目的錯誤中約一半來自原資料集的錯誤答案。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§4.2、§5.1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1：難度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與人工干擾選項相比，VLM 在 AutoConverter 題目上準確率相近或更低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4_vs_human_distr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86" y="1371600"/>
            <a:ext cx="10919123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30952"/>
            <a:ext cx="1109441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4：橫軸為原始人工干擾選項的準確率，縱軸為 AutoConverter 重新生成干擾選項後的準確率；虛線為 y = x。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MathVista 與 AI2D 多數點落在對角線下方；模型排名 Spearman 0.86–0.97，鑑別力得以保留。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Figure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2：MMMU 上的消融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消融實驗：拿掉任何代理人都會降低難度或正確性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7589520" cy="3621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1051560"/>
                <a:gridCol w="1005840"/>
                <a:gridCol w="1005840"/>
                <a:gridCol w="914400"/>
                <a:gridCol w="1005840"/>
                <a:gridCol w="8686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正確性 C ↑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PaliGemma-3B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LLaVA-1.5-7B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Phi-3.5-V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Qwen2-VL-7B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平均 ↓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Human（原題）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33.4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35.2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46.0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52.4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41.8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Naive prompt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4.59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34.2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40.6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50.2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59.0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46.0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w/o Concept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33.6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37.8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46.4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57.4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w/o Reason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4.69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30.0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40.2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47.8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56.2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43.5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w/o Vision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29.0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39.2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45.8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57.2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42.8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w/o Data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4.66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29.4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36.6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47.0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57.8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42.7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w/o Bias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30.6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37.6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48.6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44.2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w/o Reviewer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4.64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30.2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38.2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45.4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57.2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42.7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w/o Refiner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4.28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25.0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34.2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42.0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37.8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AutoConverter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4.69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27.8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37.2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44.2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53.6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40.7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595360" y="1417320"/>
            <a:ext cx="0" cy="361188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778240" y="1371600"/>
            <a:ext cx="2864815" cy="3931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vs. Naive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：正確性 +2.2%、平均準確率 −11.5%（相對值）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移除錯誤類型 Proposer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：平均準確率相對上升 1.6%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移除 Reviewer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：相對上升 4.9%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移除 Evaluator/Refiner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：正確性相對下降 8.7%（4.28）；題目變「難」是因為出現錯題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AutoConverter 平均 40.7%，低於人工原題的 41.8%，正確性 4.69 也高於原題的 4.59。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Figure 3b（數值為各 VLM 準確率 %；C 為 1–5 正確性分數）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質性範例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依錯誤類型設計干擾選項，比 naive 生成更具誘答力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5_qualitativ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94415" cy="35724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971433"/>
            <a:ext cx="1109441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5：MMMU、MathVista、AI2D 各一題；右欄括號為 AutoConverter 標註的干擾設計理由。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MathVista 例：23（誤解 AB=AC+BC）、17（把直徑當半徑）、9.5（17/2 算錯），每個干擾選項對應一種具體錯誤。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Figure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資源：VMCBench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VMCBench：把 20 個 VQA 資料集統一成四選一，涵蓋四類能力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6_vmcbench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100" y="1371600"/>
            <a:ext cx="9543495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30952"/>
            <a:ext cx="1109441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6：左為資料集組成（OE = 原為開放式、MC = 原為選擇題），右為轉換後的範例題（綠字為正解）。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General 7 個、Reasoning 6 個、OCR 2 個、Doc &amp; Chart 5 個；12 個開放式轉換，8 個選擇題重新生成干擾選項。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Figure 6、§5.1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資源建置與品質控制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建置流程：每個資料集最多抽 500 題，經評分與人工審查後保留 9,018 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1911644" cy="173736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728764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20 個資料集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728764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每個隨機抽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最多 500 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0284" y="2103120"/>
            <a:ext cx="38404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4332" y="1508760"/>
            <a:ext cx="1911644" cy="17373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772" y="1645920"/>
            <a:ext cx="1728764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9,450 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772" y="2240280"/>
            <a:ext cx="1728764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全部經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AutoConverter 轉換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5977" y="2103120"/>
            <a:ext cx="38404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40025" y="1508760"/>
            <a:ext cx="1911644" cy="17373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1465" y="1645920"/>
            <a:ext cx="1728764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正確性評分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1465" y="2240280"/>
            <a:ext cx="1728764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1–5 分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8,151 題為 5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1669" y="2103120"/>
            <a:ext cx="38404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35717" y="1508760"/>
            <a:ext cx="1911644" cy="17373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7157" y="1645920"/>
            <a:ext cx="1728764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人工審查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7157" y="2240280"/>
            <a:ext cx="1728764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2,400 題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6 位博士生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7362" y="2103120"/>
            <a:ext cx="38404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31410" y="1508760"/>
            <a:ext cx="1911644" cy="173736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2850" y="1645920"/>
            <a:ext cx="1728764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9,018 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2850" y="2240280"/>
            <a:ext cx="1728764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移除錯題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val 1,000 / test 8,018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錯誤來源分析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11094415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59%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的錯誤來自原資料集的標準答案，而非 AutoConverter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若原題皆無誤，</a:t>
            </a: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AutoConverter 在 5 分題目中只會引入約 2% 錯誤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人類專家在 VMCBench 上準確率 91.7%；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失誤中約 3/4 需大量知識、1/4 題目本身含糊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§5.1、Appendix C.1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3：模型評測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33 個 VLM 的 VMCBench 測試集排行：開源 Qwen2-VL-72B 以 85.0% 居首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44168"/>
          <a:ext cx="5364324" cy="4361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4519"/>
                <a:gridCol w="697961"/>
                <a:gridCol w="697961"/>
                <a:gridCol w="697961"/>
                <a:gridCol w="697961"/>
                <a:gridCol w="697961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General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Reason.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OCR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Doc&amp;Chart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Avg.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Qwen2-VL-72B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88.5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96.8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90.1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85.0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GPT-4o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85.2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66.9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96.4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83.1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80.3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Molmo-72B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82.9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66.6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81.1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78.7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Qwen2-VL-7B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84.5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62.7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96.4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80.1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78.1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Claude-3.5-Sonnet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81.3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62.8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84.6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77.8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Cambrian-34B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83.7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65.9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95.7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73.3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77.0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Gemini-1.5-Pro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79.6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92.6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VILA1.5-40B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82.5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65.3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67.4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GPT-4o-Mini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58.8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Qwen2-VL-2B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77.9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55.8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71.5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CogVLM2-19B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78.1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55.6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92.3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71.4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Phi-3-Vision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56.4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90.6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73.8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70.3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Cambrian-13B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79.3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54.6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92.3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66.6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Cambrian-8B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77.9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56.4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65.4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69.6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Molmo-7B-D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73.2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55.5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69.5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Idefics2-8B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77.8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55.8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92.7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61.8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68.7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Molmo-7B-O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54.3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88.5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68.9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67.8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78727" y="1344168"/>
          <a:ext cx="5364324" cy="41193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4519"/>
                <a:gridCol w="697961"/>
                <a:gridCol w="697961"/>
                <a:gridCol w="697961"/>
                <a:gridCol w="697961"/>
                <a:gridCol w="697961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General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Reason.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OCR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Doc&amp;Chart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Avg.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Phi-3.5-Vision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71.4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55.3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87.2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68.6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67.4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VILA1.5-13B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54.1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85.3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50.2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63.4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DeepSeek-VL-7B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73.2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52.6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85.8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52.9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63.2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Molmo-1B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69.4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50.1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87.4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60.2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63.1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CogVLM-17B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48.8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77.8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54.6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61.3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VILA1.5-8B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51.8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81.8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46.5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60.7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Gemini-1.5-Flash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79.9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56.3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59.1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PaliGemma-3B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71.7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51.3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53.1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53.0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59.0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VILA1.5-3B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70.3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48.0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78.9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42.3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57.5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DeepSeek-VL-1.3B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68.9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43.6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79.5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43.8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56.1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LLaVA1.5-13B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66.4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46.2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75.8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53.9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LLaVA1.5-7B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63.6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44.7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35.0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51.8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Chameleon-30B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53.1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48.0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33.9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44.2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InstructBLIP-7B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55.1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35.2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47.7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29.9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42.1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InstructBLIP-13B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54.8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48.7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26.5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41.1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Chameleon-7B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41.0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34.7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42.3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29.6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36.4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Table 1（zero-shot；依 Avg. 排序，%）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3：主要發現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四類能力分開看，才能發現模型的弱點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7589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503919" y="1463040"/>
            <a:ext cx="0" cy="393192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686799" y="1417320"/>
            <a:ext cx="2956255" cy="42062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開源追上閉源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：Qwen2-VL-72B 85.0% &gt; GPT-4o 80.3%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進步快速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：InstructBLIP-7B（2023）42.1% → Qwen2-VL-72B（2024）85.0%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規模效應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：Qwen、Molmo、VILA、Cambrian 等家族皆隨規模提升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能力不均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：Phi-3.5 在 MMMU、MathVista 子集優於 Phi-3，但 OCR、Doc&amp;Chart 明顯較低，總分 67.4 &lt; 70.3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Table 1、§5.2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限制與適用邊界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限制：5 分題目仍有約 5% 錯誤，且整條流程依賴 GPT-4o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63040"/>
            <a:ext cx="548640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作者自述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最高正確性分數的題目仍有約 5% 錯誤，其中一半來自原資料集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VMCBench 涵蓋的資料集與模型仍不完整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用於教育等其他場景時，仍需人工確認目的、難度與偏誤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1463040"/>
            <a:ext cx="505937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報告者補充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2011680"/>
            <a:ext cx="5059375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所有代理人與評估器都是 GPT-4o，若評測對象包含 GPT 系列，可能存在偏向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選擇題只測辨認，不測開放式生成能力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每個資料集最多 500 題，對細分子能力的統計力有限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實務建議：只保留正確性 5 分的題目，並針對自己的領域抽樣人工檢查。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 · Limitations、Broader Impacts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把「出干擾選項」做成可擴展的代理人流程，讓 VLM 評測可重現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5448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5448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開放式 VQA 的規則評分與排名相關僅 0.09；模型評分會隨版本漂移約 6%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40487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256032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56032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AutoConverter 以五種錯誤類型 Proposer + Reviewer + Selector 提高難度，Evaluator + Refiner 確保正確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41071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356616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證據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56616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在 MMMU、MathVista、AI2D 上，VLM 準確率與人工題相近或更低；5 分題目人工正確率 95%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4165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48640" y="457200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資源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57200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VMCBench：20 個資料集、9,018 題、33 個 VLM 基準結果，附線上測試伺服器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討論｜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與 D-GEN、WiCkeD 對照：本文以多代理人流程與錯誤類型提示取代微調，並把難度與正確性分開控制。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Zhang, Su et al. · AutoConverter / VMCBench · arXiv:2501.03225v2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